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loque 1 · Fundamentos" id="{59e9527f-84ec-90f8-12dc-488e465737f9}">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0,5 min. Presenta el bloque: qué es un prototipo, cuánto detalle darle y hasta dónde llegar. Son las decisiones previas a elegir cualquier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Un prototipo es una versión parcial y barata del producto. No es el producto: es una herramienta para aprender. Las tres preguntas de la derecha son las que casi siempre responde. Si no sabemos cuál queremos responder, todavía no es momento de prototipar.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La idea es sencilla: cuanto más tarde se descubre un problema, más cuesta arreglarlo. En papel o en un prototipo cambiar algo toma minutos. Con el sistema ya programado toma días. No damos números exactos porque dependen del equipo y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Se confunden mucho. El wireframe dice dónde va cada cosa. El mockup dice cómo se ve. El prototipo dice cómo se comporta. En nuestro proyecto tenemos los tres momentos: los wireframes de la Fase 1, el aspecto tomado de la app real y el prototipo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Fidelidad baja, media y alta. No hay uno mejor: depende de qué pregunta quieres responder. Un wireframe en papel responde bien si la estructura tiene sentido, pero no sirve para saber si un mensaje de error se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Un error común es pensar que alto detalle visual es igual a alta fidelidad. Son tres ejes distintos. Nuestro prototipo v1 tiene aspecto y contenido altos y, en interacción, es alto solo en el flujo del Asistente IA. El resto del menú son pantallas de aviso.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Horizontal es ancho y superficial: muestra muchas funciones sin profundidad. Vertical es estrecho y profundo: una función completa. Nosotros elegimos vertical porque el objetivo es probar el Asistente IA con todos sus estados, no el sistema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Desechable: se hace para aprender y luego se tira. Evolutivo: se va refinando hasta convertirse en el producto. Nuestro prototipo es desechable en la lógica, porque la IA es simulada, pero conservamos textos, estados y decisiones de diseño para el desarrollo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A la izquierda el wireframe B de la Fase 1: tarjetas de borrador con acciones. A la derecha, la misma pantalla en el prototipo. Cambian el aspecto y la capacidad de interactuar, pero la estructura es la que ya habíamos decidido y justificado.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1,5 min. Resumen de decisiones. Cada una responde a la pregunta de la prueba: ¿Ana puede generar, revisar, editar y exportar borradores, y se recupera si la IA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Estos cuatro errores son los que más se ven. El primero es el más importante: prototipar sin saber qué se quiere aprender.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1 min. Cierra con las tres ideas y pasa a Erick. Recuerda que las preguntas 1 a 4 del Kahoot salen de este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3_TITULO">
    <p:bg>
      <p:bgPr>
        <a:solidFill>
          <a:schemeClr val="tx1"/>
        </a:solidFill>
      </p:bgPr>
    </p:bg>
    <p:spTree>
      <p:nvGrpSpPr>
        <p:cNvPr id="1" name=""/>
        <p:cNvGrpSpPr/>
        <p:nvPr/>
      </p:nvGrpSpPr>
      <p:grpSpPr>
        <a:xfrm>
          <a:off x="0" y="0"/>
          <a:ext cx="0" cy="0"/>
          <a:chOff x="0" y="0"/>
          <a:chExt cx="0" cy="0"/>
        </a:xfrm>
      </p:grpSpPr>
      <p:sp>
        <p:nvSpPr>
          <p:cNvPr id="2" name="Shape 0"/>
          <p:cNvSpPr/>
          <p:nvPr/>
        </p:nvSpPr>
        <p:spPr>
          <a:xfrm>
            <a:off x="6492240" y="-731520"/>
            <a:ext cx="3840480" cy="3840480"/>
          </a:xfrm>
          <a:prstGeom prst="rect">
            <a:avLst/>
          </a:prstGeom>
          <a:solidFill>
            <a:schemeClr val="tx2"/>
          </a:solidFill>
          <a:ln w="12700">
            <a:solidFill>
              <a:schemeClr val="tx2"/>
            </a:solidFill>
            <a:prstDash val="solid"/>
          </a:ln>
        </p:spPr>
      </p:sp>
      <p:sp>
        <p:nvSpPr>
          <p:cNvPr id="3" name="Shape 1"/>
          <p:cNvSpPr/>
          <p:nvPr/>
        </p:nvSpPr>
        <p:spPr>
          <a:xfrm>
            <a:off x="7589520" y="2926080"/>
            <a:ext cx="2743200" cy="2743200"/>
          </a:xfrm>
          <a:prstGeom prst="rect">
            <a:avLst/>
          </a:prstGeom>
          <a:solidFill>
            <a:schemeClr val="accent1"/>
          </a:solidFill>
          <a:ln w="12700">
            <a:solidFill>
              <a:schemeClr val="accent1"/>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3_CONTENID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Grupo 3 · IHC · APE 4 Fase 2 · Prototipado</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188720"/>
            <a:ext cx="6400800" cy="155448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Prototipar: probar antes de construir</a:t>
            </a:r>
            <a:endParaRPr lang="en-US" sz="4000" dirty="0"/>
          </a:p>
        </p:txBody>
      </p:sp>
      <p:sp>
        <p:nvSpPr>
          <p:cNvPr id="3" name="Text 1"/>
          <p:cNvSpPr txBox="1"/>
          <p:nvPr/>
        </p:nvSpPr>
        <p:spPr>
          <a:xfrm>
            <a:off x="548640" y="2880360"/>
            <a:ext cx="6035040" cy="822960"/>
          </a:xfrm>
          <a:prstGeom prst="rect">
            <a:avLst/>
          </a:prstGeom>
          <a:noFill/>
          <a:ln/>
        </p:spPr>
        <p:txBody>
          <a:bodyPr wrap="square" lIns="0" tIns="0" rIns="0" bIns="0" rtlCol="0" anchor="t"/>
          <a:lstStyle/>
          <a:p>
            <a:pPr indent="0" marL="0">
              <a:buNone/>
            </a:pPr>
            <a:r>
              <a:rPr lang="en-US" sz="1800" dirty="0">
                <a:solidFill>
                  <a:schemeClr val="bg2"/>
                </a:solidFill>
              </a:rPr>
              <a:t>Bloque 1 · Fundamentos, fidelidad y alcance</a:t>
            </a:r>
            <a:endParaRPr lang="en-US" sz="1800" dirty="0"/>
          </a:p>
        </p:txBody>
      </p:sp>
      <p:sp>
        <p:nvSpPr>
          <p:cNvPr id="4" name="Text 2"/>
          <p:cNvSpPr txBox="1"/>
          <p:nvPr/>
        </p:nvSpPr>
        <p:spPr>
          <a:xfrm>
            <a:off x="548640" y="4297680"/>
            <a:ext cx="6035040" cy="457200"/>
          </a:xfrm>
          <a:prstGeom prst="rect">
            <a:avLst/>
          </a:prstGeom>
          <a:noFill/>
          <a:ln/>
        </p:spPr>
        <p:txBody>
          <a:bodyPr wrap="square" lIns="0" tIns="0" rIns="0" bIns="0" rtlCol="0" anchor="ctr"/>
          <a:lstStyle/>
          <a:p>
            <a:pPr indent="0" marL="0">
              <a:buNone/>
            </a:pPr>
            <a:r>
              <a:rPr lang="en-US" sz="1200" dirty="0">
                <a:solidFill>
                  <a:schemeClr val="bg2"/>
                </a:solidFill>
              </a:rPr>
              <a:t>Eduardo Chicaiza · Jueves 22/10/2026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¿Qué es un prototipo?</a:t>
            </a:r>
            <a:endParaRPr lang="en-US" sz="3000" dirty="0"/>
          </a:p>
        </p:txBody>
      </p:sp>
      <p:sp>
        <p:nvSpPr>
          <p:cNvPr id="4" name="Text 1"/>
          <p:cNvSpPr txBox="1"/>
          <p:nvPr/>
        </p:nvSpPr>
        <p:spPr>
          <a:xfrm>
            <a:off x="457200" y="1188720"/>
            <a:ext cx="4023360" cy="1554480"/>
          </a:xfrm>
          <a:prstGeom prst="rect">
            <a:avLst/>
          </a:prstGeom>
          <a:noFill/>
          <a:ln/>
        </p:spPr>
        <p:txBody>
          <a:bodyPr wrap="square" lIns="0" tIns="0" rIns="0" bIns="0" rtlCol="0" anchor="t"/>
          <a:lstStyle/>
          <a:p>
            <a:pPr indent="0" marL="0">
              <a:buNone/>
            </a:pPr>
            <a:r>
              <a:rPr lang="en-US" sz="2000" dirty="0">
                <a:solidFill>
                  <a:schemeClr val="tx1"/>
                </a:solidFill>
              </a:rPr>
              <a:t>Una representación parcial del producto que sirve para explorar, comunicar y probar una idea antes de construirla.</a:t>
            </a:r>
            <a:endParaRPr lang="en-US" sz="2000" dirty="0"/>
          </a:p>
        </p:txBody>
      </p:sp>
      <p:sp>
        <p:nvSpPr>
          <p:cNvPr id="5" name="Text 2"/>
          <p:cNvSpPr txBox="1"/>
          <p:nvPr/>
        </p:nvSpPr>
        <p:spPr>
          <a:xfrm>
            <a:off x="457200" y="3017520"/>
            <a:ext cx="4023360" cy="822960"/>
          </a:xfrm>
          <a:prstGeom prst="rect">
            <a:avLst/>
          </a:prstGeom>
          <a:noFill/>
          <a:ln/>
        </p:spPr>
        <p:txBody>
          <a:bodyPr wrap="square" lIns="0" tIns="0" rIns="0" bIns="0" rtlCol="0" anchor="t"/>
          <a:lstStyle/>
          <a:p>
            <a:pPr indent="0" marL="0">
              <a:buNone/>
            </a:pPr>
            <a:r>
              <a:rPr lang="en-US" sz="1600" b="1" i="1" dirty="0">
                <a:solidFill>
                  <a:schemeClr val="accent1"/>
                </a:solidFill>
              </a:rPr>
              <a:t>Parcial, barato de cambiar y hecho para aprender.</a:t>
            </a:r>
            <a:endParaRPr lang="en-US" sz="1600" dirty="0"/>
          </a:p>
        </p:txBody>
      </p:sp>
      <p:sp>
        <p:nvSpPr>
          <p:cNvPr id="6" name="Shape 3"/>
          <p:cNvSpPr/>
          <p:nvPr/>
        </p:nvSpPr>
        <p:spPr>
          <a:xfrm>
            <a:off x="4846320" y="1188720"/>
            <a:ext cx="3840480" cy="1005840"/>
          </a:xfrm>
          <a:prstGeom prst="roundRect">
            <a:avLst>
              <a:gd name="adj" fmla="val 7273"/>
            </a:avLst>
          </a:prstGeom>
          <a:solidFill>
            <a:schemeClr val="bg2"/>
          </a:solidFill>
          <a:ln w="12700">
            <a:solidFill>
              <a:schemeClr val="bg2"/>
            </a:solidFill>
            <a:prstDash val="solid"/>
          </a:ln>
        </p:spPr>
      </p:sp>
      <p:sp>
        <p:nvSpPr>
          <p:cNvPr id="7" name="Shape 4"/>
          <p:cNvSpPr/>
          <p:nvPr/>
        </p:nvSpPr>
        <p:spPr>
          <a:xfrm>
            <a:off x="5029200" y="1371600"/>
            <a:ext cx="457200" cy="457200"/>
          </a:xfrm>
          <a:prstGeom prst="ellipse">
            <a:avLst/>
          </a:prstGeom>
          <a:solidFill>
            <a:schemeClr val="accent2"/>
          </a:solidFill>
          <a:ln w="12700">
            <a:solidFill>
              <a:schemeClr val="accent2"/>
            </a:solidFill>
            <a:prstDash val="solid"/>
          </a:ln>
        </p:spPr>
      </p:sp>
      <p:pic>
        <p:nvPicPr>
          <p:cNvPr id="8" name="Image 0" descr="preencoded.png">    </p:cNvPr>
          <p:cNvPicPr>
            <a:picLocks noChangeAspect="1"/>
          </p:cNvPicPr>
          <p:nvPr/>
        </p:nvPicPr>
        <p:blipFill>
          <a:blip r:embed="rId1"/>
          <a:stretch>
            <a:fillRect/>
          </a:stretch>
        </p:blipFill>
        <p:spPr>
          <a:xfrm>
            <a:off x="5129784" y="1472184"/>
            <a:ext cx="256032" cy="256032"/>
          </a:xfrm>
          <a:prstGeom prst="rect">
            <a:avLst/>
          </a:prstGeom>
        </p:spPr>
      </p:pic>
      <p:sp>
        <p:nvSpPr>
          <p:cNvPr id="9" name="Text 5"/>
          <p:cNvSpPr txBox="1"/>
          <p:nvPr/>
        </p:nvSpPr>
        <p:spPr>
          <a:xfrm>
            <a:off x="5623560" y="1325880"/>
            <a:ext cx="2880360" cy="548640"/>
          </a:xfrm>
          <a:prstGeom prst="rect">
            <a:avLst/>
          </a:prstGeom>
          <a:noFill/>
          <a:ln/>
        </p:spPr>
        <p:txBody>
          <a:bodyPr wrap="square" lIns="0" tIns="0" rIns="0" bIns="0" rtlCol="0" anchor="ctr"/>
          <a:lstStyle/>
          <a:p>
            <a:pPr indent="0" marL="0">
              <a:buNone/>
            </a:pPr>
            <a:r>
              <a:rPr lang="en-US" sz="1800" b="1" dirty="0">
                <a:solidFill>
                  <a:schemeClr val="tx2"/>
                </a:solidFill>
              </a:rPr>
              <a:t>¿Se entiende?</a:t>
            </a:r>
            <a:endParaRPr lang="en-US" sz="1800" dirty="0"/>
          </a:p>
        </p:txBody>
      </p:sp>
      <p:sp>
        <p:nvSpPr>
          <p:cNvPr id="10" name="Text 6"/>
          <p:cNvSpPr txBox="1"/>
          <p:nvPr/>
        </p:nvSpPr>
        <p:spPr>
          <a:xfrm>
            <a:off x="5029200" y="1965960"/>
            <a:ext cx="3474720" cy="91440"/>
          </a:xfrm>
          <a:prstGeom prst="rect">
            <a:avLst/>
          </a:prstGeom>
          <a:noFill/>
          <a:ln/>
        </p:spPr>
        <p:txBody>
          <a:bodyPr wrap="square" lIns="0" tIns="0" rIns="0" bIns="0" rtlCol="0" anchor="t"/>
          <a:lstStyle/>
          <a:p>
            <a:pPr indent="0" marL="0">
              <a:buNone/>
            </a:pPr>
            <a:endParaRPr lang="en-US" sz="1400" dirty="0"/>
          </a:p>
        </p:txBody>
      </p:sp>
      <p:sp>
        <p:nvSpPr>
          <p:cNvPr id="11" name="Shape 7"/>
          <p:cNvSpPr/>
          <p:nvPr/>
        </p:nvSpPr>
        <p:spPr>
          <a:xfrm>
            <a:off x="4846320" y="2331720"/>
            <a:ext cx="3840480" cy="1005840"/>
          </a:xfrm>
          <a:prstGeom prst="roundRect">
            <a:avLst>
              <a:gd name="adj" fmla="val 7273"/>
            </a:avLst>
          </a:prstGeom>
          <a:solidFill>
            <a:schemeClr val="bg2"/>
          </a:solidFill>
          <a:ln w="12700">
            <a:solidFill>
              <a:schemeClr val="bg2"/>
            </a:solidFill>
            <a:prstDash val="solid"/>
          </a:ln>
        </p:spPr>
      </p:sp>
      <p:sp>
        <p:nvSpPr>
          <p:cNvPr id="12" name="Shape 8"/>
          <p:cNvSpPr/>
          <p:nvPr/>
        </p:nvSpPr>
        <p:spPr>
          <a:xfrm>
            <a:off x="5029200" y="2514600"/>
            <a:ext cx="457200" cy="45720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5129784" y="2615184"/>
            <a:ext cx="256032" cy="256032"/>
          </a:xfrm>
          <a:prstGeom prst="rect">
            <a:avLst/>
          </a:prstGeom>
        </p:spPr>
      </p:pic>
      <p:sp>
        <p:nvSpPr>
          <p:cNvPr id="14" name="Text 9"/>
          <p:cNvSpPr txBox="1"/>
          <p:nvPr/>
        </p:nvSpPr>
        <p:spPr>
          <a:xfrm>
            <a:off x="5623560" y="2468880"/>
            <a:ext cx="2880360" cy="548640"/>
          </a:xfrm>
          <a:prstGeom prst="rect">
            <a:avLst/>
          </a:prstGeom>
          <a:noFill/>
          <a:ln/>
        </p:spPr>
        <p:txBody>
          <a:bodyPr wrap="square" lIns="0" tIns="0" rIns="0" bIns="0" rtlCol="0" anchor="ctr"/>
          <a:lstStyle/>
          <a:p>
            <a:pPr indent="0" marL="0">
              <a:buNone/>
            </a:pPr>
            <a:r>
              <a:rPr lang="en-US" sz="1800" b="1" dirty="0">
                <a:solidFill>
                  <a:schemeClr val="tx2"/>
                </a:solidFill>
              </a:rPr>
              <a:t>¿Se puede usar?</a:t>
            </a:r>
            <a:endParaRPr lang="en-US" sz="1800" dirty="0"/>
          </a:p>
        </p:txBody>
      </p:sp>
      <p:sp>
        <p:nvSpPr>
          <p:cNvPr id="15" name="Text 10"/>
          <p:cNvSpPr txBox="1"/>
          <p:nvPr/>
        </p:nvSpPr>
        <p:spPr>
          <a:xfrm>
            <a:off x="5029200" y="3108960"/>
            <a:ext cx="3474720" cy="91440"/>
          </a:xfrm>
          <a:prstGeom prst="rect">
            <a:avLst/>
          </a:prstGeom>
          <a:noFill/>
          <a:ln/>
        </p:spPr>
        <p:txBody>
          <a:bodyPr wrap="square" lIns="0" tIns="0" rIns="0" bIns="0" rtlCol="0" anchor="t"/>
          <a:lstStyle/>
          <a:p>
            <a:pPr indent="0" marL="0">
              <a:buNone/>
            </a:pPr>
            <a:endParaRPr lang="en-US" sz="1400" dirty="0"/>
          </a:p>
        </p:txBody>
      </p:sp>
      <p:sp>
        <p:nvSpPr>
          <p:cNvPr id="16" name="Shape 11"/>
          <p:cNvSpPr/>
          <p:nvPr/>
        </p:nvSpPr>
        <p:spPr>
          <a:xfrm>
            <a:off x="4846320" y="3474720"/>
            <a:ext cx="3840480" cy="1005840"/>
          </a:xfrm>
          <a:prstGeom prst="roundRect">
            <a:avLst>
              <a:gd name="adj" fmla="val 7273"/>
            </a:avLst>
          </a:prstGeom>
          <a:solidFill>
            <a:schemeClr val="bg2"/>
          </a:solidFill>
          <a:ln w="12700">
            <a:solidFill>
              <a:schemeClr val="bg2"/>
            </a:solidFill>
            <a:prstDash val="solid"/>
          </a:ln>
        </p:spPr>
      </p:sp>
      <p:sp>
        <p:nvSpPr>
          <p:cNvPr id="17" name="Shape 12"/>
          <p:cNvSpPr/>
          <p:nvPr/>
        </p:nvSpPr>
        <p:spPr>
          <a:xfrm>
            <a:off x="5029200" y="3657600"/>
            <a:ext cx="457200" cy="457200"/>
          </a:xfrm>
          <a:prstGeom prst="ellipse">
            <a:avLst/>
          </a:prstGeom>
          <a:solidFill>
            <a:schemeClr val="accent3"/>
          </a:solidFill>
          <a:ln w="12700">
            <a:solidFill>
              <a:schemeClr val="accent3"/>
            </a:solidFill>
            <a:prstDash val="solid"/>
          </a:ln>
        </p:spPr>
      </p:sp>
      <p:pic>
        <p:nvPicPr>
          <p:cNvPr id="18" name="Image 2" descr="preencoded.png">    </p:cNvPr>
          <p:cNvPicPr>
            <a:picLocks noChangeAspect="1"/>
          </p:cNvPicPr>
          <p:nvPr/>
        </p:nvPicPr>
        <p:blipFill>
          <a:blip r:embed="rId3"/>
          <a:stretch>
            <a:fillRect/>
          </a:stretch>
        </p:blipFill>
        <p:spPr>
          <a:xfrm>
            <a:off x="5129784" y="3758184"/>
            <a:ext cx="256032" cy="256032"/>
          </a:xfrm>
          <a:prstGeom prst="rect">
            <a:avLst/>
          </a:prstGeom>
        </p:spPr>
      </p:pic>
      <p:sp>
        <p:nvSpPr>
          <p:cNvPr id="19" name="Text 13"/>
          <p:cNvSpPr txBox="1"/>
          <p:nvPr/>
        </p:nvSpPr>
        <p:spPr>
          <a:xfrm>
            <a:off x="5623560" y="3611880"/>
            <a:ext cx="2880360" cy="548640"/>
          </a:xfrm>
          <a:prstGeom prst="rect">
            <a:avLst/>
          </a:prstGeom>
          <a:noFill/>
          <a:ln/>
        </p:spPr>
        <p:txBody>
          <a:bodyPr wrap="square" lIns="0" tIns="0" rIns="0" bIns="0" rtlCol="0" anchor="ctr"/>
          <a:lstStyle/>
          <a:p>
            <a:pPr indent="0" marL="0">
              <a:buNone/>
            </a:pPr>
            <a:r>
              <a:rPr lang="en-US" sz="1800" b="1" dirty="0">
                <a:solidFill>
                  <a:schemeClr val="tx2"/>
                </a:solidFill>
              </a:rPr>
              <a:t>¿Vale la pena construirlo?</a:t>
            </a:r>
            <a:endParaRPr lang="en-US" sz="1800" dirty="0"/>
          </a:p>
        </p:txBody>
      </p:sp>
      <p:sp>
        <p:nvSpPr>
          <p:cNvPr id="20" name="Text 14"/>
          <p:cNvSpPr txBox="1"/>
          <p:nvPr/>
        </p:nvSpPr>
        <p:spPr>
          <a:xfrm>
            <a:off x="5029200" y="4251960"/>
            <a:ext cx="3474720" cy="91440"/>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¿Por qué prototipar?</a:t>
            </a:r>
            <a:endParaRPr lang="en-US" sz="3000" dirty="0"/>
          </a:p>
        </p:txBody>
      </p:sp>
      <p:sp>
        <p:nvSpPr>
          <p:cNvPr id="4" name="Shape 1"/>
          <p:cNvSpPr/>
          <p:nvPr/>
        </p:nvSpPr>
        <p:spPr>
          <a:xfrm>
            <a:off x="640080" y="3154680"/>
            <a:ext cx="1737360" cy="914400"/>
          </a:xfrm>
          <a:prstGeom prst="roundRect">
            <a:avLst>
              <a:gd name="adj" fmla="val 5000"/>
            </a:avLst>
          </a:prstGeom>
          <a:solidFill>
            <a:schemeClr val="accent3"/>
          </a:solidFill>
          <a:ln w="12700">
            <a:solidFill>
              <a:schemeClr val="accent3"/>
            </a:solidFill>
            <a:prstDash val="solid"/>
          </a:ln>
        </p:spPr>
      </p:sp>
      <p:sp>
        <p:nvSpPr>
          <p:cNvPr id="5" name="Text 2"/>
          <p:cNvSpPr txBox="1"/>
          <p:nvPr/>
        </p:nvSpPr>
        <p:spPr>
          <a:xfrm>
            <a:off x="640080" y="315468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Idea</a:t>
            </a:r>
            <a:endParaRPr lang="en-US" sz="1600" dirty="0"/>
          </a:p>
        </p:txBody>
      </p:sp>
      <p:sp>
        <p:nvSpPr>
          <p:cNvPr id="6" name="Text 3"/>
          <p:cNvSpPr txBox="1"/>
          <p:nvPr/>
        </p:nvSpPr>
        <p:spPr>
          <a:xfrm>
            <a:off x="54864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minutos</a:t>
            </a:r>
            <a:endParaRPr lang="en-US" sz="1300" dirty="0"/>
          </a:p>
        </p:txBody>
      </p:sp>
      <p:sp>
        <p:nvSpPr>
          <p:cNvPr id="7" name="Shape 4"/>
          <p:cNvSpPr/>
          <p:nvPr/>
        </p:nvSpPr>
        <p:spPr>
          <a:xfrm>
            <a:off x="2651760" y="2606040"/>
            <a:ext cx="1737360" cy="1463040"/>
          </a:xfrm>
          <a:prstGeom prst="roundRect">
            <a:avLst>
              <a:gd name="adj" fmla="val 3125"/>
            </a:avLst>
          </a:prstGeom>
          <a:solidFill>
            <a:schemeClr val="accent2"/>
          </a:solidFill>
          <a:ln w="12700">
            <a:solidFill>
              <a:schemeClr val="accent2"/>
            </a:solidFill>
            <a:prstDash val="solid"/>
          </a:ln>
        </p:spPr>
      </p:sp>
      <p:sp>
        <p:nvSpPr>
          <p:cNvPr id="8" name="Text 5"/>
          <p:cNvSpPr txBox="1"/>
          <p:nvPr/>
        </p:nvSpPr>
        <p:spPr>
          <a:xfrm>
            <a:off x="2651760" y="260604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Prototipo</a:t>
            </a:r>
            <a:endParaRPr lang="en-US" sz="1600" dirty="0"/>
          </a:p>
        </p:txBody>
      </p:sp>
      <p:sp>
        <p:nvSpPr>
          <p:cNvPr id="9" name="Text 6"/>
          <p:cNvSpPr txBox="1"/>
          <p:nvPr/>
        </p:nvSpPr>
        <p:spPr>
          <a:xfrm>
            <a:off x="256032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horas</a:t>
            </a:r>
            <a:endParaRPr lang="en-US" sz="1300" dirty="0"/>
          </a:p>
        </p:txBody>
      </p:sp>
      <p:sp>
        <p:nvSpPr>
          <p:cNvPr id="10" name="Shape 7"/>
          <p:cNvSpPr/>
          <p:nvPr/>
        </p:nvSpPr>
        <p:spPr>
          <a:xfrm>
            <a:off x="4663440" y="2057400"/>
            <a:ext cx="1737360" cy="2011680"/>
          </a:xfrm>
          <a:prstGeom prst="roundRect">
            <a:avLst>
              <a:gd name="adj" fmla="val 2632"/>
            </a:avLst>
          </a:prstGeom>
          <a:solidFill>
            <a:schemeClr val="accent5"/>
          </a:solidFill>
          <a:ln w="12700">
            <a:solidFill>
              <a:schemeClr val="accent5"/>
            </a:solidFill>
            <a:prstDash val="solid"/>
          </a:ln>
        </p:spPr>
      </p:sp>
      <p:sp>
        <p:nvSpPr>
          <p:cNvPr id="11" name="Text 8"/>
          <p:cNvSpPr txBox="1"/>
          <p:nvPr/>
        </p:nvSpPr>
        <p:spPr>
          <a:xfrm>
            <a:off x="4663440" y="205740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Código</a:t>
            </a:r>
            <a:endParaRPr lang="en-US" sz="1600" dirty="0"/>
          </a:p>
        </p:txBody>
      </p:sp>
      <p:sp>
        <p:nvSpPr>
          <p:cNvPr id="12" name="Text 9"/>
          <p:cNvSpPr txBox="1"/>
          <p:nvPr/>
        </p:nvSpPr>
        <p:spPr>
          <a:xfrm>
            <a:off x="457200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días</a:t>
            </a:r>
            <a:endParaRPr lang="en-US" sz="1300" dirty="0"/>
          </a:p>
        </p:txBody>
      </p:sp>
      <p:sp>
        <p:nvSpPr>
          <p:cNvPr id="13" name="Shape 10"/>
          <p:cNvSpPr/>
          <p:nvPr/>
        </p:nvSpPr>
        <p:spPr>
          <a:xfrm>
            <a:off x="6675120" y="1508760"/>
            <a:ext cx="1737360" cy="2560320"/>
          </a:xfrm>
          <a:prstGeom prst="roundRect">
            <a:avLst>
              <a:gd name="adj" fmla="val 2632"/>
            </a:avLst>
          </a:prstGeom>
          <a:solidFill>
            <a:schemeClr val="accent4"/>
          </a:solidFill>
          <a:ln w="12700">
            <a:solidFill>
              <a:schemeClr val="accent4"/>
            </a:solidFill>
            <a:prstDash val="solid"/>
          </a:ln>
        </p:spPr>
      </p:sp>
      <p:sp>
        <p:nvSpPr>
          <p:cNvPr id="14" name="Text 11"/>
          <p:cNvSpPr txBox="1"/>
          <p:nvPr/>
        </p:nvSpPr>
        <p:spPr>
          <a:xfrm>
            <a:off x="6675120" y="150876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Producto en uso</a:t>
            </a:r>
            <a:endParaRPr lang="en-US" sz="1600" dirty="0"/>
          </a:p>
        </p:txBody>
      </p:sp>
      <p:sp>
        <p:nvSpPr>
          <p:cNvPr id="15" name="Text 12"/>
          <p:cNvSpPr txBox="1"/>
          <p:nvPr/>
        </p:nvSpPr>
        <p:spPr>
          <a:xfrm>
            <a:off x="6583680" y="4114800"/>
            <a:ext cx="1920240" cy="457200"/>
          </a:xfrm>
          <a:prstGeom prst="rect">
            <a:avLst/>
          </a:prstGeom>
          <a:noFill/>
          <a:ln/>
        </p:spPr>
        <p:txBody>
          <a:bodyPr wrap="square" lIns="0" tIns="0" rIns="0" bIns="0" rtlCol="0" anchor="ctr"/>
          <a:lstStyle/>
          <a:p>
            <a:pPr algn="ctr" indent="0" marL="0">
              <a:buNone/>
            </a:pPr>
            <a:r>
              <a:rPr lang="en-US" sz="1300" dirty="0">
                <a:solidFill>
                  <a:schemeClr val="tx1"/>
                </a:solidFill>
              </a:rPr>
              <a:t>Cambiar cuesta mucho</a:t>
            </a:r>
            <a:endParaRPr lang="en-US" sz="1300" dirty="0"/>
          </a:p>
        </p:txBody>
      </p:sp>
      <p:sp>
        <p:nvSpPr>
          <p:cNvPr id="16" name="Text 13"/>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600" i="1" dirty="0">
                <a:solidFill>
                  <a:schemeClr val="tx1"/>
                </a:solidFill>
              </a:rPr>
              <a:t>El costo de corregir crece con cada etapa.</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Wireframe, mockup y prototipo</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45920"/>
                <a:gridCol w="2194560"/>
                <a:gridCol w="2194560"/>
                <a:gridCol w="2194560"/>
              </a:tblGrid>
              <a:tr h="566928">
                <a:tc>
                  <a:txBody>
                    <a:bodyPr/>
                    <a:lstStyle/>
                    <a:p>
                      <a:pPr indent="0" marL="0">
                        <a:buNone/>
                      </a:pP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Wireframe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Mockup</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Prototipo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566928">
                <a:tc>
                  <a:txBody>
                    <a:bodyPr/>
                    <a:lstStyle/>
                    <a:p>
                      <a:pPr indent="0" marL="0">
                        <a:buNone/>
                      </a:pPr>
                      <a:r>
                        <a:rPr lang="en-US" sz="1400" dirty="0">
                          <a:solidFill>
                            <a:schemeClr val="tx1"/>
                          </a:solidFill>
                        </a:rPr>
                        <a:t>Muestra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Estructura y orden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Aspecto visual final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Comportamiento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Responde 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¿Dónde va cada cosa?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¿Cómo se ve?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¿Cómo se usa?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¿Se puede clicar?</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Sí</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Nuestro caso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Pantallas A y B de la Fase 1</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Colores de la app real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HTML del Asistente IA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Tres niveles de fidelidad</a:t>
            </a:r>
            <a:endParaRPr lang="en-US" sz="3000" dirty="0"/>
          </a:p>
        </p:txBody>
      </p:sp>
      <p:sp>
        <p:nvSpPr>
          <p:cNvPr id="4" name="Shape 1"/>
          <p:cNvSpPr/>
          <p:nvPr/>
        </p:nvSpPr>
        <p:spPr>
          <a:xfrm>
            <a:off x="457200" y="1234440"/>
            <a:ext cx="2651760" cy="3108960"/>
          </a:xfrm>
          <a:prstGeom prst="roundRect">
            <a:avLst>
              <a:gd name="adj" fmla="val 2759"/>
            </a:avLst>
          </a:prstGeom>
          <a:solidFill>
            <a:schemeClr val="bg2"/>
          </a:solidFill>
          <a:ln w="12700">
            <a:solidFill>
              <a:schemeClr val="bg2"/>
            </a:solidFill>
            <a:prstDash val="solid"/>
          </a:ln>
        </p:spPr>
      </p:sp>
      <p:sp>
        <p:nvSpPr>
          <p:cNvPr id="5" name="Shape 2"/>
          <p:cNvSpPr/>
          <p:nvPr/>
        </p:nvSpPr>
        <p:spPr>
          <a:xfrm>
            <a:off x="640080" y="1417320"/>
            <a:ext cx="457200" cy="457200"/>
          </a:xfrm>
          <a:prstGeom prst="ellipse">
            <a:avLst/>
          </a:prstGeom>
          <a:solidFill>
            <a:schemeClr val="accent6"/>
          </a:solidFill>
          <a:ln w="12700">
            <a:solidFill>
              <a:schemeClr val="accent6"/>
            </a:solidFill>
            <a:prstDash val="solid"/>
          </a:ln>
        </p:spPr>
      </p:sp>
      <p:pic>
        <p:nvPicPr>
          <p:cNvPr id="6" name="Image 0" descr="preencoded.png">    </p:cNvPr>
          <p:cNvPicPr>
            <a:picLocks noChangeAspect="1"/>
          </p:cNvPicPr>
          <p:nvPr/>
        </p:nvPicPr>
        <p:blipFill>
          <a:blip r:embed="rId1"/>
          <a:stretch>
            <a:fillRect/>
          </a:stretch>
        </p:blipFill>
        <p:spPr>
          <a:xfrm>
            <a:off x="740664" y="1517904"/>
            <a:ext cx="256032" cy="256032"/>
          </a:xfrm>
          <a:prstGeom prst="rect">
            <a:avLst/>
          </a:prstGeom>
        </p:spPr>
      </p:pic>
      <p:sp>
        <p:nvSpPr>
          <p:cNvPr id="7" name="Text 3"/>
          <p:cNvSpPr txBox="1"/>
          <p:nvPr/>
        </p:nvSpPr>
        <p:spPr>
          <a:xfrm>
            <a:off x="1234440" y="1371600"/>
            <a:ext cx="1691640" cy="548640"/>
          </a:xfrm>
          <a:prstGeom prst="rect">
            <a:avLst/>
          </a:prstGeom>
          <a:noFill/>
          <a:ln/>
        </p:spPr>
        <p:txBody>
          <a:bodyPr wrap="square" lIns="0" tIns="0" rIns="0" bIns="0" rtlCol="0" anchor="ctr"/>
          <a:lstStyle/>
          <a:p>
            <a:pPr indent="0" marL="0">
              <a:buNone/>
            </a:pPr>
            <a:r>
              <a:rPr lang="en-US" sz="2000" b="1" dirty="0">
                <a:solidFill>
                  <a:schemeClr val="tx2"/>
                </a:solidFill>
              </a:rPr>
              <a:t>Baja</a:t>
            </a:r>
            <a:endParaRPr lang="en-US" sz="2000" dirty="0"/>
          </a:p>
        </p:txBody>
      </p:sp>
      <p:sp>
        <p:nvSpPr>
          <p:cNvPr id="8" name="Text 4"/>
          <p:cNvSpPr txBox="1"/>
          <p:nvPr/>
        </p:nvSpPr>
        <p:spPr>
          <a:xfrm>
            <a:off x="640080" y="2011680"/>
            <a:ext cx="2286000" cy="2194560"/>
          </a:xfrm>
          <a:prstGeom prst="rect">
            <a:avLst/>
          </a:prstGeom>
          <a:noFill/>
          <a:ln/>
        </p:spPr>
        <p:txBody>
          <a:bodyPr wrap="square" lIns="0" tIns="0" rIns="0" bIns="0" rtlCol="0" anchor="t"/>
          <a:lstStyle/>
          <a:p>
            <a:pPr indent="0" marL="0">
              <a:buNone/>
            </a:pPr>
            <a:r>
              <a:rPr lang="en-US" sz="1600" dirty="0">
                <a:solidFill>
                  <a:schemeClr val="tx1"/>
                </a:solidFill>
              </a:rPr>
              <a:t>Papel o cajas grises. Se hace en minutos.</a:t>
            </a:r>
            <a:endParaRPr lang="en-US" sz="1600" dirty="0"/>
          </a:p>
          <a:p>
            <a:pPr indent="0" marL="0">
              <a:buNone/>
            </a:pPr>
            <a:r>
              <a:rPr lang="en-US" sz="1600" dirty="0">
                <a:solidFill>
                  <a:schemeClr val="tx1"/>
                </a:solidFill>
              </a:rPr>
              <a:t>Pregunta: ¿la estructura tiene sentido?</a:t>
            </a:r>
            <a:endParaRPr lang="en-US" sz="1600" dirty="0"/>
          </a:p>
        </p:txBody>
      </p:sp>
      <p:sp>
        <p:nvSpPr>
          <p:cNvPr id="9" name="Shape 5"/>
          <p:cNvSpPr/>
          <p:nvPr/>
        </p:nvSpPr>
        <p:spPr>
          <a:xfrm>
            <a:off x="3291840" y="1234440"/>
            <a:ext cx="2651760" cy="3108960"/>
          </a:xfrm>
          <a:prstGeom prst="roundRect">
            <a:avLst>
              <a:gd name="adj" fmla="val 2759"/>
            </a:avLst>
          </a:prstGeom>
          <a:solidFill>
            <a:schemeClr val="bg2"/>
          </a:solidFill>
          <a:ln w="12700">
            <a:solidFill>
              <a:schemeClr val="bg2"/>
            </a:solidFill>
            <a:prstDash val="solid"/>
          </a:ln>
        </p:spPr>
      </p:sp>
      <p:sp>
        <p:nvSpPr>
          <p:cNvPr id="10" name="Shape 6"/>
          <p:cNvSpPr/>
          <p:nvPr/>
        </p:nvSpPr>
        <p:spPr>
          <a:xfrm>
            <a:off x="3474720" y="1417320"/>
            <a:ext cx="457200" cy="457200"/>
          </a:xfrm>
          <a:prstGeom prst="ellipse">
            <a:avLst/>
          </a:prstGeom>
          <a:solidFill>
            <a:schemeClr val="accent2"/>
          </a:solidFill>
          <a:ln w="12700">
            <a:solidFill>
              <a:schemeClr val="accent2"/>
            </a:solidFill>
            <a:prstDash val="solid"/>
          </a:ln>
        </p:spPr>
      </p:sp>
      <p:pic>
        <p:nvPicPr>
          <p:cNvPr id="11" name="Image 1" descr="preencoded.png">    </p:cNvPr>
          <p:cNvPicPr>
            <a:picLocks noChangeAspect="1"/>
          </p:cNvPicPr>
          <p:nvPr/>
        </p:nvPicPr>
        <p:blipFill>
          <a:blip r:embed="rId2"/>
          <a:stretch>
            <a:fillRect/>
          </a:stretch>
        </p:blipFill>
        <p:spPr>
          <a:xfrm>
            <a:off x="3575304" y="1517904"/>
            <a:ext cx="256032" cy="256032"/>
          </a:xfrm>
          <a:prstGeom prst="rect">
            <a:avLst/>
          </a:prstGeom>
        </p:spPr>
      </p:pic>
      <p:sp>
        <p:nvSpPr>
          <p:cNvPr id="12" name="Text 7"/>
          <p:cNvSpPr txBox="1"/>
          <p:nvPr/>
        </p:nvSpPr>
        <p:spPr>
          <a:xfrm>
            <a:off x="4069080" y="1371600"/>
            <a:ext cx="1691640" cy="548640"/>
          </a:xfrm>
          <a:prstGeom prst="rect">
            <a:avLst/>
          </a:prstGeom>
          <a:noFill/>
          <a:ln/>
        </p:spPr>
        <p:txBody>
          <a:bodyPr wrap="square" lIns="0" tIns="0" rIns="0" bIns="0" rtlCol="0" anchor="ctr"/>
          <a:lstStyle/>
          <a:p>
            <a:pPr indent="0" marL="0">
              <a:buNone/>
            </a:pPr>
            <a:r>
              <a:rPr lang="en-US" sz="2000" b="1" dirty="0">
                <a:solidFill>
                  <a:schemeClr val="tx2"/>
                </a:solidFill>
              </a:rPr>
              <a:t>Media</a:t>
            </a:r>
            <a:endParaRPr lang="en-US" sz="2000" dirty="0"/>
          </a:p>
        </p:txBody>
      </p:sp>
      <p:sp>
        <p:nvSpPr>
          <p:cNvPr id="13" name="Text 8"/>
          <p:cNvSpPr txBox="1"/>
          <p:nvPr/>
        </p:nvSpPr>
        <p:spPr>
          <a:xfrm>
            <a:off x="3474720" y="2011680"/>
            <a:ext cx="2286000" cy="2194560"/>
          </a:xfrm>
          <a:prstGeom prst="rect">
            <a:avLst/>
          </a:prstGeom>
          <a:noFill/>
          <a:ln/>
        </p:spPr>
        <p:txBody>
          <a:bodyPr wrap="square" lIns="0" tIns="0" rIns="0" bIns="0" rtlCol="0" anchor="t"/>
          <a:lstStyle/>
          <a:p>
            <a:pPr indent="0" marL="0">
              <a:buNone/>
            </a:pPr>
            <a:r>
              <a:rPr lang="en-US" sz="1600" dirty="0">
                <a:solidFill>
                  <a:schemeClr val="tx1"/>
                </a:solidFill>
              </a:rPr>
              <a:t>Pantallas ordenadas y navegación. Texto real.</a:t>
            </a:r>
            <a:endParaRPr lang="en-US" sz="1600" dirty="0"/>
          </a:p>
          <a:p>
            <a:pPr indent="0" marL="0">
              <a:buNone/>
            </a:pPr>
            <a:r>
              <a:rPr lang="en-US" sz="1600" dirty="0">
                <a:solidFill>
                  <a:schemeClr val="tx1"/>
                </a:solidFill>
              </a:rPr>
              <a:t>Pregunta: ¿el flujo se entiende?</a:t>
            </a:r>
            <a:endParaRPr lang="en-US" sz="1600" dirty="0"/>
          </a:p>
        </p:txBody>
      </p:sp>
      <p:sp>
        <p:nvSpPr>
          <p:cNvPr id="14" name="Shape 9"/>
          <p:cNvSpPr/>
          <p:nvPr/>
        </p:nvSpPr>
        <p:spPr>
          <a:xfrm>
            <a:off x="6126480" y="1234440"/>
            <a:ext cx="2651760" cy="3108960"/>
          </a:xfrm>
          <a:prstGeom prst="roundRect">
            <a:avLst>
              <a:gd name="adj" fmla="val 2759"/>
            </a:avLst>
          </a:prstGeom>
          <a:solidFill>
            <a:schemeClr val="bg2"/>
          </a:solidFill>
          <a:ln w="12700">
            <a:solidFill>
              <a:schemeClr val="bg2"/>
            </a:solidFill>
            <a:prstDash val="solid"/>
          </a:ln>
        </p:spPr>
      </p:sp>
      <p:sp>
        <p:nvSpPr>
          <p:cNvPr id="15" name="Shape 10"/>
          <p:cNvSpPr/>
          <p:nvPr/>
        </p:nvSpPr>
        <p:spPr>
          <a:xfrm>
            <a:off x="6309360" y="1417320"/>
            <a:ext cx="457200" cy="4572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6409944" y="1517904"/>
            <a:ext cx="256032" cy="256032"/>
          </a:xfrm>
          <a:prstGeom prst="rect">
            <a:avLst/>
          </a:prstGeom>
        </p:spPr>
      </p:pic>
      <p:sp>
        <p:nvSpPr>
          <p:cNvPr id="17" name="Text 11"/>
          <p:cNvSpPr txBox="1"/>
          <p:nvPr/>
        </p:nvSpPr>
        <p:spPr>
          <a:xfrm>
            <a:off x="6903720" y="1371600"/>
            <a:ext cx="1691640" cy="548640"/>
          </a:xfrm>
          <a:prstGeom prst="rect">
            <a:avLst/>
          </a:prstGeom>
          <a:noFill/>
          <a:ln/>
        </p:spPr>
        <p:txBody>
          <a:bodyPr wrap="square" lIns="0" tIns="0" rIns="0" bIns="0" rtlCol="0" anchor="ctr"/>
          <a:lstStyle/>
          <a:p>
            <a:pPr indent="0" marL="0">
              <a:buNone/>
            </a:pPr>
            <a:r>
              <a:rPr lang="en-US" sz="2000" b="1" dirty="0">
                <a:solidFill>
                  <a:schemeClr val="tx2"/>
                </a:solidFill>
              </a:rPr>
              <a:t>Alta</a:t>
            </a:r>
            <a:endParaRPr lang="en-US" sz="2000" dirty="0"/>
          </a:p>
        </p:txBody>
      </p:sp>
      <p:sp>
        <p:nvSpPr>
          <p:cNvPr id="18" name="Text 12"/>
          <p:cNvSpPr txBox="1"/>
          <p:nvPr/>
        </p:nvSpPr>
        <p:spPr>
          <a:xfrm>
            <a:off x="6309360" y="2011680"/>
            <a:ext cx="2286000" cy="2194560"/>
          </a:xfrm>
          <a:prstGeom prst="rect">
            <a:avLst/>
          </a:prstGeom>
          <a:noFill/>
          <a:ln/>
        </p:spPr>
        <p:txBody>
          <a:bodyPr wrap="square" lIns="0" tIns="0" rIns="0" bIns="0" rtlCol="0" anchor="t"/>
          <a:lstStyle/>
          <a:p>
            <a:pPr indent="0" marL="0">
              <a:buNone/>
            </a:pPr>
            <a:r>
              <a:rPr lang="en-US" sz="1600" dirty="0">
                <a:solidFill>
                  <a:schemeClr val="tx1"/>
                </a:solidFill>
              </a:rPr>
              <a:t>Se ve y responde casi como el producto.</a:t>
            </a:r>
            <a:endParaRPr lang="en-US" sz="1600" dirty="0"/>
          </a:p>
          <a:p>
            <a:pPr indent="0" marL="0">
              <a:buNone/>
            </a:pPr>
            <a:r>
              <a:rPr lang="en-US" sz="1600" dirty="0">
                <a:solidFill>
                  <a:schemeClr val="tx1"/>
                </a:solidFill>
              </a:rPr>
              <a:t>Pregunta: ¿funciona bien en el detalle?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La fidelidad tiene tres ejes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371600"/>
                <a:gridCol w="1920240"/>
                <a:gridCol w="2468880"/>
                <a:gridCol w="2468880"/>
              </a:tblGrid>
              <a:tr h="640080">
                <a:tc>
                  <a:txBody>
                    <a:bodyPr/>
                    <a:lstStyle/>
                    <a:p>
                      <a:pPr indent="0" marL="0">
                        <a:buNone/>
                      </a:pPr>
                      <a:r>
                        <a:rPr lang="en-US" sz="1400" b="1" dirty="0">
                          <a:solidFill>
                            <a:schemeClr val="bg1"/>
                          </a:solidFill>
                        </a:rPr>
                        <a:t>Eje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Baja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Nuestro v1</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640080">
                <a:tc>
                  <a:txBody>
                    <a:bodyPr/>
                    <a:lstStyle/>
                    <a:p>
                      <a:pPr indent="0" marL="0">
                        <a:buNone/>
                      </a:pPr>
                      <a:r>
                        <a:rPr lang="en-US" sz="1400" dirty="0">
                          <a:solidFill>
                            <a:schemeClr val="tx1"/>
                          </a:solidFill>
                        </a:rPr>
                        <a:t>Visual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Cajas y grises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Colores y tipografía finales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 tokens de la app real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640080">
                <a:tc>
                  <a:txBody>
                    <a:bodyPr/>
                    <a:lstStyle/>
                    <a:p>
                      <a:pPr indent="0" marL="0">
                        <a:buNone/>
                      </a:pPr>
                      <a:r>
                        <a:rPr lang="en-US" sz="1400" dirty="0">
                          <a:solidFill>
                            <a:schemeClr val="tx1"/>
                          </a:solidFill>
                        </a:rPr>
                        <a:t>Contenido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 de relleno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Textos reales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Alta: mensajes reales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640080">
                <a:tc>
                  <a:txBody>
                    <a:bodyPr/>
                    <a:lstStyle/>
                    <a:p>
                      <a:pPr indent="0" marL="0">
                        <a:buNone/>
                      </a:pPr>
                      <a:r>
                        <a:rPr lang="en-US" sz="1400" dirty="0">
                          <a:solidFill>
                            <a:schemeClr val="tx1"/>
                          </a:solidFill>
                        </a:rPr>
                        <a:t>Interacción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Solo imágenes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Estados y respuestas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 en un solo flujo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500" b="1" i="1" dirty="0">
                <a:solidFill>
                  <a:schemeClr val="accent1"/>
                </a:solidFill>
              </a:rPr>
              <a:t>Se puede tener un eje alto y otro bajo. Elegimos cada uno según la pregunta.</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Horizontal o vertical</a:t>
            </a:r>
            <a:endParaRPr lang="en-US" sz="3000" dirty="0"/>
          </a:p>
        </p:txBody>
      </p:sp>
      <p:sp>
        <p:nvSpPr>
          <p:cNvPr id="4" name="Text 1"/>
          <p:cNvSpPr txBox="1"/>
          <p:nvPr/>
        </p:nvSpPr>
        <p:spPr>
          <a:xfrm>
            <a:off x="457200" y="118872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Horizontal</a:t>
            </a:r>
            <a:endParaRPr lang="en-US" sz="1800" dirty="0"/>
          </a:p>
        </p:txBody>
      </p:sp>
      <p:sp>
        <p:nvSpPr>
          <p:cNvPr id="5" name="Shape 2"/>
          <p:cNvSpPr/>
          <p:nvPr/>
        </p:nvSpPr>
        <p:spPr>
          <a:xfrm>
            <a:off x="457200" y="1645920"/>
            <a:ext cx="694944" cy="822960"/>
          </a:xfrm>
          <a:prstGeom prst="roundRect">
            <a:avLst>
              <a:gd name="adj" fmla="val 6579"/>
            </a:avLst>
          </a:prstGeom>
          <a:solidFill>
            <a:schemeClr val="accent2"/>
          </a:solidFill>
          <a:ln w="12700">
            <a:solidFill>
              <a:schemeClr val="accent2"/>
            </a:solidFill>
            <a:prstDash val="solid"/>
          </a:ln>
        </p:spPr>
      </p:sp>
      <p:sp>
        <p:nvSpPr>
          <p:cNvPr id="6" name="Shape 3"/>
          <p:cNvSpPr/>
          <p:nvPr/>
        </p:nvSpPr>
        <p:spPr>
          <a:xfrm>
            <a:off x="1243584" y="1645920"/>
            <a:ext cx="694944" cy="822960"/>
          </a:xfrm>
          <a:prstGeom prst="roundRect">
            <a:avLst>
              <a:gd name="adj" fmla="val 6579"/>
            </a:avLst>
          </a:prstGeom>
          <a:solidFill>
            <a:schemeClr val="accent2"/>
          </a:solidFill>
          <a:ln w="12700">
            <a:solidFill>
              <a:schemeClr val="accent2"/>
            </a:solidFill>
            <a:prstDash val="solid"/>
          </a:ln>
        </p:spPr>
      </p:sp>
      <p:sp>
        <p:nvSpPr>
          <p:cNvPr id="7" name="Shape 4"/>
          <p:cNvSpPr/>
          <p:nvPr/>
        </p:nvSpPr>
        <p:spPr>
          <a:xfrm>
            <a:off x="2029968" y="1645920"/>
            <a:ext cx="694944" cy="822960"/>
          </a:xfrm>
          <a:prstGeom prst="roundRect">
            <a:avLst>
              <a:gd name="adj" fmla="val 6579"/>
            </a:avLst>
          </a:prstGeom>
          <a:solidFill>
            <a:schemeClr val="accent2"/>
          </a:solidFill>
          <a:ln w="12700">
            <a:solidFill>
              <a:schemeClr val="accent2"/>
            </a:solidFill>
            <a:prstDash val="solid"/>
          </a:ln>
        </p:spPr>
      </p:sp>
      <p:sp>
        <p:nvSpPr>
          <p:cNvPr id="8" name="Shape 5"/>
          <p:cNvSpPr/>
          <p:nvPr/>
        </p:nvSpPr>
        <p:spPr>
          <a:xfrm>
            <a:off x="2816352" y="1645920"/>
            <a:ext cx="694944" cy="822960"/>
          </a:xfrm>
          <a:prstGeom prst="roundRect">
            <a:avLst>
              <a:gd name="adj" fmla="val 6579"/>
            </a:avLst>
          </a:prstGeom>
          <a:solidFill>
            <a:schemeClr val="accent2"/>
          </a:solidFill>
          <a:ln w="12700">
            <a:solidFill>
              <a:schemeClr val="accent2"/>
            </a:solidFill>
            <a:prstDash val="solid"/>
          </a:ln>
        </p:spPr>
      </p:sp>
      <p:sp>
        <p:nvSpPr>
          <p:cNvPr id="9" name="Shape 6"/>
          <p:cNvSpPr/>
          <p:nvPr/>
        </p:nvSpPr>
        <p:spPr>
          <a:xfrm>
            <a:off x="3602736" y="1645920"/>
            <a:ext cx="694944" cy="822960"/>
          </a:xfrm>
          <a:prstGeom prst="roundRect">
            <a:avLst>
              <a:gd name="adj" fmla="val 6579"/>
            </a:avLst>
          </a:prstGeom>
          <a:solidFill>
            <a:schemeClr val="accent2"/>
          </a:solidFill>
          <a:ln w="12700">
            <a:solidFill>
              <a:schemeClr val="accent2"/>
            </a:solidFill>
            <a:prstDash val="solid"/>
          </a:ln>
        </p:spPr>
      </p:sp>
      <p:sp>
        <p:nvSpPr>
          <p:cNvPr id="10" name="Text 7"/>
          <p:cNvSpPr txBox="1"/>
          <p:nvPr/>
        </p:nvSpPr>
        <p:spPr>
          <a:xfrm>
            <a:off x="457200" y="2651760"/>
            <a:ext cx="3931920" cy="822960"/>
          </a:xfrm>
          <a:prstGeom prst="rect">
            <a:avLst/>
          </a:prstGeom>
          <a:noFill/>
          <a:ln/>
        </p:spPr>
        <p:txBody>
          <a:bodyPr wrap="square" lIns="0" tIns="0" rIns="0" bIns="0" rtlCol="0" anchor="t"/>
          <a:lstStyle/>
          <a:p>
            <a:pPr indent="0" marL="0">
              <a:buNone/>
            </a:pPr>
            <a:r>
              <a:rPr lang="en-US" sz="1400" dirty="0">
                <a:solidFill>
                  <a:schemeClr val="tx1"/>
                </a:solidFill>
              </a:rPr>
              <a:t>Muchas funciones, poco detalle en cada una. Sirve para ver el alcance.</a:t>
            </a:r>
            <a:endParaRPr lang="en-US" sz="1400" dirty="0"/>
          </a:p>
        </p:txBody>
      </p:sp>
      <p:sp>
        <p:nvSpPr>
          <p:cNvPr id="11" name="Text 8"/>
          <p:cNvSpPr txBox="1"/>
          <p:nvPr/>
        </p:nvSpPr>
        <p:spPr>
          <a:xfrm>
            <a:off x="4754880" y="118872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Vertical</a:t>
            </a:r>
            <a:endParaRPr lang="en-US" sz="1800" dirty="0"/>
          </a:p>
        </p:txBody>
      </p:sp>
      <p:sp>
        <p:nvSpPr>
          <p:cNvPr id="12" name="Shape 9"/>
          <p:cNvSpPr/>
          <p:nvPr/>
        </p:nvSpPr>
        <p:spPr>
          <a:xfrm>
            <a:off x="4754880" y="1645920"/>
            <a:ext cx="694944" cy="1828800"/>
          </a:xfrm>
          <a:prstGeom prst="roundRect">
            <a:avLst>
              <a:gd name="adj" fmla="val 6579"/>
            </a:avLst>
          </a:prstGeom>
          <a:solidFill>
            <a:schemeClr val="accent1"/>
          </a:solidFill>
          <a:ln w="12700">
            <a:solidFill>
              <a:schemeClr val="accent1"/>
            </a:solidFill>
            <a:prstDash val="solid"/>
          </a:ln>
        </p:spPr>
      </p:sp>
      <p:sp>
        <p:nvSpPr>
          <p:cNvPr id="13" name="Shape 10"/>
          <p:cNvSpPr/>
          <p:nvPr/>
        </p:nvSpPr>
        <p:spPr>
          <a:xfrm>
            <a:off x="5541264" y="1645920"/>
            <a:ext cx="694944" cy="822960"/>
          </a:xfrm>
          <a:prstGeom prst="roundRect">
            <a:avLst>
              <a:gd name="adj" fmla="val 6579"/>
            </a:avLst>
          </a:prstGeom>
          <a:solidFill>
            <a:schemeClr val="bg2"/>
          </a:solidFill>
          <a:ln w="9525">
            <a:solidFill>
              <a:srgbClr val="C9D2E3"/>
            </a:solidFill>
            <a:prstDash val="solid"/>
          </a:ln>
        </p:spPr>
      </p:sp>
      <p:sp>
        <p:nvSpPr>
          <p:cNvPr id="14" name="Shape 11"/>
          <p:cNvSpPr/>
          <p:nvPr/>
        </p:nvSpPr>
        <p:spPr>
          <a:xfrm>
            <a:off x="6327648" y="1645920"/>
            <a:ext cx="694944" cy="822960"/>
          </a:xfrm>
          <a:prstGeom prst="roundRect">
            <a:avLst>
              <a:gd name="adj" fmla="val 6579"/>
            </a:avLst>
          </a:prstGeom>
          <a:solidFill>
            <a:schemeClr val="bg2"/>
          </a:solidFill>
          <a:ln w="9525">
            <a:solidFill>
              <a:srgbClr val="C9D2E3"/>
            </a:solidFill>
            <a:prstDash val="solid"/>
          </a:ln>
        </p:spPr>
      </p:sp>
      <p:sp>
        <p:nvSpPr>
          <p:cNvPr id="15" name="Shape 12"/>
          <p:cNvSpPr/>
          <p:nvPr/>
        </p:nvSpPr>
        <p:spPr>
          <a:xfrm>
            <a:off x="7114032" y="1645920"/>
            <a:ext cx="694944" cy="822960"/>
          </a:xfrm>
          <a:prstGeom prst="roundRect">
            <a:avLst>
              <a:gd name="adj" fmla="val 6579"/>
            </a:avLst>
          </a:prstGeom>
          <a:solidFill>
            <a:schemeClr val="bg2"/>
          </a:solidFill>
          <a:ln w="9525">
            <a:solidFill>
              <a:srgbClr val="C9D2E3"/>
            </a:solidFill>
            <a:prstDash val="solid"/>
          </a:ln>
        </p:spPr>
      </p:sp>
      <p:sp>
        <p:nvSpPr>
          <p:cNvPr id="16" name="Shape 13"/>
          <p:cNvSpPr/>
          <p:nvPr/>
        </p:nvSpPr>
        <p:spPr>
          <a:xfrm>
            <a:off x="7900416" y="1645920"/>
            <a:ext cx="694944" cy="822960"/>
          </a:xfrm>
          <a:prstGeom prst="roundRect">
            <a:avLst>
              <a:gd name="adj" fmla="val 6579"/>
            </a:avLst>
          </a:prstGeom>
          <a:solidFill>
            <a:schemeClr val="bg2"/>
          </a:solidFill>
          <a:ln w="9525">
            <a:solidFill>
              <a:srgbClr val="C9D2E3"/>
            </a:solidFill>
            <a:prstDash val="solid"/>
          </a:ln>
        </p:spPr>
      </p:sp>
      <p:sp>
        <p:nvSpPr>
          <p:cNvPr id="17" name="Text 14"/>
          <p:cNvSpPr txBox="1"/>
          <p:nvPr/>
        </p:nvSpPr>
        <p:spPr>
          <a:xfrm>
            <a:off x="4754880" y="3611880"/>
            <a:ext cx="3931920" cy="640080"/>
          </a:xfrm>
          <a:prstGeom prst="rect">
            <a:avLst/>
          </a:prstGeom>
          <a:noFill/>
          <a:ln/>
        </p:spPr>
        <p:txBody>
          <a:bodyPr wrap="square" lIns="0" tIns="0" rIns="0" bIns="0" rtlCol="0" anchor="t"/>
          <a:lstStyle/>
          <a:p>
            <a:pPr indent="0" marL="0">
              <a:buNone/>
            </a:pPr>
            <a:r>
              <a:rPr lang="en-US" sz="1400" dirty="0">
                <a:solidFill>
                  <a:schemeClr val="tx1"/>
                </a:solidFill>
              </a:rPr>
              <a:t>Una función completa de principio a fin. Sirve para probar el uso real.</a:t>
            </a:r>
            <a:endParaRPr lang="en-US" sz="1400" dirty="0"/>
          </a:p>
        </p:txBody>
      </p:sp>
      <p:sp>
        <p:nvSpPr>
          <p:cNvPr id="18" name="Text 15"/>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400" b="1" i="1" dirty="0">
                <a:solidFill>
                  <a:schemeClr val="accent1"/>
                </a:solidFill>
              </a:rPr>
              <a:t>Nuestro v1 es vertical: Asistente IA completo, el resto del menú es placeholder.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Desechable o evolutivo</a:t>
            </a:r>
            <a:endParaRPr lang="en-US" sz="3000" dirty="0"/>
          </a:p>
        </p:txBody>
      </p:sp>
      <p:sp>
        <p:nvSpPr>
          <p:cNvPr id="4" name="Shape 1"/>
          <p:cNvSpPr/>
          <p:nvPr/>
        </p:nvSpPr>
        <p:spPr>
          <a:xfrm>
            <a:off x="457200" y="1234440"/>
            <a:ext cx="4023360" cy="2011680"/>
          </a:xfrm>
          <a:prstGeom prst="roundRect">
            <a:avLst>
              <a:gd name="adj" fmla="val 3636"/>
            </a:avLst>
          </a:prstGeom>
          <a:solidFill>
            <a:schemeClr val="bg2"/>
          </a:solidFill>
          <a:ln w="12700">
            <a:solidFill>
              <a:schemeClr val="bg2"/>
            </a:solidFill>
            <a:prstDash val="solid"/>
          </a:ln>
        </p:spPr>
      </p:sp>
      <p:sp>
        <p:nvSpPr>
          <p:cNvPr id="5" name="Shape 2"/>
          <p:cNvSpPr/>
          <p:nvPr/>
        </p:nvSpPr>
        <p:spPr>
          <a:xfrm>
            <a:off x="640080" y="1417320"/>
            <a:ext cx="457200" cy="457200"/>
          </a:xfrm>
          <a:prstGeom prst="ellipse">
            <a:avLst/>
          </a:prstGeom>
          <a:solidFill>
            <a:schemeClr val="accent4"/>
          </a:solidFill>
          <a:ln w="12700">
            <a:solidFill>
              <a:schemeClr val="accent4"/>
            </a:solidFill>
            <a:prstDash val="solid"/>
          </a:ln>
        </p:spPr>
      </p:sp>
      <p:pic>
        <p:nvPicPr>
          <p:cNvPr id="6" name="Image 0" descr="preencoded.png">    </p:cNvPr>
          <p:cNvPicPr>
            <a:picLocks noChangeAspect="1"/>
          </p:cNvPicPr>
          <p:nvPr/>
        </p:nvPicPr>
        <p:blipFill>
          <a:blip r:embed="rId1"/>
          <a:stretch>
            <a:fillRect/>
          </a:stretch>
        </p:blipFill>
        <p:spPr>
          <a:xfrm>
            <a:off x="740664" y="1517904"/>
            <a:ext cx="256032" cy="256032"/>
          </a:xfrm>
          <a:prstGeom prst="rect">
            <a:avLst/>
          </a:prstGeom>
        </p:spPr>
      </p:pic>
      <p:sp>
        <p:nvSpPr>
          <p:cNvPr id="7" name="Text 3"/>
          <p:cNvSpPr txBox="1"/>
          <p:nvPr/>
        </p:nvSpPr>
        <p:spPr>
          <a:xfrm>
            <a:off x="1234440" y="13716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Desechable</a:t>
            </a:r>
            <a:endParaRPr lang="en-US" sz="1600" dirty="0"/>
          </a:p>
        </p:txBody>
      </p:sp>
      <p:sp>
        <p:nvSpPr>
          <p:cNvPr id="8" name="Text 4"/>
          <p:cNvSpPr txBox="1"/>
          <p:nvPr/>
        </p:nvSpPr>
        <p:spPr>
          <a:xfrm>
            <a:off x="640080" y="2011680"/>
            <a:ext cx="3657600" cy="1097280"/>
          </a:xfrm>
          <a:prstGeom prst="rect">
            <a:avLst/>
          </a:prstGeom>
          <a:noFill/>
          <a:ln/>
        </p:spPr>
        <p:txBody>
          <a:bodyPr wrap="square" lIns="0" tIns="0" rIns="0" bIns="0" rtlCol="0" anchor="t"/>
          <a:lstStyle/>
          <a:p>
            <a:pPr indent="0" marL="0">
              <a:buNone/>
            </a:pPr>
            <a:r>
              <a:rPr lang="en-US" sz="1400" dirty="0">
                <a:solidFill>
                  <a:schemeClr val="tx1"/>
                </a:solidFill>
              </a:rPr>
              <a:t>Se construye para aprender y luego se descarta. Se permite código rápido y datos falsos.</a:t>
            </a:r>
            <a:endParaRPr lang="en-US" sz="1400" dirty="0"/>
          </a:p>
        </p:txBody>
      </p:sp>
      <p:sp>
        <p:nvSpPr>
          <p:cNvPr id="9" name="Shape 5"/>
          <p:cNvSpPr/>
          <p:nvPr/>
        </p:nvSpPr>
        <p:spPr>
          <a:xfrm>
            <a:off x="4663440" y="1234440"/>
            <a:ext cx="4023360" cy="2011680"/>
          </a:xfrm>
          <a:prstGeom prst="roundRect">
            <a:avLst>
              <a:gd name="adj" fmla="val 3636"/>
            </a:avLst>
          </a:prstGeom>
          <a:solidFill>
            <a:schemeClr val="bg2"/>
          </a:solidFill>
          <a:ln w="12700">
            <a:solidFill>
              <a:schemeClr val="bg2"/>
            </a:solidFill>
            <a:prstDash val="solid"/>
          </a:ln>
        </p:spPr>
      </p:sp>
      <p:sp>
        <p:nvSpPr>
          <p:cNvPr id="10" name="Shape 6"/>
          <p:cNvSpPr/>
          <p:nvPr/>
        </p:nvSpPr>
        <p:spPr>
          <a:xfrm>
            <a:off x="4846320" y="1417320"/>
            <a:ext cx="457200" cy="457200"/>
          </a:xfrm>
          <a:prstGeom prst="ellipse">
            <a:avLst/>
          </a:prstGeom>
          <a:solidFill>
            <a:schemeClr val="accent3"/>
          </a:solidFill>
          <a:ln w="12700">
            <a:solidFill>
              <a:schemeClr val="accent3"/>
            </a:solidFill>
            <a:prstDash val="solid"/>
          </a:ln>
        </p:spPr>
      </p:sp>
      <p:pic>
        <p:nvPicPr>
          <p:cNvPr id="11" name="Image 1" descr="preencoded.png">    </p:cNvPr>
          <p:cNvPicPr>
            <a:picLocks noChangeAspect="1"/>
          </p:cNvPicPr>
          <p:nvPr/>
        </p:nvPicPr>
        <p:blipFill>
          <a:blip r:embed="rId2"/>
          <a:stretch>
            <a:fillRect/>
          </a:stretch>
        </p:blipFill>
        <p:spPr>
          <a:xfrm>
            <a:off x="4946904" y="1517904"/>
            <a:ext cx="256032" cy="256032"/>
          </a:xfrm>
          <a:prstGeom prst="rect">
            <a:avLst/>
          </a:prstGeom>
        </p:spPr>
      </p:pic>
      <p:sp>
        <p:nvSpPr>
          <p:cNvPr id="12" name="Text 7"/>
          <p:cNvSpPr txBox="1"/>
          <p:nvPr/>
        </p:nvSpPr>
        <p:spPr>
          <a:xfrm>
            <a:off x="5440680" y="13716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Evolutivo</a:t>
            </a:r>
            <a:endParaRPr lang="en-US" sz="1600" dirty="0"/>
          </a:p>
        </p:txBody>
      </p:sp>
      <p:sp>
        <p:nvSpPr>
          <p:cNvPr id="13" name="Text 8"/>
          <p:cNvSpPr txBox="1"/>
          <p:nvPr/>
        </p:nvSpPr>
        <p:spPr>
          <a:xfrm>
            <a:off x="4846320" y="2011680"/>
            <a:ext cx="3657600" cy="1097280"/>
          </a:xfrm>
          <a:prstGeom prst="rect">
            <a:avLst/>
          </a:prstGeom>
          <a:noFill/>
          <a:ln/>
        </p:spPr>
        <p:txBody>
          <a:bodyPr wrap="square" lIns="0" tIns="0" rIns="0" bIns="0" rtlCol="0" anchor="t"/>
          <a:lstStyle/>
          <a:p>
            <a:pPr indent="0" marL="0">
              <a:buNone/>
            </a:pPr>
            <a:r>
              <a:rPr lang="en-US" sz="1400" dirty="0">
                <a:solidFill>
                  <a:schemeClr val="tx1"/>
                </a:solidFill>
              </a:rPr>
              <a:t>Se refina en cada ronda hasta ser el producto. Exige código mantenible desde el inicio.</a:t>
            </a:r>
            <a:endParaRPr lang="en-US" sz="1400" dirty="0"/>
          </a:p>
        </p:txBody>
      </p:sp>
      <p:sp>
        <p:nvSpPr>
          <p:cNvPr id="14" name="Text 9"/>
          <p:cNvSpPr txBox="1"/>
          <p:nvPr/>
        </p:nvSpPr>
        <p:spPr>
          <a:xfrm>
            <a:off x="457200" y="3520440"/>
            <a:ext cx="8229600" cy="822960"/>
          </a:xfrm>
          <a:prstGeom prst="rect">
            <a:avLst/>
          </a:prstGeom>
          <a:noFill/>
          <a:ln/>
        </p:spPr>
        <p:txBody>
          <a:bodyPr wrap="square" lIns="0" tIns="0" rIns="0" bIns="0" rtlCol="0" anchor="t"/>
          <a:lstStyle/>
          <a:p>
            <a:pPr indent="0" marL="0">
              <a:buNone/>
            </a:pPr>
            <a:r>
              <a:rPr lang="en-US" sz="1600" dirty="0">
                <a:solidFill>
                  <a:schemeClr val="tx1"/>
                </a:solidFill>
              </a:rPr>
              <a:t>En nuestro caso: la IA de v1 es simulada, así que la lógica se descarta. Lo que se conserva son los textos, los estados y las decisiones.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Misma pantalla, dos momentos</a:t>
            </a:r>
            <a:endParaRPr lang="en-US" sz="3000" dirty="0"/>
          </a:p>
        </p:txBody>
      </p:sp>
      <p:pic>
        <p:nvPicPr>
          <p:cNvPr id="4" name="Image 0" descr="Wireframe B de la Fase 1">    </p:cNvPr>
          <p:cNvPicPr>
            <a:picLocks noChangeAspect="1"/>
          </p:cNvPicPr>
          <p:nvPr/>
        </p:nvPicPr>
        <p:blipFill>
          <a:blip r:embed="rId1"/>
          <a:stretch>
            <a:fillRect/>
          </a:stretch>
        </p:blipFill>
        <p:spPr>
          <a:xfrm>
            <a:off x="636471" y="1188720"/>
            <a:ext cx="3573379" cy="3017520"/>
          </a:xfrm>
          <a:prstGeom prst="rect">
            <a:avLst/>
          </a:prstGeom>
        </p:spPr>
      </p:pic>
      <p:pic>
        <p:nvPicPr>
          <p:cNvPr id="5" name="Image 1" descr="Pantalla de borradores del prototipo v1">    </p:cNvPr>
          <p:cNvPicPr>
            <a:picLocks noChangeAspect="1"/>
          </p:cNvPicPr>
          <p:nvPr/>
        </p:nvPicPr>
        <p:blipFill>
          <a:blip r:embed="rId2"/>
          <a:stretch>
            <a:fillRect/>
          </a:stretch>
        </p:blipFill>
        <p:spPr>
          <a:xfrm>
            <a:off x="5071640" y="1188720"/>
            <a:ext cx="3298399" cy="3017520"/>
          </a:xfrm>
          <a:prstGeom prst="rect">
            <a:avLst/>
          </a:prstGeom>
        </p:spPr>
      </p:pic>
      <p:sp>
        <p:nvSpPr>
          <p:cNvPr id="6" name="Text 1"/>
          <p:cNvSpPr txBox="1"/>
          <p:nvPr/>
        </p:nvSpPr>
        <p:spPr>
          <a:xfrm>
            <a:off x="457200" y="4251960"/>
            <a:ext cx="3931920" cy="274320"/>
          </a:xfrm>
          <a:prstGeom prst="rect">
            <a:avLst/>
          </a:prstGeom>
          <a:noFill/>
          <a:ln/>
        </p:spPr>
        <p:txBody>
          <a:bodyPr wrap="square" lIns="0" tIns="0" rIns="0" bIns="0" rtlCol="0" anchor="ctr"/>
          <a:lstStyle/>
          <a:p>
            <a:pPr algn="ctr" indent="0" marL="0">
              <a:buNone/>
            </a:pPr>
            <a:r>
              <a:rPr lang="en-US" sz="1200" dirty="0">
                <a:solidFill>
                  <a:schemeClr val="accent6"/>
                </a:solidFill>
              </a:rPr>
              <a:t>Fase 1 · wireframe lo-fi</a:t>
            </a:r>
            <a:endParaRPr lang="en-US" sz="1200" dirty="0"/>
          </a:p>
        </p:txBody>
      </p:sp>
      <p:sp>
        <p:nvSpPr>
          <p:cNvPr id="7" name="Text 2"/>
          <p:cNvSpPr txBox="1"/>
          <p:nvPr/>
        </p:nvSpPr>
        <p:spPr>
          <a:xfrm>
            <a:off x="4754880" y="4251960"/>
            <a:ext cx="3931920" cy="274320"/>
          </a:xfrm>
          <a:prstGeom prst="rect">
            <a:avLst/>
          </a:prstGeom>
          <a:noFill/>
          <a:ln/>
        </p:spPr>
        <p:txBody>
          <a:bodyPr wrap="square" lIns="0" tIns="0" rIns="0" bIns="0" rtlCol="0" anchor="ctr"/>
          <a:lstStyle/>
          <a:p>
            <a:pPr algn="ctr" indent="0" marL="0">
              <a:buNone/>
            </a:pPr>
            <a:r>
              <a:rPr lang="en-US" sz="1200" dirty="0">
                <a:solidFill>
                  <a:schemeClr val="accent6"/>
                </a:solidFill>
              </a:rPr>
              <a:t>Fase 2 · prototipo navegable v1</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Lo que decidimos para nuestro caso</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2194560"/>
                <a:gridCol w="3840480"/>
              </a:tblGrid>
              <a:tr h="502920">
                <a:tc>
                  <a:txBody>
                    <a:bodyPr/>
                    <a:lstStyle/>
                    <a:p>
                      <a:pPr indent="0" marL="0">
                        <a:buNone/>
                      </a:pPr>
                      <a:r>
                        <a:rPr lang="en-US" sz="1400" b="1" dirty="0">
                          <a:solidFill>
                            <a:schemeClr val="bg1"/>
                          </a:solidFill>
                        </a:rPr>
                        <a:t>Decisión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Elección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Por qué</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Alcance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Vertical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Probar un flujo completo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Fidelidad visual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Alta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Usa los colores de la app real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Interacción</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Alta en el flujo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Hay estados reales y errores</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Vida útil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Desechable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La IA es simulada</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2"/>
                    </a:solidFill>
                  </a:tcPr>
                </a:tc>
              </a:tr>
              <a:tr h="502920">
                <a:tc>
                  <a:txBody>
                    <a:bodyPr/>
                    <a:lstStyle/>
                    <a:p>
                      <a:pPr indent="0" marL="0">
                        <a:buNone/>
                      </a:pPr>
                      <a:r>
                        <a:rPr lang="en-US" sz="1400" dirty="0">
                          <a:solidFill>
                            <a:schemeClr val="tx1"/>
                          </a:solidFill>
                        </a:rPr>
                        <a:t>Formato</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HTML</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 versiona y se comparte por enlace</a:t>
                      </a:r>
                      <a:endParaRPr lang="en-US" sz="1400" dirty="0"/>
                    </a:p>
                  </a:txBody>
                  <a:tcPr marL="73152" marR="73152" marT="36576" marB="36576" anchor="ctr">
                    <a:lnL w="6350" cap="flat" cmpd="sng" algn="ctr">
                      <a:solidFill>
                        <a:srgbClr val="C9D2E3"/>
                      </a:solidFill>
                      <a:prstDash val="solid"/>
                      <a:round/>
                      <a:headEnd type="none" w="med" len="med"/>
                      <a:tailEnd type="none" w="med" len="med"/>
                    </a:lnL>
                    <a:lnR w="6350" cap="flat" cmpd="sng" algn="ctr">
                      <a:solidFill>
                        <a:srgbClr val="C9D2E3"/>
                      </a:solidFill>
                      <a:prstDash val="solid"/>
                      <a:round/>
                      <a:headEnd type="none" w="med" len="med"/>
                      <a:tailEnd type="none" w="med" len="med"/>
                    </a:lnR>
                    <a:lnT w="6350" cap="flat" cmpd="sng" algn="ctr">
                      <a:solidFill>
                        <a:srgbClr val="C9D2E3"/>
                      </a:solidFill>
                      <a:prstDash val="solid"/>
                      <a:round/>
                      <a:headEnd type="none" w="med" len="med"/>
                      <a:tailEnd type="none" w="med" len="med"/>
                    </a:lnT>
                    <a:lnB w="6350" cap="flat" cmpd="sng" algn="ctr">
                      <a:solidFill>
                        <a:srgbClr val="C9D2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Errores comunes al prototipar</a:t>
            </a:r>
            <a:endParaRPr lang="en-US" sz="3000" dirty="0"/>
          </a:p>
        </p:txBody>
      </p:sp>
      <p:sp>
        <p:nvSpPr>
          <p:cNvPr id="4" name="Shape 1"/>
          <p:cNvSpPr/>
          <p:nvPr/>
        </p:nvSpPr>
        <p:spPr>
          <a:xfrm>
            <a:off x="457200" y="1188720"/>
            <a:ext cx="4023360" cy="1508760"/>
          </a:xfrm>
          <a:prstGeom prst="roundRect">
            <a:avLst>
              <a:gd name="adj" fmla="val 4848"/>
            </a:avLst>
          </a:prstGeom>
          <a:solidFill>
            <a:schemeClr val="bg2"/>
          </a:solidFill>
          <a:ln w="12700">
            <a:solidFill>
              <a:schemeClr val="bg2"/>
            </a:solidFill>
            <a:prstDash val="solid"/>
          </a:ln>
        </p:spPr>
      </p:sp>
      <p:sp>
        <p:nvSpPr>
          <p:cNvPr id="5" name="Shape 2"/>
          <p:cNvSpPr/>
          <p:nvPr/>
        </p:nvSpPr>
        <p:spPr>
          <a:xfrm>
            <a:off x="640080" y="1371600"/>
            <a:ext cx="457200" cy="457200"/>
          </a:xfrm>
          <a:prstGeom prst="ellipse">
            <a:avLst/>
          </a:prstGeom>
          <a:solidFill>
            <a:schemeClr val="accent4"/>
          </a:solidFill>
          <a:ln w="12700">
            <a:solidFill>
              <a:schemeClr val="accent4"/>
            </a:solidFill>
            <a:prstDash val="solid"/>
          </a:ln>
        </p:spPr>
      </p:sp>
      <p:pic>
        <p:nvPicPr>
          <p:cNvPr id="6" name="Image 0" descr="preencoded.png">    </p:cNvPr>
          <p:cNvPicPr>
            <a:picLocks noChangeAspect="1"/>
          </p:cNvPicPr>
          <p:nvPr/>
        </p:nvPicPr>
        <p:blipFill>
          <a:blip r:embed="rId1"/>
          <a:stretch>
            <a:fillRect/>
          </a:stretch>
        </p:blipFill>
        <p:spPr>
          <a:xfrm>
            <a:off x="740664" y="1472184"/>
            <a:ext cx="256032" cy="256032"/>
          </a:xfrm>
          <a:prstGeom prst="rect">
            <a:avLst/>
          </a:prstGeom>
        </p:spPr>
      </p:pic>
      <p:sp>
        <p:nvSpPr>
          <p:cNvPr id="7" name="Text 3"/>
          <p:cNvSpPr txBox="1"/>
          <p:nvPr/>
        </p:nvSpPr>
        <p:spPr>
          <a:xfrm>
            <a:off x="123444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Sin pregunta</a:t>
            </a:r>
            <a:endParaRPr lang="en-US" sz="1600" dirty="0"/>
          </a:p>
        </p:txBody>
      </p:sp>
      <p:sp>
        <p:nvSpPr>
          <p:cNvPr id="8" name="Text 4"/>
          <p:cNvSpPr txBox="1"/>
          <p:nvPr/>
        </p:nvSpPr>
        <p:spPr>
          <a:xfrm>
            <a:off x="640080" y="1965960"/>
            <a:ext cx="3657600" cy="594360"/>
          </a:xfrm>
          <a:prstGeom prst="rect">
            <a:avLst/>
          </a:prstGeom>
          <a:noFill/>
          <a:ln/>
        </p:spPr>
        <p:txBody>
          <a:bodyPr wrap="square" lIns="0" tIns="0" rIns="0" bIns="0" rtlCol="0" anchor="t"/>
          <a:lstStyle/>
          <a:p>
            <a:pPr indent="0" marL="0">
              <a:buNone/>
            </a:pPr>
            <a:r>
              <a:rPr lang="en-US" sz="1400" dirty="0">
                <a:solidFill>
                  <a:schemeClr val="tx1"/>
                </a:solidFill>
              </a:rPr>
              <a:t>Prototipar sin saber qué quieres aprender</a:t>
            </a:r>
            <a:endParaRPr lang="en-US" sz="1400" dirty="0"/>
          </a:p>
        </p:txBody>
      </p:sp>
      <p:sp>
        <p:nvSpPr>
          <p:cNvPr id="9" name="Shape 5"/>
          <p:cNvSpPr/>
          <p:nvPr/>
        </p:nvSpPr>
        <p:spPr>
          <a:xfrm>
            <a:off x="4663440" y="1188720"/>
            <a:ext cx="4023360" cy="1508760"/>
          </a:xfrm>
          <a:prstGeom prst="roundRect">
            <a:avLst>
              <a:gd name="adj" fmla="val 4848"/>
            </a:avLst>
          </a:prstGeom>
          <a:solidFill>
            <a:schemeClr val="bg2"/>
          </a:solidFill>
          <a:ln w="12700">
            <a:solidFill>
              <a:schemeClr val="bg2"/>
            </a:solidFill>
            <a:prstDash val="solid"/>
          </a:ln>
        </p:spPr>
      </p:sp>
      <p:sp>
        <p:nvSpPr>
          <p:cNvPr id="10" name="Shape 6"/>
          <p:cNvSpPr/>
          <p:nvPr/>
        </p:nvSpPr>
        <p:spPr>
          <a:xfrm>
            <a:off x="4846320" y="1371600"/>
            <a:ext cx="457200" cy="457200"/>
          </a:xfrm>
          <a:prstGeom prst="ellipse">
            <a:avLst/>
          </a:prstGeom>
          <a:solidFill>
            <a:schemeClr val="accent5"/>
          </a:solidFill>
          <a:ln w="12700">
            <a:solidFill>
              <a:schemeClr val="accent5"/>
            </a:solidFill>
            <a:prstDash val="solid"/>
          </a:ln>
        </p:spPr>
      </p:sp>
      <p:pic>
        <p:nvPicPr>
          <p:cNvPr id="11" name="Image 1" descr="preencoded.png">    </p:cNvPr>
          <p:cNvPicPr>
            <a:picLocks noChangeAspect="1"/>
          </p:cNvPicPr>
          <p:nvPr/>
        </p:nvPicPr>
        <p:blipFill>
          <a:blip r:embed="rId2"/>
          <a:stretch>
            <a:fillRect/>
          </a:stretch>
        </p:blipFill>
        <p:spPr>
          <a:xfrm>
            <a:off x="4946904" y="1472184"/>
            <a:ext cx="256032" cy="256032"/>
          </a:xfrm>
          <a:prstGeom prst="rect">
            <a:avLst/>
          </a:prstGeom>
        </p:spPr>
      </p:pic>
      <p:sp>
        <p:nvSpPr>
          <p:cNvPr id="12" name="Text 7"/>
          <p:cNvSpPr txBox="1"/>
          <p:nvPr/>
        </p:nvSpPr>
        <p:spPr>
          <a:xfrm>
            <a:off x="5440680" y="132588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Pulir demasiado</a:t>
            </a:r>
            <a:endParaRPr lang="en-US" sz="1600" dirty="0"/>
          </a:p>
        </p:txBody>
      </p:sp>
      <p:sp>
        <p:nvSpPr>
          <p:cNvPr id="13" name="Text 8"/>
          <p:cNvSpPr txBox="1"/>
          <p:nvPr/>
        </p:nvSpPr>
        <p:spPr>
          <a:xfrm>
            <a:off x="4846320" y="1965960"/>
            <a:ext cx="3657600" cy="594360"/>
          </a:xfrm>
          <a:prstGeom prst="rect">
            <a:avLst/>
          </a:prstGeom>
          <a:noFill/>
          <a:ln/>
        </p:spPr>
        <p:txBody>
          <a:bodyPr wrap="square" lIns="0" tIns="0" rIns="0" bIns="0" rtlCol="0" anchor="t"/>
          <a:lstStyle/>
          <a:p>
            <a:pPr indent="0" marL="0">
              <a:buNone/>
            </a:pPr>
            <a:r>
              <a:rPr lang="en-US" sz="1400" dirty="0">
                <a:solidFill>
                  <a:schemeClr val="tx1"/>
                </a:solidFill>
              </a:rPr>
              <a:t>Gastar días en detalles antes de probar</a:t>
            </a:r>
            <a:endParaRPr lang="en-US" sz="1400" dirty="0"/>
          </a:p>
        </p:txBody>
      </p:sp>
      <p:sp>
        <p:nvSpPr>
          <p:cNvPr id="14" name="Shape 9"/>
          <p:cNvSpPr/>
          <p:nvPr/>
        </p:nvSpPr>
        <p:spPr>
          <a:xfrm>
            <a:off x="457200" y="2834640"/>
            <a:ext cx="4023360" cy="1508760"/>
          </a:xfrm>
          <a:prstGeom prst="roundRect">
            <a:avLst>
              <a:gd name="adj" fmla="val 4848"/>
            </a:avLst>
          </a:prstGeom>
          <a:solidFill>
            <a:schemeClr val="bg2"/>
          </a:solidFill>
          <a:ln w="12700">
            <a:solidFill>
              <a:schemeClr val="bg2"/>
            </a:solidFill>
            <a:prstDash val="solid"/>
          </a:ln>
        </p:spPr>
      </p:sp>
      <p:sp>
        <p:nvSpPr>
          <p:cNvPr id="15" name="Shape 10"/>
          <p:cNvSpPr/>
          <p:nvPr/>
        </p:nvSpPr>
        <p:spPr>
          <a:xfrm>
            <a:off x="640080" y="3017520"/>
            <a:ext cx="457200" cy="457200"/>
          </a:xfrm>
          <a:prstGeom prst="ellipse">
            <a:avLst/>
          </a:prstGeom>
          <a:solidFill>
            <a:schemeClr val="accent2"/>
          </a:solidFill>
          <a:ln w="12700">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740664" y="3118104"/>
            <a:ext cx="256032" cy="256032"/>
          </a:xfrm>
          <a:prstGeom prst="rect">
            <a:avLst/>
          </a:prstGeom>
        </p:spPr>
      </p:pic>
      <p:sp>
        <p:nvSpPr>
          <p:cNvPr id="17" name="Text 11"/>
          <p:cNvSpPr txBox="1"/>
          <p:nvPr/>
        </p:nvSpPr>
        <p:spPr>
          <a:xfrm>
            <a:off x="1234440" y="29718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Confundirlo con producto</a:t>
            </a:r>
            <a:endParaRPr lang="en-US" sz="1600" dirty="0"/>
          </a:p>
        </p:txBody>
      </p:sp>
      <p:sp>
        <p:nvSpPr>
          <p:cNvPr id="18" name="Text 12"/>
          <p:cNvSpPr txBox="1"/>
          <p:nvPr/>
        </p:nvSpPr>
        <p:spPr>
          <a:xfrm>
            <a:off x="640080" y="3611880"/>
            <a:ext cx="3657600" cy="594360"/>
          </a:xfrm>
          <a:prstGeom prst="rect">
            <a:avLst/>
          </a:prstGeom>
          <a:noFill/>
          <a:ln/>
        </p:spPr>
        <p:txBody>
          <a:bodyPr wrap="square" lIns="0" tIns="0" rIns="0" bIns="0" rtlCol="0" anchor="t"/>
          <a:lstStyle/>
          <a:p>
            <a:pPr indent="0" marL="0">
              <a:buNone/>
            </a:pPr>
            <a:r>
              <a:rPr lang="en-US" sz="1400" dirty="0">
                <a:solidFill>
                  <a:schemeClr val="tx1"/>
                </a:solidFill>
              </a:rPr>
              <a:t>Creer que ya está listo para usarse</a:t>
            </a:r>
            <a:endParaRPr lang="en-US" sz="1400" dirty="0"/>
          </a:p>
        </p:txBody>
      </p:sp>
      <p:sp>
        <p:nvSpPr>
          <p:cNvPr id="19" name="Shape 13"/>
          <p:cNvSpPr/>
          <p:nvPr/>
        </p:nvSpPr>
        <p:spPr>
          <a:xfrm>
            <a:off x="4663440" y="2834640"/>
            <a:ext cx="4023360" cy="1508760"/>
          </a:xfrm>
          <a:prstGeom prst="roundRect">
            <a:avLst>
              <a:gd name="adj" fmla="val 4848"/>
            </a:avLst>
          </a:prstGeom>
          <a:solidFill>
            <a:schemeClr val="bg2"/>
          </a:solidFill>
          <a:ln w="12700">
            <a:solidFill>
              <a:schemeClr val="bg2"/>
            </a:solidFill>
            <a:prstDash val="solid"/>
          </a:ln>
        </p:spPr>
      </p:sp>
      <p:sp>
        <p:nvSpPr>
          <p:cNvPr id="20" name="Shape 14"/>
          <p:cNvSpPr/>
          <p:nvPr/>
        </p:nvSpPr>
        <p:spPr>
          <a:xfrm>
            <a:off x="4846320" y="3017520"/>
            <a:ext cx="457200" cy="457200"/>
          </a:xfrm>
          <a:prstGeom prst="ellipse">
            <a:avLst/>
          </a:prstGeom>
          <a:solidFill>
            <a:schemeClr val="accent6"/>
          </a:solidFill>
          <a:ln w="12700">
            <a:solidFill>
              <a:schemeClr val="accent6"/>
            </a:solidFill>
            <a:prstDash val="solid"/>
          </a:ln>
        </p:spPr>
      </p:sp>
      <p:pic>
        <p:nvPicPr>
          <p:cNvPr id="21" name="Image 3" descr="preencoded.png">    </p:cNvPr>
          <p:cNvPicPr>
            <a:picLocks noChangeAspect="1"/>
          </p:cNvPicPr>
          <p:nvPr/>
        </p:nvPicPr>
        <p:blipFill>
          <a:blip r:embed="rId4"/>
          <a:stretch>
            <a:fillRect/>
          </a:stretch>
        </p:blipFill>
        <p:spPr>
          <a:xfrm>
            <a:off x="4946904" y="3118104"/>
            <a:ext cx="256032" cy="256032"/>
          </a:xfrm>
          <a:prstGeom prst="rect">
            <a:avLst/>
          </a:prstGeom>
        </p:spPr>
      </p:pic>
      <p:sp>
        <p:nvSpPr>
          <p:cNvPr id="22" name="Text 15"/>
          <p:cNvSpPr txBox="1"/>
          <p:nvPr/>
        </p:nvSpPr>
        <p:spPr>
          <a:xfrm>
            <a:off x="5440680" y="2971800"/>
            <a:ext cx="3063240" cy="548640"/>
          </a:xfrm>
          <a:prstGeom prst="rect">
            <a:avLst/>
          </a:prstGeom>
          <a:noFill/>
          <a:ln/>
        </p:spPr>
        <p:txBody>
          <a:bodyPr wrap="square" lIns="0" tIns="0" rIns="0" bIns="0" rtlCol="0" anchor="ctr"/>
          <a:lstStyle/>
          <a:p>
            <a:pPr indent="0" marL="0">
              <a:buNone/>
            </a:pPr>
            <a:r>
              <a:rPr lang="en-US" sz="1600" b="1" dirty="0">
                <a:solidFill>
                  <a:schemeClr val="tx2"/>
                </a:solidFill>
              </a:rPr>
              <a:t>Probar tarde</a:t>
            </a:r>
            <a:endParaRPr lang="en-US" sz="1600" dirty="0"/>
          </a:p>
        </p:txBody>
      </p:sp>
      <p:sp>
        <p:nvSpPr>
          <p:cNvPr id="23" name="Text 16"/>
          <p:cNvSpPr txBox="1"/>
          <p:nvPr/>
        </p:nvSpPr>
        <p:spPr>
          <a:xfrm>
            <a:off x="4846320" y="3611880"/>
            <a:ext cx="3657600" cy="594360"/>
          </a:xfrm>
          <a:prstGeom prst="rect">
            <a:avLst/>
          </a:prstGeom>
          <a:noFill/>
          <a:ln/>
        </p:spPr>
        <p:txBody>
          <a:bodyPr wrap="square" lIns="0" tIns="0" rIns="0" bIns="0" rtlCol="0" anchor="t"/>
          <a:lstStyle/>
          <a:p>
            <a:pPr indent="0" marL="0">
              <a:buNone/>
            </a:pPr>
            <a:r>
              <a:rPr lang="en-US" sz="1400" dirty="0">
                <a:solidFill>
                  <a:schemeClr val="tx1"/>
                </a:solidFill>
              </a:rPr>
              <a:t>Dejar la prueba para el final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Para llevarse</a:t>
            </a:r>
            <a:endParaRPr lang="en-US" sz="3000" dirty="0"/>
          </a:p>
        </p:txBody>
      </p:sp>
      <p:sp>
        <p:nvSpPr>
          <p:cNvPr id="4" name="Shape 1"/>
          <p:cNvSpPr/>
          <p:nvPr/>
        </p:nvSpPr>
        <p:spPr>
          <a:xfrm>
            <a:off x="457200" y="1188720"/>
            <a:ext cx="4023360" cy="1554480"/>
          </a:xfrm>
          <a:prstGeom prst="roundRect">
            <a:avLst>
              <a:gd name="adj" fmla="val 4706"/>
            </a:avLst>
          </a:prstGeom>
          <a:solidFill>
            <a:schemeClr val="bg2"/>
          </a:solidFill>
          <a:ln w="12700">
            <a:solidFill>
              <a:schemeClr val="bg2"/>
            </a:solidFill>
            <a:prstDash val="solid"/>
          </a:ln>
        </p:spPr>
      </p:sp>
      <p:sp>
        <p:nvSpPr>
          <p:cNvPr id="5" name="Shape 2"/>
          <p:cNvSpPr/>
          <p:nvPr/>
        </p:nvSpPr>
        <p:spPr>
          <a:xfrm>
            <a:off x="640080" y="1600200"/>
            <a:ext cx="731520" cy="731520"/>
          </a:xfrm>
          <a:prstGeom prst="ellipse">
            <a:avLst/>
          </a:prstGeom>
          <a:solidFill>
            <a:schemeClr val="accent2"/>
          </a:solidFill>
          <a:ln w="12700">
            <a:solidFill>
              <a:schemeClr val="accent2"/>
            </a:solidFill>
            <a:prstDash val="solid"/>
          </a:ln>
        </p:spPr>
      </p:sp>
      <p:sp>
        <p:nvSpPr>
          <p:cNvPr id="6" name="Text 3"/>
          <p:cNvSpPr txBox="1"/>
          <p:nvPr/>
        </p:nvSpPr>
        <p:spPr>
          <a:xfrm>
            <a:off x="64008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7" name="Text 4"/>
          <p:cNvSpPr txBox="1"/>
          <p:nvPr/>
        </p:nvSpPr>
        <p:spPr>
          <a:xfrm>
            <a:off x="155448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Un prototipo sirve para aprender, no para entregar.</a:t>
            </a:r>
            <a:endParaRPr lang="en-US" sz="1600" dirty="0"/>
          </a:p>
        </p:txBody>
      </p:sp>
      <p:sp>
        <p:nvSpPr>
          <p:cNvPr id="8" name="Shape 5"/>
          <p:cNvSpPr/>
          <p:nvPr/>
        </p:nvSpPr>
        <p:spPr>
          <a:xfrm>
            <a:off x="4663440" y="1188720"/>
            <a:ext cx="4023360" cy="1554480"/>
          </a:xfrm>
          <a:prstGeom prst="roundRect">
            <a:avLst>
              <a:gd name="adj" fmla="val 4706"/>
            </a:avLst>
          </a:prstGeom>
          <a:solidFill>
            <a:schemeClr val="bg2"/>
          </a:solidFill>
          <a:ln w="12700">
            <a:solidFill>
              <a:schemeClr val="bg2"/>
            </a:solidFill>
            <a:prstDash val="solid"/>
          </a:ln>
        </p:spPr>
      </p:sp>
      <p:sp>
        <p:nvSpPr>
          <p:cNvPr id="9" name="Shape 6"/>
          <p:cNvSpPr/>
          <p:nvPr/>
        </p:nvSpPr>
        <p:spPr>
          <a:xfrm>
            <a:off x="4846320" y="1600200"/>
            <a:ext cx="731520" cy="731520"/>
          </a:xfrm>
          <a:prstGeom prst="ellipse">
            <a:avLst/>
          </a:prstGeom>
          <a:solidFill>
            <a:schemeClr val="accent1"/>
          </a:solidFill>
          <a:ln w="12700">
            <a:solidFill>
              <a:schemeClr val="accent1"/>
            </a:solidFill>
            <a:prstDash val="solid"/>
          </a:ln>
        </p:spPr>
      </p:sp>
      <p:sp>
        <p:nvSpPr>
          <p:cNvPr id="10" name="Text 7"/>
          <p:cNvSpPr txBox="1"/>
          <p:nvPr/>
        </p:nvSpPr>
        <p:spPr>
          <a:xfrm>
            <a:off x="4846320" y="160020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1" name="Text 8"/>
          <p:cNvSpPr txBox="1"/>
          <p:nvPr/>
        </p:nvSpPr>
        <p:spPr>
          <a:xfrm>
            <a:off x="5760720" y="1325880"/>
            <a:ext cx="2743200" cy="1280160"/>
          </a:xfrm>
          <a:prstGeom prst="rect">
            <a:avLst/>
          </a:prstGeom>
          <a:noFill/>
          <a:ln/>
        </p:spPr>
        <p:txBody>
          <a:bodyPr wrap="square" lIns="0" tIns="0" rIns="0" bIns="0" rtlCol="0" anchor="ctr"/>
          <a:lstStyle/>
          <a:p>
            <a:pPr indent="0" marL="0">
              <a:buNone/>
            </a:pPr>
            <a:r>
              <a:rPr lang="en-US" sz="1600" dirty="0">
                <a:solidFill>
                  <a:schemeClr val="tx1"/>
                </a:solidFill>
              </a:rPr>
              <a:t>La fidelidad se elige por eje: visual, contenido e interacción.</a:t>
            </a:r>
            <a:endParaRPr lang="en-US" sz="1600" dirty="0"/>
          </a:p>
        </p:txBody>
      </p:sp>
      <p:sp>
        <p:nvSpPr>
          <p:cNvPr id="12" name="Shape 9"/>
          <p:cNvSpPr/>
          <p:nvPr/>
        </p:nvSpPr>
        <p:spPr>
          <a:xfrm>
            <a:off x="457200" y="2880360"/>
            <a:ext cx="4023360" cy="1554480"/>
          </a:xfrm>
          <a:prstGeom prst="roundRect">
            <a:avLst>
              <a:gd name="adj" fmla="val 4706"/>
            </a:avLst>
          </a:prstGeom>
          <a:solidFill>
            <a:schemeClr val="bg2"/>
          </a:solidFill>
          <a:ln w="12700">
            <a:solidFill>
              <a:schemeClr val="bg2"/>
            </a:solidFill>
            <a:prstDash val="solid"/>
          </a:ln>
        </p:spPr>
      </p:sp>
      <p:sp>
        <p:nvSpPr>
          <p:cNvPr id="13" name="Shape 10"/>
          <p:cNvSpPr/>
          <p:nvPr/>
        </p:nvSpPr>
        <p:spPr>
          <a:xfrm>
            <a:off x="640080" y="3291840"/>
            <a:ext cx="731520" cy="731520"/>
          </a:xfrm>
          <a:prstGeom prst="ellipse">
            <a:avLst/>
          </a:prstGeom>
          <a:solidFill>
            <a:schemeClr val="accent3"/>
          </a:solidFill>
          <a:ln w="12700">
            <a:solidFill>
              <a:schemeClr val="accent3"/>
            </a:solidFill>
            <a:prstDash val="solid"/>
          </a:ln>
        </p:spPr>
      </p:sp>
      <p:sp>
        <p:nvSpPr>
          <p:cNvPr id="14" name="Text 11"/>
          <p:cNvSpPr txBox="1"/>
          <p:nvPr/>
        </p:nvSpPr>
        <p:spPr>
          <a:xfrm>
            <a:off x="64008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5" name="Text 12"/>
          <p:cNvSpPr txBox="1"/>
          <p:nvPr/>
        </p:nvSpPr>
        <p:spPr>
          <a:xfrm>
            <a:off x="155448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Horizontal para ver alcance, vertical para probar uso.</a:t>
            </a:r>
            <a:endParaRPr lang="en-US" sz="1600" dirty="0"/>
          </a:p>
        </p:txBody>
      </p:sp>
      <p:sp>
        <p:nvSpPr>
          <p:cNvPr id="16" name="Shape 13"/>
          <p:cNvSpPr/>
          <p:nvPr/>
        </p:nvSpPr>
        <p:spPr>
          <a:xfrm>
            <a:off x="4663440" y="2880360"/>
            <a:ext cx="4023360" cy="1554480"/>
          </a:xfrm>
          <a:prstGeom prst="roundRect">
            <a:avLst>
              <a:gd name="adj" fmla="val 4706"/>
            </a:avLst>
          </a:prstGeom>
          <a:solidFill>
            <a:schemeClr val="bg2"/>
          </a:solidFill>
          <a:ln w="12700">
            <a:solidFill>
              <a:schemeClr val="bg2"/>
            </a:solidFill>
            <a:prstDash val="solid"/>
          </a:ln>
        </p:spPr>
      </p:sp>
      <p:sp>
        <p:nvSpPr>
          <p:cNvPr id="17" name="Shape 14"/>
          <p:cNvSpPr/>
          <p:nvPr/>
        </p:nvSpPr>
        <p:spPr>
          <a:xfrm>
            <a:off x="4846320" y="3291840"/>
            <a:ext cx="731520" cy="731520"/>
          </a:xfrm>
          <a:prstGeom prst="ellipse">
            <a:avLst/>
          </a:prstGeom>
          <a:solidFill>
            <a:schemeClr val="accent5"/>
          </a:solidFill>
          <a:ln w="12700">
            <a:solidFill>
              <a:schemeClr val="accent5"/>
            </a:solidFill>
            <a:prstDash val="solid"/>
          </a:ln>
        </p:spPr>
      </p:sp>
      <p:sp>
        <p:nvSpPr>
          <p:cNvPr id="18" name="Text 15"/>
          <p:cNvSpPr txBox="1"/>
          <p:nvPr/>
        </p:nvSpPr>
        <p:spPr>
          <a:xfrm>
            <a:off x="4846320" y="329184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9" name="Text 16"/>
          <p:cNvSpPr txBox="1"/>
          <p:nvPr/>
        </p:nvSpPr>
        <p:spPr>
          <a:xfrm>
            <a:off x="5760720" y="3017520"/>
            <a:ext cx="2743200" cy="1280160"/>
          </a:xfrm>
          <a:prstGeom prst="rect">
            <a:avLst/>
          </a:prstGeom>
          <a:noFill/>
          <a:ln/>
        </p:spPr>
        <p:txBody>
          <a:bodyPr wrap="square" lIns="0" tIns="0" rIns="0" bIns="0" rtlCol="0" anchor="ctr"/>
          <a:lstStyle/>
          <a:p>
            <a:pPr indent="0" marL="0">
              <a:buNone/>
            </a:pPr>
            <a:r>
              <a:rPr lang="en-US" sz="1600" dirty="0">
                <a:solidFill>
                  <a:schemeClr val="tx1"/>
                </a:solidFill>
              </a:rPr>
              <a:t>Siguiente: ¿con qué técnica y herramienta lo hacemos?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Prototipado G3">
  <a:themeElements>
    <a:clrScheme name="Prototipado G3">
      <a:dk1>
        <a:srgbClr val="0F1B33"/>
      </a:dk1>
      <a:lt1>
        <a:srgbClr val="FFFFFF"/>
      </a:lt1>
      <a:dk2>
        <a:srgbClr val="1F3864"/>
      </a:dk2>
      <a:lt2>
        <a:srgbClr val="EEF2FA"/>
      </a:lt2>
      <a:accent1>
        <a:srgbClr val="F26B1D"/>
      </a:accent1>
      <a:accent2>
        <a:srgbClr val="2563EB"/>
      </a:accent2>
      <a:accent3>
        <a:srgbClr val="15803D"/>
      </a:accent3>
      <a:accent4>
        <a:srgbClr val="B91C1C"/>
      </a:accent4>
      <a:accent5>
        <a:srgbClr val="B45309"/>
      </a:accent5>
      <a:accent6>
        <a:srgbClr val="5B6B8C"/>
      </a:accent6>
      <a:hlink>
        <a:srgbClr val="2563EB"/>
      </a:hlink>
      <a:folHlink>
        <a:srgbClr val="5B6B8C"/>
      </a:folHlink>
    </a:clrScheme>
    <a:fontScheme name="Prototipado G3">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Grupo 3 · IHC · UTA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Bloque 1 · Fundamentos</dc:title>
  <dc:subject>PptxGenJS Presentation</dc:subject>
  <dc:creator>Eduardo Chicaiza</dc:creator>
  <cp:lastModifiedBy>Eduardo Chicaiza</cp:lastModifiedBy>
  <cp:revision>1</cp:revision>
  <dcterms:created xsi:type="dcterms:W3CDTF">2026-10-21T23:57:58Z</dcterms:created>
  <dcterms:modified xsi:type="dcterms:W3CDTF">2026-10-21T23:57:58Z</dcterms:modified>
</cp:coreProperties>
</file>