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9ae8d8c-6c2b-695e-7393-06174279a6bb}">
          <p14:sldIdLst>
            <p14:sldId id="256"/>
            <p14:sldId id="257"/>
            <p14:sldId id="258"/>
            <p14:sldId id="259"/>
          </p14:sldIdLst>
        </p14:section>
        <p14:section name="Bloque 1 · Fundamentos" id="{bc142c11-c062-b8a6-de76-57d104d142e7}">
          <p14:sldIdLst>
            <p14:sldId id="260"/>
            <p14:sldId id="261"/>
            <p14:sldId id="262"/>
            <p14:sldId id="263"/>
            <p14:sldId id="264"/>
            <p14:sldId id="265"/>
            <p14:sldId id="266"/>
            <p14:sldId id="267"/>
            <p14:sldId id="268"/>
            <p14:sldId id="269"/>
            <p14:sldId id="270"/>
            <p14:sldId id="271"/>
          </p14:sldIdLst>
        </p14:section>
        <p14:section name="Bloque 2 · Técnicas y herramientas" id="{817b4892-925c-4e02-d63b-19f5c4f76569}">
          <p14:sldIdLst>
            <p14:sldId id="272"/>
            <p14:sldId id="273"/>
            <p14:sldId id="274"/>
            <p14:sldId id="275"/>
            <p14:sldId id="276"/>
            <p14:sldId id="277"/>
            <p14:sldId id="278"/>
            <p14:sldId id="279"/>
            <p14:sldId id="280"/>
            <p14:sldId id="281"/>
            <p14:sldId id="282"/>
            <p14:sldId id="283"/>
            <p14:sldId id="284"/>
          </p14:sldIdLst>
        </p14:section>
        <p14:section name="Bloque 3 · Del wireframe a la prueba" id="{44b71f68-c35a-1c07-f4e7-983acfcef8ef}">
          <p14:sldIdLst>
            <p14:sldId id="285"/>
            <p14:sldId id="286"/>
            <p14:sldId id="287"/>
            <p14:sldId id="288"/>
            <p14:sldId id="289"/>
            <p14:sldId id="290"/>
            <p14:sldId id="291"/>
            <p14:sldId id="292"/>
            <p14:sldId id="293"/>
            <p14:sldId id="294"/>
            <p14:sldId id="295"/>
            <p14:sldId id="296"/>
          </p14:sldIdLst>
        </p14:section>
        <p14:section name="Cierre" id="{37ddbbd1-ceee-b6c9-1868-97eec7518809}">
          <p14:sldIdLst>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Saluda, presenta al grupo y di el tema. Frase sugerida: hoy convertimos los wireframes que hicimos en la Fase 1 en algo que se puede clicar, y lo probamos con ustedes.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En la Fase 1 trabajamos en papel digital: requisitos, sitemap, navegación, user flow, componentes y dos wireframes del Asistente IA. En la Fase 2 damos el paso siguiente: prototipo, prueba y corrección. Es el mismo proyecto, el Usability Test Dashboard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Estas son las cuatro evidencias que pide el APE 4. Hoy mostramos la primera y arrancamos la segunda en vivo. El martes cerramos la tercera y la cuarta con datos reales de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Jueves son 50 minutos y martes otros 50, en total una hora cuarenta. Cada compañero expone en las dos sesiones y el Kahoot cierra cada día, uno por cada mitad.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 min. Presenta el bloque: qué es un prototipo, cuánto detalle darle y hasta dónde llegar. Son las decisiones previas a elegir cualquier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Un prototipo es una versión parcial y barata del producto. No es el producto: es una herramienta para aprender. Las tres preguntas de la derecha son las que casi siempre responde. Si no sabemos cuál queremos responder, todavía no es momento de prototipar.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La idea es sencilla: cuanto más tarde se descubre un problema, más cuesta arreglarlo. En papel o en un prototipo cambiar algo toma minutos. Con el sistema ya programado toma días. No damos números exactos porque dependen del equipo y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Se confunden mucho. El wireframe dice dónde va cada cosa. El mockup dice cómo se ve. El prototipo dice cómo se comporta. En nuestro proyecto tenemos los tres momentos: los wireframes de la Fase 1, el aspecto tomado de la app real y el prototipo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Fidelidad baja, media y alta. No hay uno mejor: depende de qué pregunta quieres responder. Un wireframe en papel responde bien si la estructura tiene sentido, pero no sirve para saber si un mensaje de error se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Un error común es pensar que alto detalle visual es igual a alta fidelidad. Son tres ejes distintos. Nuestro prototipo v1 tiene aspecto y contenido altos y, en interacción, es alto solo en el flujo del Asistente IA. El resto del menú son pantallas de aviso.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Horizontal es ancho y superficial: muestra muchas funciones sin profundidad. Vertical es estrecho y profundo: una función completa. Nosotros elegimos vertical porque el objetivo es probar el Asistente IA con todos sus estados, no el sistema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Desechable: se hace para aprender y luego se tira. Evolutivo: se va refinando hasta convertirse en el producto. Nuestro prototipo es desechable en la lógica, porque la IA es simulada, pero conservamos textos, estados y decisiones de diseño para el desarrollo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A la izquierda el wireframe B de la Fase 1: tarjetas de borrador con acciones. A la derecha, la misma pantalla en el prototipo. Cambian el aspecto y la capacidad de interactuar, pero la estructura es la que ya habíamos decidido y justificado.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Resumen de decisiones. Cada una responde a la pregunta de la prueba: ¿Ana puede generar, revisar, editar y exportar borradores, y se recupera si la IA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Estos cuatro errores son los que más se ven. El primero es el más importante: prototipar sin saber qué se quiere aprender.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Cierra con las tres ideas y pasa a Erick. Recuerda que las preguntas 1 a 4 del Kahoot salen de este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 min. Eduardo explicó qué prototipar y cuánto detalle. Ahora vemos cómo. Primero las técnicas, luego las herramientas y al final por qué elegimos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Estas cinco técnicas cubren casi todo. No son excluyentes: se pueden combinar. Vamos una por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 la técnica más rápida. Excelente al inicio. No sirve para probar estados como el cargando.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 lo que hacen Figma o Penpot cuando conectas pantallas. Útil para flujos, limitado para estados.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Muy relevante para nuestro tema porque la IA es la parte difícil de construir. Nosotros la simulamos con código, pero la idea es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Sirve para comunicar al equipo y al cliente por qué existe la función, antes de dibujar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 la técnica que escogimos. Cuesta más armarlo, pero las pruebas son más fieles.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Vista rápida. Las filas son criterios, no hay ganador absoluto. La clave es elegir según la pregunta de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No necesitas aprenderlas todas. Excalidraw y papel para bocetos. Balsamiq para wireframes de baja fidelidad. Figma y Penpot para diseño con conexiones entre pantallas. Axure para lógica condicional avanzada. HTML cuando necesitas comportamiento real. No mencionamos precios porque cambian.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Antes de abrir cualquier herramienta, responde estas cuatro preguntas. Si no puedes responder la primera, todavía no hay prototipo que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Respondimos las cuatro preguntas. Queremos saber si Ana se recupera de un fallo de la IA, y eso exige un estado de error real. Además queremos versionar con git y compartir con un enlace. Pagamos el costo de programarlo. Si el docente lo pide, el mismo flujo se puede re-crear en Figma.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Tres archivos sin dependencias. No necesita instalar nada: se abre con doble clic. La navegación es por hash, como #/asistente. La IA es una función que devuelve borradores según palabras clave, con una espera de unos dos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Cierra con las tres ideas y pasa a Juan. Las preguntas 5 a 7 del Kahoot salen de este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 min. Ya vimos qué es un prototipo y cómo se hace. Ahora mostramos el nuestro, cómo sale de la Fase 1 y cómo vamos a probarlo con ustedes.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La trazabilidad de la Fase 1 sigue viva. Cada requisito R1 a R6 se ve en algo que se puede tocar. Si algo del prototipo no responde a un requisito, sobra. Y si un requisito no se ve,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Las seis transiciones de la Fase 1 están implementadas. Un ajuste: en la Fase 1 Reintentar volvía a reposo. Al prototipar vimos que obligaba a reenviar a mano, y decidimos que Reintentar reenvíe el mismo texto. Es una decisión de diseño que anotamos y se prueba con la tarea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En la Fase 1 definimos los estados del botón Generar con IA. Aquí los vemos dibujados. El color base cambió de gris oscuro a azul marino porque tomamos los colores de la app real; es un ajuste anotado en nuestras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Nielsen describe tres límites de tiempo. Hasta 0,1 segundos se siente instantáneo. Hasta 1 segundo el usuario mantiene su hilo de pensamiento. Hasta 10 segundos mantiene la atención. Nuestra IA simulada tarda entre 1,8 y 2,6 segundos, así que mostramos spinner, texto de estado y botón para cancelar.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Abre el prototipo y recorre los seis pasos de la derecha sin saltarte el error. Para el error usa la dirección con ?fallo=una al final. Si no hay internet, abre index.html desde la carpeta del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El recorrido cognitivo evalúa si un usuario nuevo sabrá qué hacer en cada paso. Son cuatro preguntas que se hacen en cada acción de una tarea. Fueron propuestas por Wharton y colegas.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No necesitamos cientos de personas. Nielsen recomienda rondas pequeñas de unas cinco personas y repetir. Los participantes llevan código, P1, P2, y nunca se anota su nombre. Se pide permiso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Cada tarea cubre uno o más requisitos. El éxito se define antes de probar, no después. Así evitamos decidir según lo que salió.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El prototipo en modo observador guarda un CSV con participante, tarea, hora y tipo de evento. Cada problema se califica con la escala de severidad de Nielsen de 0 a 4. La prioridad combina severidad y cuántos participantes lo sufrieron.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Pide dos voluntarios. Uno hace T1 y T2 y otro T3 y T4, o los dos hacen todo si hay tiempo. El moderador lee la consigna, el observador abre el modo observador con F2 y marca Terminó o No pudo. Nadie ayuda al voluntario. Lo que salga es dato real para el martes.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Cierra y pasa a Mauricio para el Kahoot. Las preguntas 8 a 10 salen de este bloque. Anuncia que el martes se muestran los resultados de la prueba y la versión corregida.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8 min. Proyecta el Kahoot del jueves, 10 preguntas: 4 de Eduardo, 3 de Erick y 3 de Juan. Entre pregunta y pregunta, el expositor correspondiente explica en una frase por qué la respuesta es esa. Al final, avisa que el martes hay otro Kahoot con la segunda mitad.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3_TITULO">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6492240" y="-731520"/>
            <a:ext cx="3840480" cy="3840480"/>
          </a:xfrm>
          <a:prstGeom prst="rect">
            <a:avLst/>
          </a:prstGeom>
          <a:solidFill>
            <a:schemeClr val="tx2"/>
          </a:solidFill>
          <a:ln w="12700">
            <a:solidFill>
              <a:schemeClr val="tx2"/>
            </a:solidFill>
            <a:prstDash val="solid"/>
          </a:ln>
        </p:spPr>
      </p:sp>
      <p:sp>
        <p:nvSpPr>
          <p:cNvPr id="3" name="Shape 1"/>
          <p:cNvSpPr/>
          <p:nvPr/>
        </p:nvSpPr>
        <p:spPr>
          <a:xfrm>
            <a:off x="7589520" y="2926080"/>
            <a:ext cx="2743200" cy="2743200"/>
          </a:xfrm>
          <a:prstGeom prst="rect">
            <a:avLst/>
          </a:prstGeom>
          <a:solidFill>
            <a:schemeClr val="accent1"/>
          </a:solidFill>
          <a:ln w="12700">
            <a:solidFill>
              <a:schemeClr val="accent1"/>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3_CONTENID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Grupo 3 · IHC · APE 4 Fase 2 · Prototipado</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3.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3.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3.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88720"/>
            <a:ext cx="640080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Técnicas y herramientas de prototipado</a:t>
            </a:r>
            <a:endParaRPr lang="en-US" sz="4000" dirty="0"/>
          </a:p>
        </p:txBody>
      </p:sp>
      <p:sp>
        <p:nvSpPr>
          <p:cNvPr id="3" name="Text 1"/>
          <p:cNvSpPr txBox="1"/>
          <p:nvPr/>
        </p:nvSpPr>
        <p:spPr>
          <a:xfrm>
            <a:off x="548640" y="2880360"/>
            <a:ext cx="6035040" cy="822960"/>
          </a:xfrm>
          <a:prstGeom prst="rect">
            <a:avLst/>
          </a:prstGeom>
          <a:noFill/>
          <a:ln/>
        </p:spPr>
        <p:txBody>
          <a:bodyPr wrap="square" lIns="0" tIns="0" rIns="0" bIns="0" rtlCol="0" anchor="t"/>
          <a:lstStyle/>
          <a:p>
            <a:pPr indent="0" marL="0">
              <a:buNone/>
            </a:pPr>
            <a:r>
              <a:rPr lang="en-US" sz="1800" dirty="0">
                <a:solidFill>
                  <a:schemeClr val="bg2"/>
                </a:solidFill>
              </a:rPr>
              <a:t>APE 4 · Fase 2 de 2 · Del wireframe al prototipo navegable</a:t>
            </a:r>
            <a:endParaRPr lang="en-US" sz="1800" dirty="0"/>
          </a:p>
        </p:txBody>
      </p:sp>
      <p:sp>
        <p:nvSpPr>
          <p:cNvPr id="4" name="Text 2"/>
          <p:cNvSpPr txBox="1"/>
          <p:nvPr/>
        </p:nvSpPr>
        <p:spPr>
          <a:xfrm>
            <a:off x="548640" y="4297680"/>
            <a:ext cx="6035040" cy="457200"/>
          </a:xfrm>
          <a:prstGeom prst="rect">
            <a:avLst/>
          </a:prstGeom>
          <a:noFill/>
          <a:ln/>
        </p:spPr>
        <p:txBody>
          <a:bodyPr wrap="square" lIns="0" tIns="0" rIns="0" bIns="0" rtlCol="0" anchor="ctr"/>
          <a:lstStyle/>
          <a:p>
            <a:pPr indent="0" marL="0">
              <a:buNone/>
            </a:pPr>
            <a:r>
              <a:rPr lang="en-US" sz="1200" dirty="0">
                <a:solidFill>
                  <a:schemeClr val="bg2"/>
                </a:solidFill>
              </a:rPr>
              <a:t>Jueves 22/10/2026 · Grupo 3 · Paralelo B · Interacción Humano-Computador · UTA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De dónde venimos</a:t>
            </a:r>
            <a:endParaRPr lang="en-US" sz="3000" dirty="0"/>
          </a:p>
        </p:txBody>
      </p:sp>
      <p:sp>
        <p:nvSpPr>
          <p:cNvPr id="4" name="Text 1"/>
          <p:cNvSpPr txBox="1"/>
          <p:nvPr/>
        </p:nvSpPr>
        <p:spPr>
          <a:xfrm>
            <a:off x="457200" y="1143000"/>
            <a:ext cx="3657600" cy="274320"/>
          </a:xfrm>
          <a:prstGeom prst="rect">
            <a:avLst/>
          </a:prstGeom>
          <a:noFill/>
          <a:ln/>
        </p:spPr>
        <p:txBody>
          <a:bodyPr wrap="square" lIns="0" tIns="0" rIns="0" bIns="0" rtlCol="0" anchor="ctr"/>
          <a:lstStyle/>
          <a:p>
            <a:pPr indent="0" marL="0">
              <a:buNone/>
            </a:pPr>
            <a:r>
              <a:rPr lang="en-US" sz="1400" b="1" dirty="0">
                <a:solidFill>
                  <a:schemeClr val="accent6"/>
                </a:solidFill>
              </a:rPr>
              <a:t>FASE 1 · ya hecho</a:t>
            </a:r>
            <a:endParaRPr lang="en-US" sz="1400" dirty="0"/>
          </a:p>
        </p:txBody>
      </p:sp>
      <p:sp>
        <p:nvSpPr>
          <p:cNvPr id="5" name="Shape 2"/>
          <p:cNvSpPr/>
          <p:nvPr/>
        </p:nvSpPr>
        <p:spPr>
          <a:xfrm>
            <a:off x="457200" y="1463040"/>
            <a:ext cx="1554480" cy="868680"/>
          </a:xfrm>
          <a:prstGeom prst="roundRect">
            <a:avLst>
              <a:gd name="adj" fmla="val 8421"/>
            </a:avLst>
          </a:prstGeom>
          <a:solidFill>
            <a:schemeClr val="bg2"/>
          </a:solidFill>
          <a:ln w="12700">
            <a:solidFill>
              <a:schemeClr val="bg2"/>
            </a:solidFill>
            <a:prstDash val="solid"/>
          </a:ln>
        </p:spPr>
      </p:sp>
      <p:sp>
        <p:nvSpPr>
          <p:cNvPr id="6" name="Text 3"/>
          <p:cNvSpPr txBox="1"/>
          <p:nvPr/>
        </p:nvSpPr>
        <p:spPr>
          <a:xfrm>
            <a:off x="502920" y="1463040"/>
            <a:ext cx="1463040" cy="868680"/>
          </a:xfrm>
          <a:prstGeom prst="rect">
            <a:avLst/>
          </a:prstGeom>
          <a:noFill/>
          <a:ln/>
        </p:spPr>
        <p:txBody>
          <a:bodyPr wrap="square" lIns="0" tIns="0" rIns="0" bIns="0" rtlCol="0" anchor="ctr"/>
          <a:lstStyle/>
          <a:p>
            <a:pPr algn="ctr" indent="0" marL="0">
              <a:buNone/>
            </a:pPr>
            <a:r>
              <a:rPr lang="en-US" sz="1400" b="1" dirty="0">
                <a:solidFill>
                  <a:schemeClr val="tx2"/>
                </a:solidFill>
              </a:rPr>
              <a:t>Requisitos R1 a R6</a:t>
            </a:r>
            <a:endParaRPr lang="en-US" sz="1400" dirty="0"/>
          </a:p>
        </p:txBody>
      </p:sp>
      <p:sp>
        <p:nvSpPr>
          <p:cNvPr id="7" name="Shape 4"/>
          <p:cNvSpPr/>
          <p:nvPr/>
        </p:nvSpPr>
        <p:spPr>
          <a:xfrm>
            <a:off x="2121408" y="1463040"/>
            <a:ext cx="1554480" cy="868680"/>
          </a:xfrm>
          <a:prstGeom prst="roundRect">
            <a:avLst>
              <a:gd name="adj" fmla="val 8421"/>
            </a:avLst>
          </a:prstGeom>
          <a:solidFill>
            <a:schemeClr val="bg2"/>
          </a:solidFill>
          <a:ln w="12700">
            <a:solidFill>
              <a:schemeClr val="bg2"/>
            </a:solidFill>
            <a:prstDash val="solid"/>
          </a:ln>
        </p:spPr>
      </p:sp>
      <p:sp>
        <p:nvSpPr>
          <p:cNvPr id="8" name="Text 5"/>
          <p:cNvSpPr txBox="1"/>
          <p:nvPr/>
        </p:nvSpPr>
        <p:spPr>
          <a:xfrm>
            <a:off x="2167128" y="1463040"/>
            <a:ext cx="1463040" cy="868680"/>
          </a:xfrm>
          <a:prstGeom prst="rect">
            <a:avLst/>
          </a:prstGeom>
          <a:noFill/>
          <a:ln/>
        </p:spPr>
        <p:txBody>
          <a:bodyPr wrap="square" lIns="0" tIns="0" rIns="0" bIns="0" rtlCol="0" anchor="ctr"/>
          <a:lstStyle/>
          <a:p>
            <a:pPr algn="ctr" indent="0" marL="0">
              <a:buNone/>
            </a:pPr>
            <a:r>
              <a:rPr lang="en-US" sz="1400" b="1" dirty="0">
                <a:solidFill>
                  <a:schemeClr val="tx2"/>
                </a:solidFill>
              </a:rPr>
              <a:t>Sitemap y navegación</a:t>
            </a:r>
            <a:endParaRPr lang="en-US" sz="1400" dirty="0"/>
          </a:p>
        </p:txBody>
      </p:sp>
      <p:sp>
        <p:nvSpPr>
          <p:cNvPr id="9" name="Shape 6"/>
          <p:cNvSpPr/>
          <p:nvPr/>
        </p:nvSpPr>
        <p:spPr>
          <a:xfrm>
            <a:off x="3785616" y="1463040"/>
            <a:ext cx="1554480" cy="868680"/>
          </a:xfrm>
          <a:prstGeom prst="roundRect">
            <a:avLst>
              <a:gd name="adj" fmla="val 8421"/>
            </a:avLst>
          </a:prstGeom>
          <a:solidFill>
            <a:schemeClr val="bg2"/>
          </a:solidFill>
          <a:ln w="12700">
            <a:solidFill>
              <a:schemeClr val="bg2"/>
            </a:solidFill>
            <a:prstDash val="solid"/>
          </a:ln>
        </p:spPr>
      </p:sp>
      <p:sp>
        <p:nvSpPr>
          <p:cNvPr id="10" name="Text 7"/>
          <p:cNvSpPr txBox="1"/>
          <p:nvPr/>
        </p:nvSpPr>
        <p:spPr>
          <a:xfrm>
            <a:off x="3831336" y="1463040"/>
            <a:ext cx="1463040" cy="868680"/>
          </a:xfrm>
          <a:prstGeom prst="rect">
            <a:avLst/>
          </a:prstGeom>
          <a:noFill/>
          <a:ln/>
        </p:spPr>
        <p:txBody>
          <a:bodyPr wrap="square" lIns="0" tIns="0" rIns="0" bIns="0" rtlCol="0" anchor="ctr"/>
          <a:lstStyle/>
          <a:p>
            <a:pPr algn="ctr" indent="0" marL="0">
              <a:buNone/>
            </a:pPr>
            <a:r>
              <a:rPr lang="en-US" sz="1400" b="1" dirty="0">
                <a:solidFill>
                  <a:schemeClr val="tx2"/>
                </a:solidFill>
              </a:rPr>
              <a:t>User flow</a:t>
            </a:r>
            <a:endParaRPr lang="en-US" sz="1400" dirty="0"/>
          </a:p>
        </p:txBody>
      </p:sp>
      <p:sp>
        <p:nvSpPr>
          <p:cNvPr id="11" name="Shape 8"/>
          <p:cNvSpPr/>
          <p:nvPr/>
        </p:nvSpPr>
        <p:spPr>
          <a:xfrm>
            <a:off x="5449824" y="1463040"/>
            <a:ext cx="1554480" cy="868680"/>
          </a:xfrm>
          <a:prstGeom prst="roundRect">
            <a:avLst>
              <a:gd name="adj" fmla="val 8421"/>
            </a:avLst>
          </a:prstGeom>
          <a:solidFill>
            <a:schemeClr val="bg2"/>
          </a:solidFill>
          <a:ln w="12700">
            <a:solidFill>
              <a:schemeClr val="bg2"/>
            </a:solidFill>
            <a:prstDash val="solid"/>
          </a:ln>
        </p:spPr>
      </p:sp>
      <p:sp>
        <p:nvSpPr>
          <p:cNvPr id="12" name="Text 9"/>
          <p:cNvSpPr txBox="1"/>
          <p:nvPr/>
        </p:nvSpPr>
        <p:spPr>
          <a:xfrm>
            <a:off x="5495544" y="1463040"/>
            <a:ext cx="1463040" cy="868680"/>
          </a:xfrm>
          <a:prstGeom prst="rect">
            <a:avLst/>
          </a:prstGeom>
          <a:noFill/>
          <a:ln/>
        </p:spPr>
        <p:txBody>
          <a:bodyPr wrap="square" lIns="0" tIns="0" rIns="0" bIns="0" rtlCol="0" anchor="ctr"/>
          <a:lstStyle/>
          <a:p>
            <a:pPr algn="ctr" indent="0" marL="0">
              <a:buNone/>
            </a:pPr>
            <a:r>
              <a:rPr lang="en-US" sz="1400" b="1" dirty="0">
                <a:solidFill>
                  <a:schemeClr val="tx2"/>
                </a:solidFill>
              </a:rPr>
              <a:t>Componentes y estados</a:t>
            </a:r>
            <a:endParaRPr lang="en-US" sz="1400" dirty="0"/>
          </a:p>
        </p:txBody>
      </p:sp>
      <p:sp>
        <p:nvSpPr>
          <p:cNvPr id="13" name="Shape 10"/>
          <p:cNvSpPr/>
          <p:nvPr/>
        </p:nvSpPr>
        <p:spPr>
          <a:xfrm>
            <a:off x="7114032" y="1463040"/>
            <a:ext cx="1554480"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7159752" y="1463040"/>
            <a:ext cx="1463040" cy="868680"/>
          </a:xfrm>
          <a:prstGeom prst="rect">
            <a:avLst/>
          </a:prstGeom>
          <a:noFill/>
          <a:ln/>
        </p:spPr>
        <p:txBody>
          <a:bodyPr wrap="square" lIns="0" tIns="0" rIns="0" bIns="0" rtlCol="0" anchor="ctr"/>
          <a:lstStyle/>
          <a:p>
            <a:pPr algn="ctr" indent="0" marL="0">
              <a:buNone/>
            </a:pPr>
            <a:r>
              <a:rPr lang="en-US" sz="1400" b="1" dirty="0">
                <a:solidFill>
                  <a:schemeClr val="tx2"/>
                </a:solidFill>
              </a:rPr>
              <a:t>Wireframes lo-fi</a:t>
            </a:r>
            <a:endParaRPr lang="en-US" sz="1400" dirty="0"/>
          </a:p>
        </p:txBody>
      </p:sp>
      <p:sp>
        <p:nvSpPr>
          <p:cNvPr id="15" name="Text 12"/>
          <p:cNvSpPr txBox="1"/>
          <p:nvPr/>
        </p:nvSpPr>
        <p:spPr>
          <a:xfrm>
            <a:off x="457200" y="2606040"/>
            <a:ext cx="5486400" cy="274320"/>
          </a:xfrm>
          <a:prstGeom prst="rect">
            <a:avLst/>
          </a:prstGeom>
          <a:noFill/>
          <a:ln/>
        </p:spPr>
        <p:txBody>
          <a:bodyPr wrap="square" lIns="0" tIns="0" rIns="0" bIns="0" rtlCol="0" anchor="ctr"/>
          <a:lstStyle/>
          <a:p>
            <a:pPr indent="0" marL="0">
              <a:buNone/>
            </a:pPr>
            <a:r>
              <a:rPr lang="en-US" sz="1400" b="1" dirty="0">
                <a:solidFill>
                  <a:schemeClr val="accent1"/>
                </a:solidFill>
              </a:rPr>
              <a:t>FASE 2 · lo de hoy y del martes</a:t>
            </a:r>
            <a:endParaRPr lang="en-US" sz="1400" dirty="0"/>
          </a:p>
        </p:txBody>
      </p:sp>
      <p:sp>
        <p:nvSpPr>
          <p:cNvPr id="16" name="Shape 13"/>
          <p:cNvSpPr/>
          <p:nvPr/>
        </p:nvSpPr>
        <p:spPr>
          <a:xfrm>
            <a:off x="457200" y="2926080"/>
            <a:ext cx="1965960" cy="868680"/>
          </a:xfrm>
          <a:prstGeom prst="roundRect">
            <a:avLst>
              <a:gd name="adj" fmla="val 8421"/>
            </a:avLst>
          </a:prstGeom>
          <a:solidFill>
            <a:schemeClr val="accent1"/>
          </a:solidFill>
          <a:ln w="12700">
            <a:solidFill>
              <a:schemeClr val="accent1"/>
            </a:solidFill>
            <a:prstDash val="solid"/>
          </a:ln>
        </p:spPr>
      </p:sp>
      <p:sp>
        <p:nvSpPr>
          <p:cNvPr id="17" name="Text 14"/>
          <p:cNvSpPr txBox="1"/>
          <p:nvPr/>
        </p:nvSpPr>
        <p:spPr>
          <a:xfrm>
            <a:off x="502920" y="2926080"/>
            <a:ext cx="1874520" cy="868680"/>
          </a:xfrm>
          <a:prstGeom prst="rect">
            <a:avLst/>
          </a:prstGeom>
          <a:noFill/>
          <a:ln/>
        </p:spPr>
        <p:txBody>
          <a:bodyPr wrap="square" lIns="0" tIns="0" rIns="0" bIns="0" rtlCol="0" anchor="ctr"/>
          <a:lstStyle/>
          <a:p>
            <a:pPr algn="ctr" indent="0" marL="0">
              <a:buNone/>
            </a:pPr>
            <a:r>
              <a:rPr lang="en-US" sz="1500" b="1" dirty="0">
                <a:solidFill>
                  <a:schemeClr val="bg1"/>
                </a:solidFill>
              </a:rPr>
              <a:t>Prototipo navegable</a:t>
            </a:r>
            <a:endParaRPr lang="en-US" sz="1500" dirty="0"/>
          </a:p>
        </p:txBody>
      </p:sp>
      <p:sp>
        <p:nvSpPr>
          <p:cNvPr id="18" name="Shape 15"/>
          <p:cNvSpPr/>
          <p:nvPr/>
        </p:nvSpPr>
        <p:spPr>
          <a:xfrm>
            <a:off x="2542032" y="2926080"/>
            <a:ext cx="1965960" cy="868680"/>
          </a:xfrm>
          <a:prstGeom prst="roundRect">
            <a:avLst>
              <a:gd name="adj" fmla="val 8421"/>
            </a:avLst>
          </a:prstGeom>
          <a:solidFill>
            <a:schemeClr val="accent1"/>
          </a:solidFill>
          <a:ln w="12700">
            <a:solidFill>
              <a:schemeClr val="accent1"/>
            </a:solidFill>
            <a:prstDash val="solid"/>
          </a:ln>
        </p:spPr>
      </p:sp>
      <p:sp>
        <p:nvSpPr>
          <p:cNvPr id="19" name="Text 16"/>
          <p:cNvSpPr txBox="1"/>
          <p:nvPr/>
        </p:nvSpPr>
        <p:spPr>
          <a:xfrm>
            <a:off x="2587752" y="2926080"/>
            <a:ext cx="1874520" cy="868680"/>
          </a:xfrm>
          <a:prstGeom prst="rect">
            <a:avLst/>
          </a:prstGeom>
          <a:noFill/>
          <a:ln/>
        </p:spPr>
        <p:txBody>
          <a:bodyPr wrap="square" lIns="0" tIns="0" rIns="0" bIns="0" rtlCol="0" anchor="ctr"/>
          <a:lstStyle/>
          <a:p>
            <a:pPr algn="ctr" indent="0" marL="0">
              <a:buNone/>
            </a:pPr>
            <a:r>
              <a:rPr lang="en-US" sz="1500" b="1" dirty="0">
                <a:solidFill>
                  <a:schemeClr val="bg1"/>
                </a:solidFill>
              </a:rPr>
              <a:t>Prueba cognitiva con pares</a:t>
            </a:r>
            <a:endParaRPr lang="en-US" sz="1500" dirty="0"/>
          </a:p>
        </p:txBody>
      </p:sp>
      <p:sp>
        <p:nvSpPr>
          <p:cNvPr id="20" name="Shape 17"/>
          <p:cNvSpPr/>
          <p:nvPr/>
        </p:nvSpPr>
        <p:spPr>
          <a:xfrm>
            <a:off x="4626864" y="2926080"/>
            <a:ext cx="1965960" cy="868680"/>
          </a:xfrm>
          <a:prstGeom prst="roundRect">
            <a:avLst>
              <a:gd name="adj" fmla="val 8421"/>
            </a:avLst>
          </a:prstGeom>
          <a:solidFill>
            <a:schemeClr val="accent1"/>
          </a:solidFill>
          <a:ln w="12700">
            <a:solidFill>
              <a:schemeClr val="accent1"/>
            </a:solidFill>
            <a:prstDash val="solid"/>
          </a:ln>
        </p:spPr>
      </p:sp>
      <p:sp>
        <p:nvSpPr>
          <p:cNvPr id="21" name="Text 18"/>
          <p:cNvSpPr txBox="1"/>
          <p:nvPr/>
        </p:nvSpPr>
        <p:spPr>
          <a:xfrm>
            <a:off x="4672584" y="2926080"/>
            <a:ext cx="1874520" cy="868680"/>
          </a:xfrm>
          <a:prstGeom prst="rect">
            <a:avLst/>
          </a:prstGeom>
          <a:noFill/>
          <a:ln/>
        </p:spPr>
        <p:txBody>
          <a:bodyPr wrap="square" lIns="0" tIns="0" rIns="0" bIns="0" rtlCol="0" anchor="ctr"/>
          <a:lstStyle/>
          <a:p>
            <a:pPr algn="ctr" indent="0" marL="0">
              <a:buNone/>
            </a:pPr>
            <a:r>
              <a:rPr lang="en-US" sz="1500" b="1" dirty="0">
                <a:solidFill>
                  <a:schemeClr val="bg1"/>
                </a:solidFill>
              </a:rPr>
              <a:t>Hallazgos y severidad</a:t>
            </a:r>
            <a:endParaRPr lang="en-US" sz="1500" dirty="0"/>
          </a:p>
        </p:txBody>
      </p:sp>
      <p:sp>
        <p:nvSpPr>
          <p:cNvPr id="22" name="Shape 19"/>
          <p:cNvSpPr/>
          <p:nvPr/>
        </p:nvSpPr>
        <p:spPr>
          <a:xfrm>
            <a:off x="6711696" y="2926080"/>
            <a:ext cx="1965960" cy="868680"/>
          </a:xfrm>
          <a:prstGeom prst="roundRect">
            <a:avLst>
              <a:gd name="adj" fmla="val 8421"/>
            </a:avLst>
          </a:prstGeom>
          <a:solidFill>
            <a:schemeClr val="accent1"/>
          </a:solidFill>
          <a:ln w="12700">
            <a:solidFill>
              <a:schemeClr val="accent1"/>
            </a:solidFill>
            <a:prstDash val="solid"/>
          </a:ln>
        </p:spPr>
      </p:sp>
      <p:sp>
        <p:nvSpPr>
          <p:cNvPr id="23" name="Text 20"/>
          <p:cNvSpPr txBox="1"/>
          <p:nvPr/>
        </p:nvSpPr>
        <p:spPr>
          <a:xfrm>
            <a:off x="6757416" y="2926080"/>
            <a:ext cx="1874520" cy="868680"/>
          </a:xfrm>
          <a:prstGeom prst="rect">
            <a:avLst/>
          </a:prstGeom>
          <a:noFill/>
          <a:ln/>
        </p:spPr>
        <p:txBody>
          <a:bodyPr wrap="square" lIns="0" tIns="0" rIns="0" bIns="0" rtlCol="0" anchor="ctr"/>
          <a:lstStyle/>
          <a:p>
            <a:pPr algn="ctr" indent="0" marL="0">
              <a:buNone/>
            </a:pPr>
            <a:r>
              <a:rPr lang="en-US" sz="1500" b="1" dirty="0">
                <a:solidFill>
                  <a:schemeClr val="bg1"/>
                </a:solidFill>
              </a:rPr>
              <a:t>Versión corregida</a:t>
            </a:r>
            <a:endParaRPr lang="en-US" sz="1500" dirty="0"/>
          </a:p>
        </p:txBody>
      </p:sp>
      <p:sp>
        <p:nvSpPr>
          <p:cNvPr id="24" name="Text 21"/>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600" i="1" dirty="0">
                <a:solidFill>
                  <a:schemeClr val="tx1"/>
                </a:solidFill>
              </a:rPr>
              <a:t>Misma función, el Asistente IA de observaciones. Pasamos de cajas grises a algo que responde al clic.</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Qué vamos a entregar</a:t>
            </a:r>
            <a:endParaRPr lang="en-US" sz="3000" dirty="0"/>
          </a:p>
        </p:txBody>
      </p:sp>
      <p:sp>
        <p:nvSpPr>
          <p:cNvPr id="4" name="Shape 1"/>
          <p:cNvSpPr/>
          <p:nvPr/>
        </p:nvSpPr>
        <p:spPr>
          <a:xfrm>
            <a:off x="457200" y="1188720"/>
            <a:ext cx="4023360" cy="1645920"/>
          </a:xfrm>
          <a:prstGeom prst="roundRect">
            <a:avLst>
              <a:gd name="adj" fmla="val 4444"/>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Prototipo navegable</a:t>
            </a:r>
            <a:endParaRPr lang="en-US" sz="1600" dirty="0"/>
          </a:p>
        </p:txBody>
      </p:sp>
      <p:sp>
        <p:nvSpPr>
          <p:cNvPr id="8" name="Text 4"/>
          <p:cNvSpPr txBox="1"/>
          <p:nvPr/>
        </p:nvSpPr>
        <p:spPr>
          <a:xfrm>
            <a:off x="640080" y="1965960"/>
            <a:ext cx="3657600" cy="731520"/>
          </a:xfrm>
          <a:prstGeom prst="rect">
            <a:avLst/>
          </a:prstGeom>
          <a:noFill/>
          <a:ln/>
        </p:spPr>
        <p:txBody>
          <a:bodyPr wrap="square" lIns="0" tIns="0" rIns="0" bIns="0" rtlCol="0" anchor="t"/>
          <a:lstStyle/>
          <a:p>
            <a:pPr indent="0" marL="0">
              <a:buNone/>
            </a:pPr>
            <a:r>
              <a:rPr lang="en-US" sz="1400" dirty="0">
                <a:solidFill>
                  <a:schemeClr val="tx1"/>
                </a:solidFill>
              </a:rPr>
              <a:t>HTML clicable del Asistente IA con estados reales</a:t>
            </a:r>
            <a:endParaRPr lang="en-US" sz="1400" dirty="0"/>
          </a:p>
          <a:p>
            <a:pPr indent="0" marL="0">
              <a:buNone/>
            </a:pPr>
            <a:r>
              <a:rPr lang="en-US" sz="1400" dirty="0">
                <a:solidFill>
                  <a:schemeClr val="tx1"/>
                </a:solidFill>
              </a:rPr>
              <a:t>Jueves</a:t>
            </a:r>
            <a:endParaRPr lang="en-US" sz="1400" dirty="0"/>
          </a:p>
        </p:txBody>
      </p:sp>
      <p:sp>
        <p:nvSpPr>
          <p:cNvPr id="9" name="Shape 5"/>
          <p:cNvSpPr/>
          <p:nvPr/>
        </p:nvSpPr>
        <p:spPr>
          <a:xfrm>
            <a:off x="4663440" y="1188720"/>
            <a:ext cx="4023360" cy="1645920"/>
          </a:xfrm>
          <a:prstGeom prst="roundRect">
            <a:avLst>
              <a:gd name="adj" fmla="val 4444"/>
            </a:avLst>
          </a:prstGeom>
          <a:solidFill>
            <a:schemeClr val="bg2"/>
          </a:solidFill>
          <a:ln w="12700">
            <a:solidFill>
              <a:schemeClr val="bg2"/>
            </a:solidFill>
            <a:prstDash val="solid"/>
          </a:ln>
        </p:spPr>
      </p:sp>
      <p:sp>
        <p:nvSpPr>
          <p:cNvPr id="10" name="Shape 6"/>
          <p:cNvSpPr/>
          <p:nvPr/>
        </p:nvSpPr>
        <p:spPr>
          <a:xfrm>
            <a:off x="4846320" y="137160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946904" y="1472184"/>
            <a:ext cx="256032" cy="256032"/>
          </a:xfrm>
          <a:prstGeom prst="rect">
            <a:avLst/>
          </a:prstGeom>
        </p:spPr>
      </p:pic>
      <p:sp>
        <p:nvSpPr>
          <p:cNvPr id="12" name="Text 7"/>
          <p:cNvSpPr txBox="1"/>
          <p:nvPr/>
        </p:nvSpPr>
        <p:spPr>
          <a:xfrm>
            <a:off x="544068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Registro de prueba</a:t>
            </a:r>
            <a:endParaRPr lang="en-US" sz="1600" dirty="0"/>
          </a:p>
        </p:txBody>
      </p:sp>
      <p:sp>
        <p:nvSpPr>
          <p:cNvPr id="13" name="Text 8"/>
          <p:cNvSpPr txBox="1"/>
          <p:nvPr/>
        </p:nvSpPr>
        <p:spPr>
          <a:xfrm>
            <a:off x="4846320" y="1965960"/>
            <a:ext cx="3657600" cy="731520"/>
          </a:xfrm>
          <a:prstGeom prst="rect">
            <a:avLst/>
          </a:prstGeom>
          <a:noFill/>
          <a:ln/>
        </p:spPr>
        <p:txBody>
          <a:bodyPr wrap="square" lIns="0" tIns="0" rIns="0" bIns="0" rtlCol="0" anchor="t"/>
          <a:lstStyle/>
          <a:p>
            <a:pPr indent="0" marL="0">
              <a:buNone/>
            </a:pPr>
            <a:r>
              <a:rPr lang="en-US" sz="1400" dirty="0">
                <a:solidFill>
                  <a:schemeClr val="tx1"/>
                </a:solidFill>
              </a:rPr>
              <a:t>Prueba cognitiva rápida con pares y su bitácora</a:t>
            </a:r>
            <a:endParaRPr lang="en-US" sz="1400" dirty="0"/>
          </a:p>
          <a:p>
            <a:pPr indent="0" marL="0">
              <a:buNone/>
            </a:pPr>
            <a:r>
              <a:rPr lang="en-US" sz="1400" dirty="0">
                <a:solidFill>
                  <a:schemeClr val="tx1"/>
                </a:solidFill>
              </a:rPr>
              <a:t>Jueves y martes</a:t>
            </a:r>
            <a:endParaRPr lang="en-US" sz="1400" dirty="0"/>
          </a:p>
        </p:txBody>
      </p:sp>
      <p:sp>
        <p:nvSpPr>
          <p:cNvPr id="14" name="Shape 9"/>
          <p:cNvSpPr/>
          <p:nvPr/>
        </p:nvSpPr>
        <p:spPr>
          <a:xfrm>
            <a:off x="457200" y="2971800"/>
            <a:ext cx="4023360" cy="1645920"/>
          </a:xfrm>
          <a:prstGeom prst="roundRect">
            <a:avLst>
              <a:gd name="adj" fmla="val 4444"/>
            </a:avLst>
          </a:prstGeom>
          <a:solidFill>
            <a:schemeClr val="bg2"/>
          </a:solidFill>
          <a:ln w="12700">
            <a:solidFill>
              <a:schemeClr val="bg2"/>
            </a:solidFill>
            <a:prstDash val="solid"/>
          </a:ln>
        </p:spPr>
      </p:sp>
      <p:sp>
        <p:nvSpPr>
          <p:cNvPr id="15" name="Shape 10"/>
          <p:cNvSpPr/>
          <p:nvPr/>
        </p:nvSpPr>
        <p:spPr>
          <a:xfrm>
            <a:off x="640080" y="3154680"/>
            <a:ext cx="457200" cy="45720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740664" y="3255264"/>
            <a:ext cx="256032" cy="256032"/>
          </a:xfrm>
          <a:prstGeom prst="rect">
            <a:avLst/>
          </a:prstGeom>
        </p:spPr>
      </p:pic>
      <p:sp>
        <p:nvSpPr>
          <p:cNvPr id="17" name="Text 11"/>
          <p:cNvSpPr txBox="1"/>
          <p:nvPr/>
        </p:nvSpPr>
        <p:spPr>
          <a:xfrm>
            <a:off x="1234440" y="310896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Versión corregida</a:t>
            </a:r>
            <a:endParaRPr lang="en-US" sz="1600" dirty="0"/>
          </a:p>
        </p:txBody>
      </p:sp>
      <p:sp>
        <p:nvSpPr>
          <p:cNvPr id="18" name="Text 12"/>
          <p:cNvSpPr txBox="1"/>
          <p:nvPr/>
        </p:nvSpPr>
        <p:spPr>
          <a:xfrm>
            <a:off x="640080" y="3749040"/>
            <a:ext cx="3657600" cy="731520"/>
          </a:xfrm>
          <a:prstGeom prst="rect">
            <a:avLst/>
          </a:prstGeom>
          <a:noFill/>
          <a:ln/>
        </p:spPr>
        <p:txBody>
          <a:bodyPr wrap="square" lIns="0" tIns="0" rIns="0" bIns="0" rtlCol="0" anchor="t"/>
          <a:lstStyle/>
          <a:p>
            <a:pPr indent="0" marL="0">
              <a:buNone/>
            </a:pPr>
            <a:r>
              <a:rPr lang="en-US" sz="1400" dirty="0">
                <a:solidFill>
                  <a:schemeClr val="tx1"/>
                </a:solidFill>
              </a:rPr>
              <a:t>Prototipo v2 con los hallazgos arreglados</a:t>
            </a:r>
            <a:endParaRPr lang="en-US" sz="1400" dirty="0"/>
          </a:p>
          <a:p>
            <a:pPr indent="0" marL="0">
              <a:buNone/>
            </a:pPr>
            <a:r>
              <a:rPr lang="en-US" sz="1400" dirty="0">
                <a:solidFill>
                  <a:schemeClr val="tx1"/>
                </a:solidFill>
              </a:rPr>
              <a:t>Martes</a:t>
            </a:r>
            <a:endParaRPr lang="en-US" sz="1400" dirty="0"/>
          </a:p>
        </p:txBody>
      </p:sp>
      <p:sp>
        <p:nvSpPr>
          <p:cNvPr id="19" name="Shape 13"/>
          <p:cNvSpPr/>
          <p:nvPr/>
        </p:nvSpPr>
        <p:spPr>
          <a:xfrm>
            <a:off x="4663440" y="2971800"/>
            <a:ext cx="4023360" cy="1645920"/>
          </a:xfrm>
          <a:prstGeom prst="roundRect">
            <a:avLst>
              <a:gd name="adj" fmla="val 4444"/>
            </a:avLst>
          </a:prstGeom>
          <a:solidFill>
            <a:schemeClr val="bg2"/>
          </a:solidFill>
          <a:ln w="12700">
            <a:solidFill>
              <a:schemeClr val="bg2"/>
            </a:solidFill>
            <a:prstDash val="solid"/>
          </a:ln>
        </p:spPr>
      </p:sp>
      <p:sp>
        <p:nvSpPr>
          <p:cNvPr id="20" name="Shape 14"/>
          <p:cNvSpPr/>
          <p:nvPr/>
        </p:nvSpPr>
        <p:spPr>
          <a:xfrm>
            <a:off x="4846320" y="3154680"/>
            <a:ext cx="457200" cy="457200"/>
          </a:xfrm>
          <a:prstGeom prst="ellipse">
            <a:avLst/>
          </a:prstGeom>
          <a:solidFill>
            <a:schemeClr val="accent5"/>
          </a:solidFill>
          <a:ln w="12700">
            <a:solidFill>
              <a:schemeClr val="accent5"/>
            </a:solidFill>
            <a:prstDash val="solid"/>
          </a:ln>
        </p:spPr>
      </p:sp>
      <p:pic>
        <p:nvPicPr>
          <p:cNvPr id="21" name="Image 3" descr="preencoded.png">    </p:cNvPr>
          <p:cNvPicPr>
            <a:picLocks noChangeAspect="1"/>
          </p:cNvPicPr>
          <p:nvPr/>
        </p:nvPicPr>
        <p:blipFill>
          <a:blip r:embed="rId4"/>
          <a:stretch>
            <a:fillRect/>
          </a:stretch>
        </p:blipFill>
        <p:spPr>
          <a:xfrm>
            <a:off x="4946904" y="3255264"/>
            <a:ext cx="256032" cy="256032"/>
          </a:xfrm>
          <a:prstGeom prst="rect">
            <a:avLst/>
          </a:prstGeom>
        </p:spPr>
      </p:pic>
      <p:sp>
        <p:nvSpPr>
          <p:cNvPr id="22" name="Text 15"/>
          <p:cNvSpPr txBox="1"/>
          <p:nvPr/>
        </p:nvSpPr>
        <p:spPr>
          <a:xfrm>
            <a:off x="5440680" y="310896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Conclusiones APE 4</a:t>
            </a:r>
            <a:endParaRPr lang="en-US" sz="1600" dirty="0"/>
          </a:p>
        </p:txBody>
      </p:sp>
      <p:sp>
        <p:nvSpPr>
          <p:cNvPr id="23" name="Text 16"/>
          <p:cNvSpPr txBox="1"/>
          <p:nvPr/>
        </p:nvSpPr>
        <p:spPr>
          <a:xfrm>
            <a:off x="4846320" y="3749040"/>
            <a:ext cx="3657600" cy="731520"/>
          </a:xfrm>
          <a:prstGeom prst="rect">
            <a:avLst/>
          </a:prstGeom>
          <a:noFill/>
          <a:ln/>
        </p:spPr>
        <p:txBody>
          <a:bodyPr wrap="square" lIns="0" tIns="0" rIns="0" bIns="0" rtlCol="0" anchor="t"/>
          <a:lstStyle/>
          <a:p>
            <a:pPr indent="0" marL="0">
              <a:buNone/>
            </a:pPr>
            <a:r>
              <a:rPr lang="en-US" sz="1400" dirty="0">
                <a:solidFill>
                  <a:schemeClr val="tx1"/>
                </a:solidFill>
              </a:rPr>
              <a:t>Qué aprendimos de prototipar y probar</a:t>
            </a:r>
            <a:endParaRPr lang="en-US" sz="1400" dirty="0"/>
          </a:p>
          <a:p>
            <a:pPr indent="0" marL="0">
              <a:buNone/>
            </a:pPr>
            <a:r>
              <a:rPr lang="en-US" sz="1400" dirty="0">
                <a:solidFill>
                  <a:schemeClr val="tx1"/>
                </a:solidFill>
              </a:rPr>
              <a:t>Martes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Agenda de las dos sesiones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023360" cy="914400"/>
        </p:xfrm>
        <a:graphic>
          <a:graphicData uri="http://schemas.openxmlformats.org/drawingml/2006/table">
            <a:tbl>
              <a:tblPr/>
              <a:tblGrid>
                <a:gridCol w="2286000"/>
                <a:gridCol w="457200"/>
                <a:gridCol w="1280160"/>
              </a:tblGrid>
              <a:tr h="457200">
                <a:tc>
                  <a:txBody>
                    <a:bodyPr/>
                    <a:lstStyle/>
                    <a:p>
                      <a:pPr indent="0" marL="0">
                        <a:buNone/>
                      </a:pPr>
                      <a:r>
                        <a:rPr lang="en-US" sz="1300" b="1" dirty="0">
                          <a:solidFill>
                            <a:schemeClr val="bg1"/>
                          </a:solidFill>
                        </a:rPr>
                        <a:t>Jueves 22/10</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Min</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Quién</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Apertura</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Mauricio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Fundamentos del prototipado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Eduardo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Técnicas y herramientas</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13</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Erick</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Del wireframe al prototipo y prueba en vivo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Juan</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Kahoot 1</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Mauricio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914400"/>
        </p:xfrm>
        <a:graphic>
          <a:graphicData uri="http://schemas.openxmlformats.org/drawingml/2006/table">
            <a:tbl>
              <a:tblPr/>
              <a:tblGrid>
                <a:gridCol w="2926080"/>
                <a:gridCol w="1097280"/>
              </a:tblGrid>
              <a:tr h="457200">
                <a:tc>
                  <a:txBody>
                    <a:bodyPr/>
                    <a:lstStyle/>
                    <a:p>
                      <a:pPr indent="0" marL="0">
                        <a:buNone/>
                      </a:pPr>
                      <a:r>
                        <a:rPr lang="en-US" sz="1300" b="1" dirty="0">
                          <a:solidFill>
                            <a:schemeClr val="bg1"/>
                          </a:solidFill>
                        </a:rPr>
                        <a:t>Martes 27/10</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Quién</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Estados y microinteracciones</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Erick</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Resultados de la prueba y versión 2</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Juan</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Criterios de elección y conclusiones</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Eduardo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Kahoot 2 y cierre</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Mauricio</a:t>
                      </a:r>
                      <a:endParaRPr lang="en-US" sz="13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6" name="Text 1"/>
          <p:cNvSpPr txBox="1"/>
          <p:nvPr/>
        </p:nvSpPr>
        <p:spPr>
          <a:xfrm>
            <a:off x="4663440" y="3657600"/>
            <a:ext cx="4023360" cy="548640"/>
          </a:xfrm>
          <a:prstGeom prst="rect">
            <a:avLst/>
          </a:prstGeom>
          <a:noFill/>
          <a:ln/>
        </p:spPr>
        <p:txBody>
          <a:bodyPr wrap="square" lIns="0" tIns="0" rIns="0" bIns="0" rtlCol="0" anchor="ctr"/>
          <a:lstStyle/>
          <a:p>
            <a:pPr indent="0" marL="0">
              <a:buNone/>
            </a:pPr>
            <a:r>
              <a:rPr lang="en-US" sz="1400" i="1" dirty="0">
                <a:solidFill>
                  <a:schemeClr val="accent6"/>
                </a:solidFill>
              </a:rPr>
              <a:t>Cada día cuenta con una mitad del tema y su Kahoot.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188720"/>
            <a:ext cx="640080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Prototipar: probar antes de construir</a:t>
            </a:r>
            <a:endParaRPr lang="en-US" sz="4000" dirty="0"/>
          </a:p>
        </p:txBody>
      </p:sp>
      <p:sp>
        <p:nvSpPr>
          <p:cNvPr id="3" name="Text 1"/>
          <p:cNvSpPr txBox="1"/>
          <p:nvPr/>
        </p:nvSpPr>
        <p:spPr>
          <a:xfrm>
            <a:off x="548640" y="2880360"/>
            <a:ext cx="6035040" cy="822960"/>
          </a:xfrm>
          <a:prstGeom prst="rect">
            <a:avLst/>
          </a:prstGeom>
          <a:noFill/>
          <a:ln/>
        </p:spPr>
        <p:txBody>
          <a:bodyPr wrap="square" lIns="0" tIns="0" rIns="0" bIns="0" rtlCol="0" anchor="t"/>
          <a:lstStyle/>
          <a:p>
            <a:pPr indent="0" marL="0">
              <a:buNone/>
            </a:pPr>
            <a:r>
              <a:rPr lang="en-US" sz="1800" dirty="0">
                <a:solidFill>
                  <a:schemeClr val="bg2"/>
                </a:solidFill>
              </a:rPr>
              <a:t>Bloque 1 · Fundamentos, fidelidad y alcance</a:t>
            </a:r>
            <a:endParaRPr lang="en-US" sz="1800" dirty="0"/>
          </a:p>
        </p:txBody>
      </p:sp>
      <p:sp>
        <p:nvSpPr>
          <p:cNvPr id="4" name="Text 2"/>
          <p:cNvSpPr txBox="1"/>
          <p:nvPr/>
        </p:nvSpPr>
        <p:spPr>
          <a:xfrm>
            <a:off x="548640" y="4297680"/>
            <a:ext cx="6035040" cy="457200"/>
          </a:xfrm>
          <a:prstGeom prst="rect">
            <a:avLst/>
          </a:prstGeom>
          <a:noFill/>
          <a:ln/>
        </p:spPr>
        <p:txBody>
          <a:bodyPr wrap="square" lIns="0" tIns="0" rIns="0" bIns="0" rtlCol="0" anchor="ctr"/>
          <a:lstStyle/>
          <a:p>
            <a:pPr indent="0" marL="0">
              <a:buNone/>
            </a:pPr>
            <a:r>
              <a:rPr lang="en-US" sz="1200" dirty="0">
                <a:solidFill>
                  <a:schemeClr val="bg2"/>
                </a:solidFill>
              </a:rPr>
              <a:t>Eduardo Chicaiza · Jueves 22/10/2026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¿Qué es un prototipo?</a:t>
            </a:r>
            <a:endParaRPr lang="en-US" sz="3000" dirty="0"/>
          </a:p>
        </p:txBody>
      </p:sp>
      <p:sp>
        <p:nvSpPr>
          <p:cNvPr id="4" name="Text 1"/>
          <p:cNvSpPr txBox="1"/>
          <p:nvPr/>
        </p:nvSpPr>
        <p:spPr>
          <a:xfrm>
            <a:off x="457200" y="1188720"/>
            <a:ext cx="4023360" cy="1554480"/>
          </a:xfrm>
          <a:prstGeom prst="rect">
            <a:avLst/>
          </a:prstGeom>
          <a:noFill/>
          <a:ln/>
        </p:spPr>
        <p:txBody>
          <a:bodyPr wrap="square" lIns="0" tIns="0" rIns="0" bIns="0" rtlCol="0" anchor="t"/>
          <a:lstStyle/>
          <a:p>
            <a:pPr indent="0" marL="0">
              <a:buNone/>
            </a:pPr>
            <a:r>
              <a:rPr lang="en-US" sz="2000" dirty="0">
                <a:solidFill>
                  <a:schemeClr val="tx1"/>
                </a:solidFill>
              </a:rPr>
              <a:t>Una representación parcial del producto que sirve para explorar, comunicar y probar una idea antes de construirla.</a:t>
            </a:r>
            <a:endParaRPr lang="en-US" sz="2000" dirty="0"/>
          </a:p>
        </p:txBody>
      </p:sp>
      <p:sp>
        <p:nvSpPr>
          <p:cNvPr id="5" name="Text 2"/>
          <p:cNvSpPr txBox="1"/>
          <p:nvPr/>
        </p:nvSpPr>
        <p:spPr>
          <a:xfrm>
            <a:off x="457200" y="3017520"/>
            <a:ext cx="4023360" cy="822960"/>
          </a:xfrm>
          <a:prstGeom prst="rect">
            <a:avLst/>
          </a:prstGeom>
          <a:noFill/>
          <a:ln/>
        </p:spPr>
        <p:txBody>
          <a:bodyPr wrap="square" lIns="0" tIns="0" rIns="0" bIns="0" rtlCol="0" anchor="t"/>
          <a:lstStyle/>
          <a:p>
            <a:pPr indent="0" marL="0">
              <a:buNone/>
            </a:pPr>
            <a:r>
              <a:rPr lang="en-US" sz="1600" b="1" i="1" dirty="0">
                <a:solidFill>
                  <a:schemeClr val="accent1"/>
                </a:solidFill>
              </a:rPr>
              <a:t>Parcial, barato de cambiar y hecho para aprender.</a:t>
            </a:r>
            <a:endParaRPr lang="en-US" sz="1600" dirty="0"/>
          </a:p>
        </p:txBody>
      </p:sp>
      <p:sp>
        <p:nvSpPr>
          <p:cNvPr id="6" name="Shape 3"/>
          <p:cNvSpPr/>
          <p:nvPr/>
        </p:nvSpPr>
        <p:spPr>
          <a:xfrm>
            <a:off x="4846320" y="1188720"/>
            <a:ext cx="3840480" cy="1005840"/>
          </a:xfrm>
          <a:prstGeom prst="roundRect">
            <a:avLst>
              <a:gd name="adj" fmla="val 7273"/>
            </a:avLst>
          </a:prstGeom>
          <a:solidFill>
            <a:schemeClr val="bg2"/>
          </a:solidFill>
          <a:ln w="12700">
            <a:solidFill>
              <a:schemeClr val="bg2"/>
            </a:solidFill>
            <a:prstDash val="solid"/>
          </a:ln>
        </p:spPr>
      </p:sp>
      <p:sp>
        <p:nvSpPr>
          <p:cNvPr id="7" name="Shape 4"/>
          <p:cNvSpPr/>
          <p:nvPr/>
        </p:nvSpPr>
        <p:spPr>
          <a:xfrm>
            <a:off x="5029200" y="1371600"/>
            <a:ext cx="457200" cy="457200"/>
          </a:xfrm>
          <a:prstGeom prst="ellipse">
            <a:avLst/>
          </a:prstGeom>
          <a:solidFill>
            <a:schemeClr val="accent2"/>
          </a:solidFill>
          <a:ln w="12700">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5129784" y="1472184"/>
            <a:ext cx="256032" cy="256032"/>
          </a:xfrm>
          <a:prstGeom prst="rect">
            <a:avLst/>
          </a:prstGeom>
        </p:spPr>
      </p:pic>
      <p:sp>
        <p:nvSpPr>
          <p:cNvPr id="9" name="Text 5"/>
          <p:cNvSpPr txBox="1"/>
          <p:nvPr/>
        </p:nvSpPr>
        <p:spPr>
          <a:xfrm>
            <a:off x="5623560" y="1325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¿Se entiende?</a:t>
            </a:r>
            <a:endParaRPr lang="en-US" sz="1800" dirty="0"/>
          </a:p>
        </p:txBody>
      </p:sp>
      <p:sp>
        <p:nvSpPr>
          <p:cNvPr id="10" name="Text 6"/>
          <p:cNvSpPr txBox="1"/>
          <p:nvPr/>
        </p:nvSpPr>
        <p:spPr>
          <a:xfrm>
            <a:off x="5029200" y="1965960"/>
            <a:ext cx="3474720" cy="91440"/>
          </a:xfrm>
          <a:prstGeom prst="rect">
            <a:avLst/>
          </a:prstGeom>
          <a:noFill/>
          <a:ln/>
        </p:spPr>
        <p:txBody>
          <a:bodyPr wrap="square" lIns="0" tIns="0" rIns="0" bIns="0" rtlCol="0" anchor="t"/>
          <a:lstStyle/>
          <a:p>
            <a:pPr indent="0" marL="0">
              <a:buNone/>
            </a:pPr>
            <a:endParaRPr lang="en-US" sz="1400" dirty="0"/>
          </a:p>
        </p:txBody>
      </p:sp>
      <p:sp>
        <p:nvSpPr>
          <p:cNvPr id="11" name="Shape 7"/>
          <p:cNvSpPr/>
          <p:nvPr/>
        </p:nvSpPr>
        <p:spPr>
          <a:xfrm>
            <a:off x="4846320" y="2331720"/>
            <a:ext cx="3840480" cy="1005840"/>
          </a:xfrm>
          <a:prstGeom prst="roundRect">
            <a:avLst>
              <a:gd name="adj" fmla="val 7273"/>
            </a:avLst>
          </a:prstGeom>
          <a:solidFill>
            <a:schemeClr val="bg2"/>
          </a:solidFill>
          <a:ln w="12700">
            <a:solidFill>
              <a:schemeClr val="bg2"/>
            </a:solidFill>
            <a:prstDash val="solid"/>
          </a:ln>
        </p:spPr>
      </p:sp>
      <p:sp>
        <p:nvSpPr>
          <p:cNvPr id="12" name="Shape 8"/>
          <p:cNvSpPr/>
          <p:nvPr/>
        </p:nvSpPr>
        <p:spPr>
          <a:xfrm>
            <a:off x="5029200" y="2514600"/>
            <a:ext cx="457200" cy="45720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5129784" y="2615184"/>
            <a:ext cx="256032" cy="256032"/>
          </a:xfrm>
          <a:prstGeom prst="rect">
            <a:avLst/>
          </a:prstGeom>
        </p:spPr>
      </p:pic>
      <p:sp>
        <p:nvSpPr>
          <p:cNvPr id="14" name="Text 9"/>
          <p:cNvSpPr txBox="1"/>
          <p:nvPr/>
        </p:nvSpPr>
        <p:spPr>
          <a:xfrm>
            <a:off x="5623560" y="2468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¿Se puede usar?</a:t>
            </a:r>
            <a:endParaRPr lang="en-US" sz="1800" dirty="0"/>
          </a:p>
        </p:txBody>
      </p:sp>
      <p:sp>
        <p:nvSpPr>
          <p:cNvPr id="15" name="Text 10"/>
          <p:cNvSpPr txBox="1"/>
          <p:nvPr/>
        </p:nvSpPr>
        <p:spPr>
          <a:xfrm>
            <a:off x="5029200" y="3108960"/>
            <a:ext cx="3474720" cy="91440"/>
          </a:xfrm>
          <a:prstGeom prst="rect">
            <a:avLst/>
          </a:prstGeom>
          <a:noFill/>
          <a:ln/>
        </p:spPr>
        <p:txBody>
          <a:bodyPr wrap="square" lIns="0" tIns="0" rIns="0" bIns="0" rtlCol="0" anchor="t"/>
          <a:lstStyle/>
          <a:p>
            <a:pPr indent="0" marL="0">
              <a:buNone/>
            </a:pPr>
            <a:endParaRPr lang="en-US" sz="1400" dirty="0"/>
          </a:p>
        </p:txBody>
      </p:sp>
      <p:sp>
        <p:nvSpPr>
          <p:cNvPr id="16" name="Shape 11"/>
          <p:cNvSpPr/>
          <p:nvPr/>
        </p:nvSpPr>
        <p:spPr>
          <a:xfrm>
            <a:off x="4846320" y="3474720"/>
            <a:ext cx="3840480" cy="1005840"/>
          </a:xfrm>
          <a:prstGeom prst="roundRect">
            <a:avLst>
              <a:gd name="adj" fmla="val 7273"/>
            </a:avLst>
          </a:prstGeom>
          <a:solidFill>
            <a:schemeClr val="bg2"/>
          </a:solidFill>
          <a:ln w="12700">
            <a:solidFill>
              <a:schemeClr val="bg2"/>
            </a:solidFill>
            <a:prstDash val="solid"/>
          </a:ln>
        </p:spPr>
      </p:sp>
      <p:sp>
        <p:nvSpPr>
          <p:cNvPr id="17" name="Shape 12"/>
          <p:cNvSpPr/>
          <p:nvPr/>
        </p:nvSpPr>
        <p:spPr>
          <a:xfrm>
            <a:off x="5029200" y="3657600"/>
            <a:ext cx="457200" cy="457200"/>
          </a:xfrm>
          <a:prstGeom prst="ellipse">
            <a:avLst/>
          </a:prstGeom>
          <a:solidFill>
            <a:schemeClr val="accent3"/>
          </a:solidFill>
          <a:ln w="12700">
            <a:solidFill>
              <a:schemeClr val="accent3"/>
            </a:solidFill>
            <a:prstDash val="solid"/>
          </a:ln>
        </p:spPr>
      </p:sp>
      <p:pic>
        <p:nvPicPr>
          <p:cNvPr id="18" name="Image 2" descr="preencoded.png">    </p:cNvPr>
          <p:cNvPicPr>
            <a:picLocks noChangeAspect="1"/>
          </p:cNvPicPr>
          <p:nvPr/>
        </p:nvPicPr>
        <p:blipFill>
          <a:blip r:embed="rId3"/>
          <a:stretch>
            <a:fillRect/>
          </a:stretch>
        </p:blipFill>
        <p:spPr>
          <a:xfrm>
            <a:off x="5129784" y="3758184"/>
            <a:ext cx="256032" cy="256032"/>
          </a:xfrm>
          <a:prstGeom prst="rect">
            <a:avLst/>
          </a:prstGeom>
        </p:spPr>
      </p:pic>
      <p:sp>
        <p:nvSpPr>
          <p:cNvPr id="19" name="Text 13"/>
          <p:cNvSpPr txBox="1"/>
          <p:nvPr/>
        </p:nvSpPr>
        <p:spPr>
          <a:xfrm>
            <a:off x="5623560" y="3611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¿Vale la pena construirlo?</a:t>
            </a:r>
            <a:endParaRPr lang="en-US" sz="1800" dirty="0"/>
          </a:p>
        </p:txBody>
      </p:sp>
      <p:sp>
        <p:nvSpPr>
          <p:cNvPr id="20" name="Text 14"/>
          <p:cNvSpPr txBox="1"/>
          <p:nvPr/>
        </p:nvSpPr>
        <p:spPr>
          <a:xfrm>
            <a:off x="5029200" y="4251960"/>
            <a:ext cx="3474720" cy="9144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¿Por qué prototipar?</a:t>
            </a:r>
            <a:endParaRPr lang="en-US" sz="3000" dirty="0"/>
          </a:p>
        </p:txBody>
      </p:sp>
      <p:sp>
        <p:nvSpPr>
          <p:cNvPr id="4" name="Shape 1"/>
          <p:cNvSpPr/>
          <p:nvPr/>
        </p:nvSpPr>
        <p:spPr>
          <a:xfrm>
            <a:off x="640080" y="3154680"/>
            <a:ext cx="1737360" cy="914400"/>
          </a:xfrm>
          <a:prstGeom prst="roundRect">
            <a:avLst>
              <a:gd name="adj" fmla="val 5000"/>
            </a:avLst>
          </a:prstGeom>
          <a:solidFill>
            <a:schemeClr val="accent3"/>
          </a:solidFill>
          <a:ln w="12700">
            <a:solidFill>
              <a:schemeClr val="accent3"/>
            </a:solidFill>
            <a:prstDash val="solid"/>
          </a:ln>
        </p:spPr>
      </p:sp>
      <p:sp>
        <p:nvSpPr>
          <p:cNvPr id="5" name="Text 2"/>
          <p:cNvSpPr txBox="1"/>
          <p:nvPr/>
        </p:nvSpPr>
        <p:spPr>
          <a:xfrm>
            <a:off x="640080" y="315468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Idea</a:t>
            </a:r>
            <a:endParaRPr lang="en-US" sz="1600" dirty="0"/>
          </a:p>
        </p:txBody>
      </p:sp>
      <p:sp>
        <p:nvSpPr>
          <p:cNvPr id="6" name="Text 3"/>
          <p:cNvSpPr txBox="1"/>
          <p:nvPr/>
        </p:nvSpPr>
        <p:spPr>
          <a:xfrm>
            <a:off x="54864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minutos</a:t>
            </a:r>
            <a:endParaRPr lang="en-US" sz="1300" dirty="0"/>
          </a:p>
        </p:txBody>
      </p:sp>
      <p:sp>
        <p:nvSpPr>
          <p:cNvPr id="7" name="Shape 4"/>
          <p:cNvSpPr/>
          <p:nvPr/>
        </p:nvSpPr>
        <p:spPr>
          <a:xfrm>
            <a:off x="2651760" y="2606040"/>
            <a:ext cx="1737360" cy="1463040"/>
          </a:xfrm>
          <a:prstGeom prst="roundRect">
            <a:avLst>
              <a:gd name="adj" fmla="val 3125"/>
            </a:avLst>
          </a:prstGeom>
          <a:solidFill>
            <a:schemeClr val="accent2"/>
          </a:solidFill>
          <a:ln w="12700">
            <a:solidFill>
              <a:schemeClr val="accent2"/>
            </a:solidFill>
            <a:prstDash val="solid"/>
          </a:ln>
        </p:spPr>
      </p:sp>
      <p:sp>
        <p:nvSpPr>
          <p:cNvPr id="8" name="Text 5"/>
          <p:cNvSpPr txBox="1"/>
          <p:nvPr/>
        </p:nvSpPr>
        <p:spPr>
          <a:xfrm>
            <a:off x="2651760" y="260604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Prototipo</a:t>
            </a:r>
            <a:endParaRPr lang="en-US" sz="1600" dirty="0"/>
          </a:p>
        </p:txBody>
      </p:sp>
      <p:sp>
        <p:nvSpPr>
          <p:cNvPr id="9" name="Text 6"/>
          <p:cNvSpPr txBox="1"/>
          <p:nvPr/>
        </p:nvSpPr>
        <p:spPr>
          <a:xfrm>
            <a:off x="256032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horas</a:t>
            </a:r>
            <a:endParaRPr lang="en-US" sz="1300" dirty="0"/>
          </a:p>
        </p:txBody>
      </p:sp>
      <p:sp>
        <p:nvSpPr>
          <p:cNvPr id="10" name="Shape 7"/>
          <p:cNvSpPr/>
          <p:nvPr/>
        </p:nvSpPr>
        <p:spPr>
          <a:xfrm>
            <a:off x="4663440" y="2057400"/>
            <a:ext cx="1737360" cy="2011680"/>
          </a:xfrm>
          <a:prstGeom prst="roundRect">
            <a:avLst>
              <a:gd name="adj" fmla="val 2632"/>
            </a:avLst>
          </a:prstGeom>
          <a:solidFill>
            <a:schemeClr val="accent5"/>
          </a:solidFill>
          <a:ln w="12700">
            <a:solidFill>
              <a:schemeClr val="accent5"/>
            </a:solidFill>
            <a:prstDash val="solid"/>
          </a:ln>
        </p:spPr>
      </p:sp>
      <p:sp>
        <p:nvSpPr>
          <p:cNvPr id="11" name="Text 8"/>
          <p:cNvSpPr txBox="1"/>
          <p:nvPr/>
        </p:nvSpPr>
        <p:spPr>
          <a:xfrm>
            <a:off x="4663440" y="205740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Código</a:t>
            </a:r>
            <a:endParaRPr lang="en-US" sz="1600" dirty="0"/>
          </a:p>
        </p:txBody>
      </p:sp>
      <p:sp>
        <p:nvSpPr>
          <p:cNvPr id="12" name="Text 9"/>
          <p:cNvSpPr txBox="1"/>
          <p:nvPr/>
        </p:nvSpPr>
        <p:spPr>
          <a:xfrm>
            <a:off x="457200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días</a:t>
            </a:r>
            <a:endParaRPr lang="en-US" sz="1300" dirty="0"/>
          </a:p>
        </p:txBody>
      </p:sp>
      <p:sp>
        <p:nvSpPr>
          <p:cNvPr id="13" name="Shape 10"/>
          <p:cNvSpPr/>
          <p:nvPr/>
        </p:nvSpPr>
        <p:spPr>
          <a:xfrm>
            <a:off x="6675120" y="1508760"/>
            <a:ext cx="1737360" cy="2560320"/>
          </a:xfrm>
          <a:prstGeom prst="roundRect">
            <a:avLst>
              <a:gd name="adj" fmla="val 2632"/>
            </a:avLst>
          </a:prstGeom>
          <a:solidFill>
            <a:schemeClr val="accent4"/>
          </a:solidFill>
          <a:ln w="12700">
            <a:solidFill>
              <a:schemeClr val="accent4"/>
            </a:solidFill>
            <a:prstDash val="solid"/>
          </a:ln>
        </p:spPr>
      </p:sp>
      <p:sp>
        <p:nvSpPr>
          <p:cNvPr id="14" name="Text 11"/>
          <p:cNvSpPr txBox="1"/>
          <p:nvPr/>
        </p:nvSpPr>
        <p:spPr>
          <a:xfrm>
            <a:off x="6675120" y="15087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Producto en uso</a:t>
            </a:r>
            <a:endParaRPr lang="en-US" sz="1600" dirty="0"/>
          </a:p>
        </p:txBody>
      </p:sp>
      <p:sp>
        <p:nvSpPr>
          <p:cNvPr id="15" name="Text 12"/>
          <p:cNvSpPr txBox="1"/>
          <p:nvPr/>
        </p:nvSpPr>
        <p:spPr>
          <a:xfrm>
            <a:off x="658368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mucho</a:t>
            </a:r>
            <a:endParaRPr lang="en-US" sz="1300" dirty="0"/>
          </a:p>
        </p:txBody>
      </p:sp>
      <p:sp>
        <p:nvSpPr>
          <p:cNvPr id="16" name="Text 13"/>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600" i="1" dirty="0">
                <a:solidFill>
                  <a:schemeClr val="tx1"/>
                </a:solidFill>
              </a:rPr>
              <a:t>El costo de corregir crece con cada etapa.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Wireframe, mockup y prototipo</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2194560"/>
                <a:gridCol w="2194560"/>
                <a:gridCol w="2194560"/>
              </a:tblGrid>
              <a:tr h="566928">
                <a:tc>
                  <a:txBody>
                    <a:bodyPr/>
                    <a:lstStyle/>
                    <a:p>
                      <a:pPr indent="0" marL="0">
                        <a:buNone/>
                      </a:pP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Wireframe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Mockup</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Prototipo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Muestra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Estructura y orden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Aspecto visual final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Comportamiento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Responde 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¿Dónde va cada cosa?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¿Cómo se ve?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¿Cómo se usa?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¿Se puede clicar?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Sí</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Nuestro caso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Pantallas A y B de la Fase 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Colores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HTML del Asistente 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Tres niveles de fidelidad</a:t>
            </a:r>
            <a:endParaRPr lang="en-US" sz="3000" dirty="0"/>
          </a:p>
        </p:txBody>
      </p:sp>
      <p:sp>
        <p:nvSpPr>
          <p:cNvPr id="4" name="Shape 1"/>
          <p:cNvSpPr/>
          <p:nvPr/>
        </p:nvSpPr>
        <p:spPr>
          <a:xfrm>
            <a:off x="457200" y="1234440"/>
            <a:ext cx="2651760" cy="310896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417320"/>
            <a:ext cx="457200" cy="457200"/>
          </a:xfrm>
          <a:prstGeom prst="ellipse">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40664" y="1517904"/>
            <a:ext cx="256032" cy="256032"/>
          </a:xfrm>
          <a:prstGeom prst="rect">
            <a:avLst/>
          </a:prstGeom>
        </p:spPr>
      </p:pic>
      <p:sp>
        <p:nvSpPr>
          <p:cNvPr id="7" name="Text 3"/>
          <p:cNvSpPr txBox="1"/>
          <p:nvPr/>
        </p:nvSpPr>
        <p:spPr>
          <a:xfrm>
            <a:off x="123444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Baja</a:t>
            </a:r>
            <a:endParaRPr lang="en-US" sz="2000" dirty="0"/>
          </a:p>
        </p:txBody>
      </p:sp>
      <p:sp>
        <p:nvSpPr>
          <p:cNvPr id="8" name="Text 4"/>
          <p:cNvSpPr txBox="1"/>
          <p:nvPr/>
        </p:nvSpPr>
        <p:spPr>
          <a:xfrm>
            <a:off x="64008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Papel o cajas grises. Se hace en minutos.</a:t>
            </a:r>
            <a:endParaRPr lang="en-US" sz="1600" dirty="0"/>
          </a:p>
          <a:p>
            <a:pPr indent="0" marL="0">
              <a:buNone/>
            </a:pPr>
            <a:r>
              <a:rPr lang="en-US" sz="1600" dirty="0">
                <a:solidFill>
                  <a:schemeClr val="tx1"/>
                </a:solidFill>
              </a:rPr>
              <a:t>Pregunta: ¿la estructura tiene sentido?</a:t>
            </a:r>
            <a:endParaRPr lang="en-US" sz="1600" dirty="0"/>
          </a:p>
        </p:txBody>
      </p:sp>
      <p:sp>
        <p:nvSpPr>
          <p:cNvPr id="9" name="Shape 5"/>
          <p:cNvSpPr/>
          <p:nvPr/>
        </p:nvSpPr>
        <p:spPr>
          <a:xfrm>
            <a:off x="3291840" y="1234440"/>
            <a:ext cx="2651760" cy="310896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74720" y="1417320"/>
            <a:ext cx="457200" cy="45720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575304" y="1517904"/>
            <a:ext cx="256032" cy="256032"/>
          </a:xfrm>
          <a:prstGeom prst="rect">
            <a:avLst/>
          </a:prstGeom>
        </p:spPr>
      </p:pic>
      <p:sp>
        <p:nvSpPr>
          <p:cNvPr id="12" name="Text 7"/>
          <p:cNvSpPr txBox="1"/>
          <p:nvPr/>
        </p:nvSpPr>
        <p:spPr>
          <a:xfrm>
            <a:off x="406908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Media</a:t>
            </a:r>
            <a:endParaRPr lang="en-US" sz="2000" dirty="0"/>
          </a:p>
        </p:txBody>
      </p:sp>
      <p:sp>
        <p:nvSpPr>
          <p:cNvPr id="13" name="Text 8"/>
          <p:cNvSpPr txBox="1"/>
          <p:nvPr/>
        </p:nvSpPr>
        <p:spPr>
          <a:xfrm>
            <a:off x="347472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Pantallas ordenadas y navegación. Texto real.</a:t>
            </a:r>
            <a:endParaRPr lang="en-US" sz="1600" dirty="0"/>
          </a:p>
          <a:p>
            <a:pPr indent="0" marL="0">
              <a:buNone/>
            </a:pPr>
            <a:r>
              <a:rPr lang="en-US" sz="1600" dirty="0">
                <a:solidFill>
                  <a:schemeClr val="tx1"/>
                </a:solidFill>
              </a:rPr>
              <a:t>Pregunta: ¿el flujo se entiende?</a:t>
            </a:r>
            <a:endParaRPr lang="en-US" sz="1600" dirty="0"/>
          </a:p>
        </p:txBody>
      </p:sp>
      <p:sp>
        <p:nvSpPr>
          <p:cNvPr id="14" name="Shape 9"/>
          <p:cNvSpPr/>
          <p:nvPr/>
        </p:nvSpPr>
        <p:spPr>
          <a:xfrm>
            <a:off x="6126480" y="1234440"/>
            <a:ext cx="2651760" cy="310896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309360" y="1417320"/>
            <a:ext cx="457200" cy="4572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409944" y="1517904"/>
            <a:ext cx="256032" cy="256032"/>
          </a:xfrm>
          <a:prstGeom prst="rect">
            <a:avLst/>
          </a:prstGeom>
        </p:spPr>
      </p:pic>
      <p:sp>
        <p:nvSpPr>
          <p:cNvPr id="17" name="Text 11"/>
          <p:cNvSpPr txBox="1"/>
          <p:nvPr/>
        </p:nvSpPr>
        <p:spPr>
          <a:xfrm>
            <a:off x="690372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Alta</a:t>
            </a:r>
            <a:endParaRPr lang="en-US" sz="2000" dirty="0"/>
          </a:p>
        </p:txBody>
      </p:sp>
      <p:sp>
        <p:nvSpPr>
          <p:cNvPr id="18" name="Text 12"/>
          <p:cNvSpPr txBox="1"/>
          <p:nvPr/>
        </p:nvSpPr>
        <p:spPr>
          <a:xfrm>
            <a:off x="630936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Se ve y responde casi como el producto.</a:t>
            </a:r>
            <a:endParaRPr lang="en-US" sz="1600" dirty="0"/>
          </a:p>
          <a:p>
            <a:pPr indent="0" marL="0">
              <a:buNone/>
            </a:pPr>
            <a:r>
              <a:rPr lang="en-US" sz="1600" dirty="0">
                <a:solidFill>
                  <a:schemeClr val="tx1"/>
                </a:solidFill>
              </a:rPr>
              <a:t>Pregunta: ¿funciona bien en el detalle?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La fidelidad tiene tres ejes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gridCol w="1920240"/>
                <a:gridCol w="2468880"/>
                <a:gridCol w="2468880"/>
              </a:tblGrid>
              <a:tr h="640080">
                <a:tc>
                  <a:txBody>
                    <a:bodyPr/>
                    <a:lstStyle/>
                    <a:p>
                      <a:pPr indent="0" marL="0">
                        <a:buNone/>
                      </a:pPr>
                      <a:r>
                        <a:rPr lang="en-US" sz="1400" b="1" dirty="0">
                          <a:solidFill>
                            <a:schemeClr val="bg1"/>
                          </a:solidFill>
                        </a:rPr>
                        <a:t>Eje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Nuestro v1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640080">
                <a:tc>
                  <a:txBody>
                    <a:bodyPr/>
                    <a:lstStyle/>
                    <a:p>
                      <a:pPr indent="0" marL="0">
                        <a:buNone/>
                      </a:pPr>
                      <a:r>
                        <a:rPr lang="en-US" sz="1400" dirty="0">
                          <a:solidFill>
                            <a:schemeClr val="tx1"/>
                          </a:solidFill>
                        </a:rPr>
                        <a:t>Visual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Cajas y grises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Colores y tipografía finales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tokens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Contenido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 de relleno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Textos reales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Alta: mensajes reales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1"/>
                          </a:solidFill>
                        </a:rPr>
                        <a:t>Interacción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Solo imágenes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Estados y respuestas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en un solo flujo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b="1" i="1" dirty="0">
                <a:solidFill>
                  <a:schemeClr val="accent1"/>
                </a:solidFill>
              </a:rPr>
              <a:t>Se puede tener un eje alto y otro bajo. Elegimos cada uno según la pregunta.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Horizontal o vertical</a:t>
            </a:r>
            <a:endParaRPr lang="en-US" sz="3000" dirty="0"/>
          </a:p>
        </p:txBody>
      </p:sp>
      <p:sp>
        <p:nvSpPr>
          <p:cNvPr id="4" name="Text 1"/>
          <p:cNvSpPr txBox="1"/>
          <p:nvPr/>
        </p:nvSpPr>
        <p:spPr>
          <a:xfrm>
            <a:off x="457200" y="118872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Horizontal</a:t>
            </a:r>
            <a:endParaRPr lang="en-US" sz="1800" dirty="0"/>
          </a:p>
        </p:txBody>
      </p:sp>
      <p:sp>
        <p:nvSpPr>
          <p:cNvPr id="5" name="Shape 2"/>
          <p:cNvSpPr/>
          <p:nvPr/>
        </p:nvSpPr>
        <p:spPr>
          <a:xfrm>
            <a:off x="457200" y="1645920"/>
            <a:ext cx="694944" cy="822960"/>
          </a:xfrm>
          <a:prstGeom prst="roundRect">
            <a:avLst>
              <a:gd name="adj" fmla="val 6579"/>
            </a:avLst>
          </a:prstGeom>
          <a:solidFill>
            <a:schemeClr val="accent2"/>
          </a:solidFill>
          <a:ln w="12700">
            <a:solidFill>
              <a:schemeClr val="accent2"/>
            </a:solidFill>
            <a:prstDash val="solid"/>
          </a:ln>
        </p:spPr>
      </p:sp>
      <p:sp>
        <p:nvSpPr>
          <p:cNvPr id="6" name="Shape 3"/>
          <p:cNvSpPr/>
          <p:nvPr/>
        </p:nvSpPr>
        <p:spPr>
          <a:xfrm>
            <a:off x="1243584" y="1645920"/>
            <a:ext cx="694944" cy="822960"/>
          </a:xfrm>
          <a:prstGeom prst="roundRect">
            <a:avLst>
              <a:gd name="adj" fmla="val 6579"/>
            </a:avLst>
          </a:prstGeom>
          <a:solidFill>
            <a:schemeClr val="accent2"/>
          </a:solidFill>
          <a:ln w="12700">
            <a:solidFill>
              <a:schemeClr val="accent2"/>
            </a:solidFill>
            <a:prstDash val="solid"/>
          </a:ln>
        </p:spPr>
      </p:sp>
      <p:sp>
        <p:nvSpPr>
          <p:cNvPr id="7" name="Shape 4"/>
          <p:cNvSpPr/>
          <p:nvPr/>
        </p:nvSpPr>
        <p:spPr>
          <a:xfrm>
            <a:off x="2029968" y="1645920"/>
            <a:ext cx="694944" cy="822960"/>
          </a:xfrm>
          <a:prstGeom prst="roundRect">
            <a:avLst>
              <a:gd name="adj" fmla="val 6579"/>
            </a:avLst>
          </a:prstGeom>
          <a:solidFill>
            <a:schemeClr val="accent2"/>
          </a:solidFill>
          <a:ln w="12700">
            <a:solidFill>
              <a:schemeClr val="accent2"/>
            </a:solidFill>
            <a:prstDash val="solid"/>
          </a:ln>
        </p:spPr>
      </p:sp>
      <p:sp>
        <p:nvSpPr>
          <p:cNvPr id="8" name="Shape 5"/>
          <p:cNvSpPr/>
          <p:nvPr/>
        </p:nvSpPr>
        <p:spPr>
          <a:xfrm>
            <a:off x="2816352" y="1645920"/>
            <a:ext cx="694944" cy="822960"/>
          </a:xfrm>
          <a:prstGeom prst="roundRect">
            <a:avLst>
              <a:gd name="adj" fmla="val 6579"/>
            </a:avLst>
          </a:prstGeom>
          <a:solidFill>
            <a:schemeClr val="accent2"/>
          </a:solidFill>
          <a:ln w="12700">
            <a:solidFill>
              <a:schemeClr val="accent2"/>
            </a:solidFill>
            <a:prstDash val="solid"/>
          </a:ln>
        </p:spPr>
      </p:sp>
      <p:sp>
        <p:nvSpPr>
          <p:cNvPr id="9" name="Shape 6"/>
          <p:cNvSpPr/>
          <p:nvPr/>
        </p:nvSpPr>
        <p:spPr>
          <a:xfrm>
            <a:off x="3602736" y="1645920"/>
            <a:ext cx="694944" cy="822960"/>
          </a:xfrm>
          <a:prstGeom prst="roundRect">
            <a:avLst>
              <a:gd name="adj" fmla="val 6579"/>
            </a:avLst>
          </a:prstGeom>
          <a:solidFill>
            <a:schemeClr val="accent2"/>
          </a:solidFill>
          <a:ln w="12700">
            <a:solidFill>
              <a:schemeClr val="accent2"/>
            </a:solidFill>
            <a:prstDash val="solid"/>
          </a:ln>
        </p:spPr>
      </p:sp>
      <p:sp>
        <p:nvSpPr>
          <p:cNvPr id="10" name="Text 7"/>
          <p:cNvSpPr txBox="1"/>
          <p:nvPr/>
        </p:nvSpPr>
        <p:spPr>
          <a:xfrm>
            <a:off x="457200" y="2651760"/>
            <a:ext cx="3931920" cy="822960"/>
          </a:xfrm>
          <a:prstGeom prst="rect">
            <a:avLst/>
          </a:prstGeom>
          <a:noFill/>
          <a:ln/>
        </p:spPr>
        <p:txBody>
          <a:bodyPr wrap="square" lIns="0" tIns="0" rIns="0" bIns="0" rtlCol="0" anchor="t"/>
          <a:lstStyle/>
          <a:p>
            <a:pPr indent="0" marL="0">
              <a:buNone/>
            </a:pPr>
            <a:r>
              <a:rPr lang="en-US" sz="1400" dirty="0">
                <a:solidFill>
                  <a:schemeClr val="tx1"/>
                </a:solidFill>
              </a:rPr>
              <a:t>Muchas funciones, poco detalle en cada una. Sirve para ver el alcance.</a:t>
            </a:r>
            <a:endParaRPr lang="en-US" sz="1400" dirty="0"/>
          </a:p>
        </p:txBody>
      </p:sp>
      <p:sp>
        <p:nvSpPr>
          <p:cNvPr id="11" name="Text 8"/>
          <p:cNvSpPr txBox="1"/>
          <p:nvPr/>
        </p:nvSpPr>
        <p:spPr>
          <a:xfrm>
            <a:off x="4754880" y="118872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Vertical</a:t>
            </a:r>
            <a:endParaRPr lang="en-US" sz="1800" dirty="0"/>
          </a:p>
        </p:txBody>
      </p:sp>
      <p:sp>
        <p:nvSpPr>
          <p:cNvPr id="12" name="Shape 9"/>
          <p:cNvSpPr/>
          <p:nvPr/>
        </p:nvSpPr>
        <p:spPr>
          <a:xfrm>
            <a:off x="4754880" y="1645920"/>
            <a:ext cx="694944" cy="1828800"/>
          </a:xfrm>
          <a:prstGeom prst="roundRect">
            <a:avLst>
              <a:gd name="adj" fmla="val 6579"/>
            </a:avLst>
          </a:prstGeom>
          <a:solidFill>
            <a:schemeClr val="accent1"/>
          </a:solidFill>
          <a:ln w="12700">
            <a:solidFill>
              <a:schemeClr val="accent1"/>
            </a:solidFill>
            <a:prstDash val="solid"/>
          </a:ln>
        </p:spPr>
      </p:sp>
      <p:sp>
        <p:nvSpPr>
          <p:cNvPr id="13" name="Shape 10"/>
          <p:cNvSpPr/>
          <p:nvPr/>
        </p:nvSpPr>
        <p:spPr>
          <a:xfrm>
            <a:off x="5541264" y="1645920"/>
            <a:ext cx="694944" cy="822960"/>
          </a:xfrm>
          <a:prstGeom prst="roundRect">
            <a:avLst>
              <a:gd name="adj" fmla="val 6579"/>
            </a:avLst>
          </a:prstGeom>
          <a:solidFill>
            <a:schemeClr val="bg2"/>
          </a:solidFill>
          <a:ln w="9525">
            <a:solidFill>
              <a:srgbClr val="C9D2E3"/>
            </a:solidFill>
            <a:prstDash val="solid"/>
          </a:ln>
        </p:spPr>
      </p:sp>
      <p:sp>
        <p:nvSpPr>
          <p:cNvPr id="14" name="Shape 11"/>
          <p:cNvSpPr/>
          <p:nvPr/>
        </p:nvSpPr>
        <p:spPr>
          <a:xfrm>
            <a:off x="6327648" y="1645920"/>
            <a:ext cx="694944" cy="822960"/>
          </a:xfrm>
          <a:prstGeom prst="roundRect">
            <a:avLst>
              <a:gd name="adj" fmla="val 6579"/>
            </a:avLst>
          </a:prstGeom>
          <a:solidFill>
            <a:schemeClr val="bg2"/>
          </a:solidFill>
          <a:ln w="9525">
            <a:solidFill>
              <a:srgbClr val="C9D2E3"/>
            </a:solidFill>
            <a:prstDash val="solid"/>
          </a:ln>
        </p:spPr>
      </p:sp>
      <p:sp>
        <p:nvSpPr>
          <p:cNvPr id="15" name="Shape 12"/>
          <p:cNvSpPr/>
          <p:nvPr/>
        </p:nvSpPr>
        <p:spPr>
          <a:xfrm>
            <a:off x="7114032" y="1645920"/>
            <a:ext cx="694944" cy="822960"/>
          </a:xfrm>
          <a:prstGeom prst="roundRect">
            <a:avLst>
              <a:gd name="adj" fmla="val 6579"/>
            </a:avLst>
          </a:prstGeom>
          <a:solidFill>
            <a:schemeClr val="bg2"/>
          </a:solidFill>
          <a:ln w="9525">
            <a:solidFill>
              <a:srgbClr val="C9D2E3"/>
            </a:solidFill>
            <a:prstDash val="solid"/>
          </a:ln>
        </p:spPr>
      </p:sp>
      <p:sp>
        <p:nvSpPr>
          <p:cNvPr id="16" name="Shape 13"/>
          <p:cNvSpPr/>
          <p:nvPr/>
        </p:nvSpPr>
        <p:spPr>
          <a:xfrm>
            <a:off x="7900416" y="1645920"/>
            <a:ext cx="694944" cy="822960"/>
          </a:xfrm>
          <a:prstGeom prst="roundRect">
            <a:avLst>
              <a:gd name="adj" fmla="val 6579"/>
            </a:avLst>
          </a:prstGeom>
          <a:solidFill>
            <a:schemeClr val="bg2"/>
          </a:solidFill>
          <a:ln w="9525">
            <a:solidFill>
              <a:srgbClr val="C9D2E3"/>
            </a:solidFill>
            <a:prstDash val="solid"/>
          </a:ln>
        </p:spPr>
      </p:sp>
      <p:sp>
        <p:nvSpPr>
          <p:cNvPr id="17" name="Text 14"/>
          <p:cNvSpPr txBox="1"/>
          <p:nvPr/>
        </p:nvSpPr>
        <p:spPr>
          <a:xfrm>
            <a:off x="4754880" y="3611880"/>
            <a:ext cx="3931920" cy="640080"/>
          </a:xfrm>
          <a:prstGeom prst="rect">
            <a:avLst/>
          </a:prstGeom>
          <a:noFill/>
          <a:ln/>
        </p:spPr>
        <p:txBody>
          <a:bodyPr wrap="square" lIns="0" tIns="0" rIns="0" bIns="0" rtlCol="0" anchor="t"/>
          <a:lstStyle/>
          <a:p>
            <a:pPr indent="0" marL="0">
              <a:buNone/>
            </a:pPr>
            <a:r>
              <a:rPr lang="en-US" sz="1400" dirty="0">
                <a:solidFill>
                  <a:schemeClr val="tx1"/>
                </a:solidFill>
              </a:rPr>
              <a:t>Una función completa de principio a fin. Sirve para probar el uso real.</a:t>
            </a:r>
            <a:endParaRPr lang="en-US" sz="1400" dirty="0"/>
          </a:p>
        </p:txBody>
      </p:sp>
      <p:sp>
        <p:nvSpPr>
          <p:cNvPr id="18" name="Text 15"/>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400" b="1" i="1" dirty="0">
                <a:solidFill>
                  <a:schemeClr val="accent1"/>
                </a:solidFill>
              </a:rPr>
              <a:t>Nuestro v1 es vertical: Asistente IA completo, el resto del menú es placeholder.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Desechable o evolutivo</a:t>
            </a:r>
            <a:endParaRPr lang="en-US" sz="3000" dirty="0"/>
          </a:p>
        </p:txBody>
      </p:sp>
      <p:sp>
        <p:nvSpPr>
          <p:cNvPr id="4" name="Shape 1"/>
          <p:cNvSpPr/>
          <p:nvPr/>
        </p:nvSpPr>
        <p:spPr>
          <a:xfrm>
            <a:off x="457200" y="1234440"/>
            <a:ext cx="4023360" cy="2011680"/>
          </a:xfrm>
          <a:prstGeom prst="roundRect">
            <a:avLst>
              <a:gd name="adj" fmla="val 3636"/>
            </a:avLst>
          </a:prstGeom>
          <a:solidFill>
            <a:schemeClr val="bg2"/>
          </a:solidFill>
          <a:ln w="12700">
            <a:solidFill>
              <a:schemeClr val="bg2"/>
            </a:solidFill>
            <a:prstDash val="solid"/>
          </a:ln>
        </p:spPr>
      </p:sp>
      <p:sp>
        <p:nvSpPr>
          <p:cNvPr id="5" name="Shape 2"/>
          <p:cNvSpPr/>
          <p:nvPr/>
        </p:nvSpPr>
        <p:spPr>
          <a:xfrm>
            <a:off x="640080" y="1417320"/>
            <a:ext cx="457200" cy="457200"/>
          </a:xfrm>
          <a:prstGeom prst="ellipse">
            <a:avLst/>
          </a:prstGeom>
          <a:solidFill>
            <a:schemeClr val="accent4"/>
          </a:solidFill>
          <a:ln w="127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740664" y="1517904"/>
            <a:ext cx="256032" cy="256032"/>
          </a:xfrm>
          <a:prstGeom prst="rect">
            <a:avLst/>
          </a:prstGeom>
        </p:spPr>
      </p:pic>
      <p:sp>
        <p:nvSpPr>
          <p:cNvPr id="7" name="Text 3"/>
          <p:cNvSpPr txBox="1"/>
          <p:nvPr/>
        </p:nvSpPr>
        <p:spPr>
          <a:xfrm>
            <a:off x="1234440" y="13716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Desechable</a:t>
            </a:r>
            <a:endParaRPr lang="en-US" sz="1600" dirty="0"/>
          </a:p>
        </p:txBody>
      </p:sp>
      <p:sp>
        <p:nvSpPr>
          <p:cNvPr id="8" name="Text 4"/>
          <p:cNvSpPr txBox="1"/>
          <p:nvPr/>
        </p:nvSpPr>
        <p:spPr>
          <a:xfrm>
            <a:off x="640080" y="2011680"/>
            <a:ext cx="3657600" cy="1097280"/>
          </a:xfrm>
          <a:prstGeom prst="rect">
            <a:avLst/>
          </a:prstGeom>
          <a:noFill/>
          <a:ln/>
        </p:spPr>
        <p:txBody>
          <a:bodyPr wrap="square" lIns="0" tIns="0" rIns="0" bIns="0" rtlCol="0" anchor="t"/>
          <a:lstStyle/>
          <a:p>
            <a:pPr indent="0" marL="0">
              <a:buNone/>
            </a:pPr>
            <a:r>
              <a:rPr lang="en-US" sz="1400" dirty="0">
                <a:solidFill>
                  <a:schemeClr val="tx1"/>
                </a:solidFill>
              </a:rPr>
              <a:t>Se construye para aprender y luego se descarta. Se permite código rápido y datos falsos.</a:t>
            </a:r>
            <a:endParaRPr lang="en-US" sz="1400" dirty="0"/>
          </a:p>
        </p:txBody>
      </p:sp>
      <p:sp>
        <p:nvSpPr>
          <p:cNvPr id="9" name="Shape 5"/>
          <p:cNvSpPr/>
          <p:nvPr/>
        </p:nvSpPr>
        <p:spPr>
          <a:xfrm>
            <a:off x="4663440" y="1234440"/>
            <a:ext cx="4023360" cy="2011680"/>
          </a:xfrm>
          <a:prstGeom prst="roundRect">
            <a:avLst>
              <a:gd name="adj" fmla="val 3636"/>
            </a:avLst>
          </a:prstGeom>
          <a:solidFill>
            <a:schemeClr val="bg2"/>
          </a:solidFill>
          <a:ln w="12700">
            <a:solidFill>
              <a:schemeClr val="bg2"/>
            </a:solidFill>
            <a:prstDash val="solid"/>
          </a:ln>
        </p:spPr>
      </p:sp>
      <p:sp>
        <p:nvSpPr>
          <p:cNvPr id="10" name="Shape 6"/>
          <p:cNvSpPr/>
          <p:nvPr/>
        </p:nvSpPr>
        <p:spPr>
          <a:xfrm>
            <a:off x="4846320" y="141732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4946904" y="1517904"/>
            <a:ext cx="256032" cy="256032"/>
          </a:xfrm>
          <a:prstGeom prst="rect">
            <a:avLst/>
          </a:prstGeom>
        </p:spPr>
      </p:pic>
      <p:sp>
        <p:nvSpPr>
          <p:cNvPr id="12" name="Text 7"/>
          <p:cNvSpPr txBox="1"/>
          <p:nvPr/>
        </p:nvSpPr>
        <p:spPr>
          <a:xfrm>
            <a:off x="5440680" y="13716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Evolutivo</a:t>
            </a:r>
            <a:endParaRPr lang="en-US" sz="1600" dirty="0"/>
          </a:p>
        </p:txBody>
      </p:sp>
      <p:sp>
        <p:nvSpPr>
          <p:cNvPr id="13" name="Text 8"/>
          <p:cNvSpPr txBox="1"/>
          <p:nvPr/>
        </p:nvSpPr>
        <p:spPr>
          <a:xfrm>
            <a:off x="4846320" y="2011680"/>
            <a:ext cx="3657600" cy="1097280"/>
          </a:xfrm>
          <a:prstGeom prst="rect">
            <a:avLst/>
          </a:prstGeom>
          <a:noFill/>
          <a:ln/>
        </p:spPr>
        <p:txBody>
          <a:bodyPr wrap="square" lIns="0" tIns="0" rIns="0" bIns="0" rtlCol="0" anchor="t"/>
          <a:lstStyle/>
          <a:p>
            <a:pPr indent="0" marL="0">
              <a:buNone/>
            </a:pPr>
            <a:r>
              <a:rPr lang="en-US" sz="1400" dirty="0">
                <a:solidFill>
                  <a:schemeClr val="tx1"/>
                </a:solidFill>
              </a:rPr>
              <a:t>Se refina en cada ronda hasta ser el producto. Exige código mantenible desde el inicio.</a:t>
            </a:r>
            <a:endParaRPr lang="en-US" sz="1400" dirty="0"/>
          </a:p>
        </p:txBody>
      </p:sp>
      <p:sp>
        <p:nvSpPr>
          <p:cNvPr id="14" name="Text 9"/>
          <p:cNvSpPr txBox="1"/>
          <p:nvPr/>
        </p:nvSpPr>
        <p:spPr>
          <a:xfrm>
            <a:off x="457200" y="3520440"/>
            <a:ext cx="8229600" cy="822960"/>
          </a:xfrm>
          <a:prstGeom prst="rect">
            <a:avLst/>
          </a:prstGeom>
          <a:noFill/>
          <a:ln/>
        </p:spPr>
        <p:txBody>
          <a:bodyPr wrap="square" lIns="0" tIns="0" rIns="0" bIns="0" rtlCol="0" anchor="t"/>
          <a:lstStyle/>
          <a:p>
            <a:pPr indent="0" marL="0">
              <a:buNone/>
            </a:pPr>
            <a:r>
              <a:rPr lang="en-US" sz="1600" dirty="0">
                <a:solidFill>
                  <a:schemeClr val="tx1"/>
                </a:solidFill>
              </a:rPr>
              <a:t>En nuestro caso: la IA de v1 es simulada, así que la lógica se descarta. Lo que se conserva son los textos, los estados y las decisiones.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Misma pantalla, dos momentos</a:t>
            </a:r>
            <a:endParaRPr lang="en-US" sz="3000" dirty="0"/>
          </a:p>
        </p:txBody>
      </p:sp>
      <p:pic>
        <p:nvPicPr>
          <p:cNvPr id="4" name="Image 0" descr="Wireframe B de la Fase 1">    </p:cNvPr>
          <p:cNvPicPr>
            <a:picLocks noChangeAspect="1"/>
          </p:cNvPicPr>
          <p:nvPr/>
        </p:nvPicPr>
        <p:blipFill>
          <a:blip r:embed="rId1"/>
          <a:stretch>
            <a:fillRect/>
          </a:stretch>
        </p:blipFill>
        <p:spPr>
          <a:xfrm>
            <a:off x="636471" y="1188720"/>
            <a:ext cx="3573379" cy="3017520"/>
          </a:xfrm>
          <a:prstGeom prst="rect">
            <a:avLst/>
          </a:prstGeom>
        </p:spPr>
      </p:pic>
      <p:pic>
        <p:nvPicPr>
          <p:cNvPr id="5" name="Image 1" descr="Pantalla de borradores del prototipo v1">    </p:cNvPr>
          <p:cNvPicPr>
            <a:picLocks noChangeAspect="1"/>
          </p:cNvPicPr>
          <p:nvPr/>
        </p:nvPicPr>
        <p:blipFill>
          <a:blip r:embed="rId2"/>
          <a:stretch>
            <a:fillRect/>
          </a:stretch>
        </p:blipFill>
        <p:spPr>
          <a:xfrm>
            <a:off x="5071640" y="1188720"/>
            <a:ext cx="3298399" cy="3017520"/>
          </a:xfrm>
          <a:prstGeom prst="rect">
            <a:avLst/>
          </a:prstGeom>
        </p:spPr>
      </p:pic>
      <p:sp>
        <p:nvSpPr>
          <p:cNvPr id="6" name="Text 1"/>
          <p:cNvSpPr txBox="1"/>
          <p:nvPr/>
        </p:nvSpPr>
        <p:spPr>
          <a:xfrm>
            <a:off x="457200" y="4251960"/>
            <a:ext cx="3931920" cy="274320"/>
          </a:xfrm>
          <a:prstGeom prst="rect">
            <a:avLst/>
          </a:prstGeom>
          <a:noFill/>
          <a:ln/>
        </p:spPr>
        <p:txBody>
          <a:bodyPr wrap="square" lIns="0" tIns="0" rIns="0" bIns="0" rtlCol="0" anchor="ctr"/>
          <a:lstStyle/>
          <a:p>
            <a:pPr algn="ctr" indent="0" marL="0">
              <a:buNone/>
            </a:pPr>
            <a:r>
              <a:rPr lang="en-US" sz="1200" dirty="0">
                <a:solidFill>
                  <a:schemeClr val="accent6"/>
                </a:solidFill>
              </a:rPr>
              <a:t>Fase 1 · wireframe lo-fi</a:t>
            </a:r>
            <a:endParaRPr lang="en-US" sz="1200" dirty="0"/>
          </a:p>
        </p:txBody>
      </p:sp>
      <p:sp>
        <p:nvSpPr>
          <p:cNvPr id="7" name="Text 2"/>
          <p:cNvSpPr txBox="1"/>
          <p:nvPr/>
        </p:nvSpPr>
        <p:spPr>
          <a:xfrm>
            <a:off x="4754880" y="4251960"/>
            <a:ext cx="3931920" cy="274320"/>
          </a:xfrm>
          <a:prstGeom prst="rect">
            <a:avLst/>
          </a:prstGeom>
          <a:noFill/>
          <a:ln/>
        </p:spPr>
        <p:txBody>
          <a:bodyPr wrap="square" lIns="0" tIns="0" rIns="0" bIns="0" rtlCol="0" anchor="ctr"/>
          <a:lstStyle/>
          <a:p>
            <a:pPr algn="ctr" indent="0" marL="0">
              <a:buNone/>
            </a:pPr>
            <a:r>
              <a:rPr lang="en-US" sz="1200" dirty="0">
                <a:solidFill>
                  <a:schemeClr val="accent6"/>
                </a:solidFill>
              </a:rPr>
              <a:t>Fase 2 · prototipo navegable v1</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Lo que decidimos para nuestro caso</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194560"/>
                <a:gridCol w="3840480"/>
              </a:tblGrid>
              <a:tr h="502920">
                <a:tc>
                  <a:txBody>
                    <a:bodyPr/>
                    <a:lstStyle/>
                    <a:p>
                      <a:pPr indent="0" marL="0">
                        <a:buNone/>
                      </a:pPr>
                      <a:r>
                        <a:rPr lang="en-US" sz="1400" b="1" dirty="0">
                          <a:solidFill>
                            <a:schemeClr val="bg1"/>
                          </a:solidFill>
                        </a:rPr>
                        <a:t>Decisión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Elección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Por qué</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Alcance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Vertical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Probar un flujo completo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Fidelidad visual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Usa los colores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Interacción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en el flujo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Hay estados reales y errores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Vida útil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Desechable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IA es simulada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Formato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HTML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 versiona y se comparte por enlace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Errores comunes al prototipar</a:t>
            </a:r>
            <a:endParaRPr lang="en-US" sz="3000" dirty="0"/>
          </a:p>
        </p:txBody>
      </p:sp>
      <p:sp>
        <p:nvSpPr>
          <p:cNvPr id="4" name="Shape 1"/>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4"/>
          </a:solidFill>
          <a:ln w="127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Sin pregunta</a:t>
            </a:r>
            <a:endParaRPr lang="en-US" sz="1600" dirty="0"/>
          </a:p>
        </p:txBody>
      </p:sp>
      <p:sp>
        <p:nvSpPr>
          <p:cNvPr id="8" name="Text 4"/>
          <p:cNvSpPr txBox="1"/>
          <p:nvPr/>
        </p:nvSpPr>
        <p:spPr>
          <a:xfrm>
            <a:off x="640080" y="1965960"/>
            <a:ext cx="3657600" cy="594360"/>
          </a:xfrm>
          <a:prstGeom prst="rect">
            <a:avLst/>
          </a:prstGeom>
          <a:noFill/>
          <a:ln/>
        </p:spPr>
        <p:txBody>
          <a:bodyPr wrap="square" lIns="0" tIns="0" rIns="0" bIns="0" rtlCol="0" anchor="t"/>
          <a:lstStyle/>
          <a:p>
            <a:pPr indent="0" marL="0">
              <a:buNone/>
            </a:pPr>
            <a:r>
              <a:rPr lang="en-US" sz="1400" dirty="0">
                <a:solidFill>
                  <a:schemeClr val="tx1"/>
                </a:solidFill>
              </a:rPr>
              <a:t>Prototipar sin saber qué quieres aprender</a:t>
            </a:r>
            <a:endParaRPr lang="en-US" sz="1400" dirty="0"/>
          </a:p>
        </p:txBody>
      </p:sp>
      <p:sp>
        <p:nvSpPr>
          <p:cNvPr id="9" name="Shape 5"/>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10" name="Shape 6"/>
          <p:cNvSpPr/>
          <p:nvPr/>
        </p:nvSpPr>
        <p:spPr>
          <a:xfrm>
            <a:off x="4846320" y="1371600"/>
            <a:ext cx="457200" cy="457200"/>
          </a:xfrm>
          <a:prstGeom prst="ellipse">
            <a:avLst/>
          </a:prstGeom>
          <a:solidFill>
            <a:schemeClr val="accent5"/>
          </a:solidFill>
          <a:ln w="12700">
            <a:solidFill>
              <a:schemeClr val="accent5"/>
            </a:solidFill>
            <a:prstDash val="solid"/>
          </a:ln>
        </p:spPr>
      </p:sp>
      <p:pic>
        <p:nvPicPr>
          <p:cNvPr id="11" name="Image 1" descr="preencoded.png">    </p:cNvPr>
          <p:cNvPicPr>
            <a:picLocks noChangeAspect="1"/>
          </p:cNvPicPr>
          <p:nvPr/>
        </p:nvPicPr>
        <p:blipFill>
          <a:blip r:embed="rId2"/>
          <a:stretch>
            <a:fillRect/>
          </a:stretch>
        </p:blipFill>
        <p:spPr>
          <a:xfrm>
            <a:off x="4946904" y="1472184"/>
            <a:ext cx="256032" cy="256032"/>
          </a:xfrm>
          <a:prstGeom prst="rect">
            <a:avLst/>
          </a:prstGeom>
        </p:spPr>
      </p:pic>
      <p:sp>
        <p:nvSpPr>
          <p:cNvPr id="12" name="Text 7"/>
          <p:cNvSpPr txBox="1"/>
          <p:nvPr/>
        </p:nvSpPr>
        <p:spPr>
          <a:xfrm>
            <a:off x="544068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Pulir demasiado</a:t>
            </a:r>
            <a:endParaRPr lang="en-US" sz="1600" dirty="0"/>
          </a:p>
        </p:txBody>
      </p:sp>
      <p:sp>
        <p:nvSpPr>
          <p:cNvPr id="13" name="Text 8"/>
          <p:cNvSpPr txBox="1"/>
          <p:nvPr/>
        </p:nvSpPr>
        <p:spPr>
          <a:xfrm>
            <a:off x="4846320" y="1965960"/>
            <a:ext cx="3657600" cy="594360"/>
          </a:xfrm>
          <a:prstGeom prst="rect">
            <a:avLst/>
          </a:prstGeom>
          <a:noFill/>
          <a:ln/>
        </p:spPr>
        <p:txBody>
          <a:bodyPr wrap="square" lIns="0" tIns="0" rIns="0" bIns="0" rtlCol="0" anchor="t"/>
          <a:lstStyle/>
          <a:p>
            <a:pPr indent="0" marL="0">
              <a:buNone/>
            </a:pPr>
            <a:r>
              <a:rPr lang="en-US" sz="1400" dirty="0">
                <a:solidFill>
                  <a:schemeClr val="tx1"/>
                </a:solidFill>
              </a:rPr>
              <a:t>Gastar días en detalles antes de probar</a:t>
            </a:r>
            <a:endParaRPr lang="en-US" sz="1400" dirty="0"/>
          </a:p>
        </p:txBody>
      </p:sp>
      <p:sp>
        <p:nvSpPr>
          <p:cNvPr id="14" name="Shape 9"/>
          <p:cNvSpPr/>
          <p:nvPr/>
        </p:nvSpPr>
        <p:spPr>
          <a:xfrm>
            <a:off x="457200" y="2834640"/>
            <a:ext cx="4023360" cy="1508760"/>
          </a:xfrm>
          <a:prstGeom prst="roundRect">
            <a:avLst>
              <a:gd name="adj" fmla="val 4848"/>
            </a:avLst>
          </a:prstGeom>
          <a:solidFill>
            <a:schemeClr val="bg2"/>
          </a:solidFill>
          <a:ln w="12700">
            <a:solidFill>
              <a:schemeClr val="bg2"/>
            </a:solidFill>
            <a:prstDash val="solid"/>
          </a:ln>
        </p:spPr>
      </p:sp>
      <p:sp>
        <p:nvSpPr>
          <p:cNvPr id="15" name="Shape 10"/>
          <p:cNvSpPr/>
          <p:nvPr/>
        </p:nvSpPr>
        <p:spPr>
          <a:xfrm>
            <a:off x="640080" y="3017520"/>
            <a:ext cx="457200" cy="457200"/>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740664" y="3118104"/>
            <a:ext cx="256032" cy="256032"/>
          </a:xfrm>
          <a:prstGeom prst="rect">
            <a:avLst/>
          </a:prstGeom>
        </p:spPr>
      </p:pic>
      <p:sp>
        <p:nvSpPr>
          <p:cNvPr id="17" name="Text 11"/>
          <p:cNvSpPr txBox="1"/>
          <p:nvPr/>
        </p:nvSpPr>
        <p:spPr>
          <a:xfrm>
            <a:off x="1234440" y="29718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Confundirlo con producto</a:t>
            </a:r>
            <a:endParaRPr lang="en-US" sz="1600" dirty="0"/>
          </a:p>
        </p:txBody>
      </p:sp>
      <p:sp>
        <p:nvSpPr>
          <p:cNvPr id="18" name="Text 12"/>
          <p:cNvSpPr txBox="1"/>
          <p:nvPr/>
        </p:nvSpPr>
        <p:spPr>
          <a:xfrm>
            <a:off x="640080" y="3611880"/>
            <a:ext cx="3657600" cy="594360"/>
          </a:xfrm>
          <a:prstGeom prst="rect">
            <a:avLst/>
          </a:prstGeom>
          <a:noFill/>
          <a:ln/>
        </p:spPr>
        <p:txBody>
          <a:bodyPr wrap="square" lIns="0" tIns="0" rIns="0" bIns="0" rtlCol="0" anchor="t"/>
          <a:lstStyle/>
          <a:p>
            <a:pPr indent="0" marL="0">
              <a:buNone/>
            </a:pPr>
            <a:r>
              <a:rPr lang="en-US" sz="1400" dirty="0">
                <a:solidFill>
                  <a:schemeClr val="tx1"/>
                </a:solidFill>
              </a:rPr>
              <a:t>Creer que ya está listo para usarse</a:t>
            </a:r>
            <a:endParaRPr lang="en-US" sz="1400" dirty="0"/>
          </a:p>
        </p:txBody>
      </p:sp>
      <p:sp>
        <p:nvSpPr>
          <p:cNvPr id="19" name="Shape 13"/>
          <p:cNvSpPr/>
          <p:nvPr/>
        </p:nvSpPr>
        <p:spPr>
          <a:xfrm>
            <a:off x="4663440" y="2834640"/>
            <a:ext cx="4023360" cy="1508760"/>
          </a:xfrm>
          <a:prstGeom prst="roundRect">
            <a:avLst>
              <a:gd name="adj" fmla="val 4848"/>
            </a:avLst>
          </a:prstGeom>
          <a:solidFill>
            <a:schemeClr val="bg2"/>
          </a:solidFill>
          <a:ln w="12700">
            <a:solidFill>
              <a:schemeClr val="bg2"/>
            </a:solidFill>
            <a:prstDash val="solid"/>
          </a:ln>
        </p:spPr>
      </p:sp>
      <p:sp>
        <p:nvSpPr>
          <p:cNvPr id="20" name="Shape 14"/>
          <p:cNvSpPr/>
          <p:nvPr/>
        </p:nvSpPr>
        <p:spPr>
          <a:xfrm>
            <a:off x="4846320" y="3017520"/>
            <a:ext cx="457200" cy="457200"/>
          </a:xfrm>
          <a:prstGeom prst="ellipse">
            <a:avLst/>
          </a:prstGeom>
          <a:solidFill>
            <a:schemeClr val="accent6"/>
          </a:solidFill>
          <a:ln w="12700">
            <a:solidFill>
              <a:schemeClr val="accent6"/>
            </a:solidFill>
            <a:prstDash val="solid"/>
          </a:ln>
        </p:spPr>
      </p:sp>
      <p:pic>
        <p:nvPicPr>
          <p:cNvPr id="21" name="Image 3" descr="preencoded.png">    </p:cNvPr>
          <p:cNvPicPr>
            <a:picLocks noChangeAspect="1"/>
          </p:cNvPicPr>
          <p:nvPr/>
        </p:nvPicPr>
        <p:blipFill>
          <a:blip r:embed="rId4"/>
          <a:stretch>
            <a:fillRect/>
          </a:stretch>
        </p:blipFill>
        <p:spPr>
          <a:xfrm>
            <a:off x="4946904" y="3118104"/>
            <a:ext cx="256032" cy="256032"/>
          </a:xfrm>
          <a:prstGeom prst="rect">
            <a:avLst/>
          </a:prstGeom>
        </p:spPr>
      </p:pic>
      <p:sp>
        <p:nvSpPr>
          <p:cNvPr id="22" name="Text 15"/>
          <p:cNvSpPr txBox="1"/>
          <p:nvPr/>
        </p:nvSpPr>
        <p:spPr>
          <a:xfrm>
            <a:off x="5440680" y="29718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Probar tarde</a:t>
            </a:r>
            <a:endParaRPr lang="en-US" sz="1600" dirty="0"/>
          </a:p>
        </p:txBody>
      </p:sp>
      <p:sp>
        <p:nvSpPr>
          <p:cNvPr id="23" name="Text 16"/>
          <p:cNvSpPr txBox="1"/>
          <p:nvPr/>
        </p:nvSpPr>
        <p:spPr>
          <a:xfrm>
            <a:off x="4846320" y="3611880"/>
            <a:ext cx="3657600" cy="594360"/>
          </a:xfrm>
          <a:prstGeom prst="rect">
            <a:avLst/>
          </a:prstGeom>
          <a:noFill/>
          <a:ln/>
        </p:spPr>
        <p:txBody>
          <a:bodyPr wrap="square" lIns="0" tIns="0" rIns="0" bIns="0" rtlCol="0" anchor="t"/>
          <a:lstStyle/>
          <a:p>
            <a:pPr indent="0" marL="0">
              <a:buNone/>
            </a:pPr>
            <a:r>
              <a:rPr lang="en-US" sz="1400" dirty="0">
                <a:solidFill>
                  <a:schemeClr val="tx1"/>
                </a:solidFill>
              </a:rPr>
              <a:t>Dejar la prueba para el final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llevarse</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64008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4"/>
          <p:cNvSpPr txBox="1"/>
          <p:nvPr/>
        </p:nvSpPr>
        <p:spPr>
          <a:xfrm>
            <a:off x="155448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Un prototipo sirve para aprender, no para entregar.</a:t>
            </a:r>
            <a:endParaRPr lang="en-US" sz="1600" dirty="0"/>
          </a:p>
        </p:txBody>
      </p:sp>
      <p:sp>
        <p:nvSpPr>
          <p:cNvPr id="8"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9" name="Shape 6"/>
          <p:cNvSpPr/>
          <p:nvPr/>
        </p:nvSpPr>
        <p:spPr>
          <a:xfrm>
            <a:off x="4846320" y="1600200"/>
            <a:ext cx="731520" cy="731520"/>
          </a:xfrm>
          <a:prstGeom prst="ellipse">
            <a:avLst/>
          </a:prstGeom>
          <a:solidFill>
            <a:schemeClr val="accent1"/>
          </a:solidFill>
          <a:ln w="12700">
            <a:solidFill>
              <a:schemeClr val="accent1"/>
            </a:solidFill>
            <a:prstDash val="solid"/>
          </a:ln>
        </p:spPr>
      </p:sp>
      <p:sp>
        <p:nvSpPr>
          <p:cNvPr id="10" name="Text 7"/>
          <p:cNvSpPr txBox="1"/>
          <p:nvPr/>
        </p:nvSpPr>
        <p:spPr>
          <a:xfrm>
            <a:off x="484632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 8"/>
          <p:cNvSpPr txBox="1"/>
          <p:nvPr/>
        </p:nvSpPr>
        <p:spPr>
          <a:xfrm>
            <a:off x="576072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La fidelidad se elige por eje: visual, contenido e interacción.</a:t>
            </a:r>
            <a:endParaRPr lang="en-US" sz="1600" dirty="0"/>
          </a:p>
        </p:txBody>
      </p:sp>
      <p:sp>
        <p:nvSpPr>
          <p:cNvPr id="12"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3" name="Shape 10"/>
          <p:cNvSpPr/>
          <p:nvPr/>
        </p:nvSpPr>
        <p:spPr>
          <a:xfrm>
            <a:off x="640080" y="3291840"/>
            <a:ext cx="731520" cy="731520"/>
          </a:xfrm>
          <a:prstGeom prst="ellipse">
            <a:avLst/>
          </a:prstGeom>
          <a:solidFill>
            <a:schemeClr val="accent3"/>
          </a:solidFill>
          <a:ln w="12700">
            <a:solidFill>
              <a:schemeClr val="accent3"/>
            </a:solidFill>
            <a:prstDash val="solid"/>
          </a:ln>
        </p:spPr>
      </p:sp>
      <p:sp>
        <p:nvSpPr>
          <p:cNvPr id="14" name="Text 11"/>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 12"/>
          <p:cNvSpPr txBox="1"/>
          <p:nvPr/>
        </p:nvSpPr>
        <p:spPr>
          <a:xfrm>
            <a:off x="155448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Horizontal para ver alcance, vertical para probar uso.</a:t>
            </a:r>
            <a:endParaRPr lang="en-US" sz="1600" dirty="0"/>
          </a:p>
        </p:txBody>
      </p:sp>
      <p:sp>
        <p:nvSpPr>
          <p:cNvPr id="16"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17" name="Shape 14"/>
          <p:cNvSpPr/>
          <p:nvPr/>
        </p:nvSpPr>
        <p:spPr>
          <a:xfrm>
            <a:off x="4846320" y="3291840"/>
            <a:ext cx="731520" cy="731520"/>
          </a:xfrm>
          <a:prstGeom prst="ellipse">
            <a:avLst/>
          </a:prstGeom>
          <a:solidFill>
            <a:schemeClr val="accent5"/>
          </a:solidFill>
          <a:ln w="12700">
            <a:solidFill>
              <a:schemeClr val="accent5"/>
            </a:solidFill>
            <a:prstDash val="solid"/>
          </a:ln>
        </p:spPr>
      </p:sp>
      <p:sp>
        <p:nvSpPr>
          <p:cNvPr id="18" name="Text 15"/>
          <p:cNvSpPr txBox="1"/>
          <p:nvPr/>
        </p:nvSpPr>
        <p:spPr>
          <a:xfrm>
            <a:off x="484632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9" name="Text 16"/>
          <p:cNvSpPr txBox="1"/>
          <p:nvPr/>
        </p:nvSpPr>
        <p:spPr>
          <a:xfrm>
            <a:off x="576072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Siguiente: ¿con qué técnica y herramienta lo hacemos?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188720"/>
            <a:ext cx="640080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Técnicas y herramientas</a:t>
            </a:r>
            <a:endParaRPr lang="en-US" sz="4000" dirty="0"/>
          </a:p>
        </p:txBody>
      </p:sp>
      <p:sp>
        <p:nvSpPr>
          <p:cNvPr id="3" name="Text 1"/>
          <p:cNvSpPr txBox="1"/>
          <p:nvPr/>
        </p:nvSpPr>
        <p:spPr>
          <a:xfrm>
            <a:off x="548640" y="2880360"/>
            <a:ext cx="6035040" cy="822960"/>
          </a:xfrm>
          <a:prstGeom prst="rect">
            <a:avLst/>
          </a:prstGeom>
          <a:noFill/>
          <a:ln/>
        </p:spPr>
        <p:txBody>
          <a:bodyPr wrap="square" lIns="0" tIns="0" rIns="0" bIns="0" rtlCol="0" anchor="t"/>
          <a:lstStyle/>
          <a:p>
            <a:pPr indent="0" marL="0">
              <a:buNone/>
            </a:pPr>
            <a:r>
              <a:rPr lang="en-US" sz="1800" dirty="0">
                <a:solidFill>
                  <a:schemeClr val="bg2"/>
                </a:solidFill>
              </a:rPr>
              <a:t>Bloque 2 · Cómo se hace un prototipo y con qué</a:t>
            </a:r>
            <a:endParaRPr lang="en-US" sz="1800" dirty="0"/>
          </a:p>
        </p:txBody>
      </p:sp>
      <p:sp>
        <p:nvSpPr>
          <p:cNvPr id="4" name="Text 2"/>
          <p:cNvSpPr txBox="1"/>
          <p:nvPr/>
        </p:nvSpPr>
        <p:spPr>
          <a:xfrm>
            <a:off x="548640" y="4297680"/>
            <a:ext cx="6035040" cy="457200"/>
          </a:xfrm>
          <a:prstGeom prst="rect">
            <a:avLst/>
          </a:prstGeom>
          <a:noFill/>
          <a:ln/>
        </p:spPr>
        <p:txBody>
          <a:bodyPr wrap="square" lIns="0" tIns="0" rIns="0" bIns="0" rtlCol="0" anchor="ctr"/>
          <a:lstStyle/>
          <a:p>
            <a:pPr indent="0" marL="0">
              <a:buNone/>
            </a:pPr>
            <a:r>
              <a:rPr lang="en-US" sz="1200" dirty="0">
                <a:solidFill>
                  <a:schemeClr val="bg2"/>
                </a:solidFill>
              </a:rPr>
              <a:t>Erick López · Jueves 22/10/2026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Cinco técnicas de prototipado</a:t>
            </a:r>
            <a:endParaRPr lang="en-US" sz="3000" dirty="0"/>
          </a:p>
        </p:txBody>
      </p:sp>
      <p:sp>
        <p:nvSpPr>
          <p:cNvPr id="4" name="Shape 1"/>
          <p:cNvSpPr/>
          <p:nvPr/>
        </p:nvSpPr>
        <p:spPr>
          <a:xfrm>
            <a:off x="731520" y="1463040"/>
            <a:ext cx="914400" cy="914400"/>
          </a:xfrm>
          <a:prstGeom prst="ellipse">
            <a:avLst/>
          </a:prstGeom>
          <a:solidFill>
            <a:schemeClr val="accent6"/>
          </a:solidFill>
          <a:ln w="12700">
            <a:solidFill>
              <a:schemeClr val="accent6"/>
            </a:solidFill>
            <a:prstDash val="solid"/>
          </a:ln>
        </p:spPr>
      </p:sp>
      <p:pic>
        <p:nvPicPr>
          <p:cNvPr id="5" name="Image 0" descr="preencoded.png">    </p:cNvPr>
          <p:cNvPicPr>
            <a:picLocks noChangeAspect="1"/>
          </p:cNvPicPr>
          <p:nvPr/>
        </p:nvPicPr>
        <p:blipFill>
          <a:blip r:embed="rId1"/>
          <a:stretch>
            <a:fillRect/>
          </a:stretch>
        </p:blipFill>
        <p:spPr>
          <a:xfrm>
            <a:off x="1005840" y="1737360"/>
            <a:ext cx="365760" cy="365760"/>
          </a:xfrm>
          <a:prstGeom prst="rect">
            <a:avLst/>
          </a:prstGeom>
        </p:spPr>
      </p:pic>
      <p:sp>
        <p:nvSpPr>
          <p:cNvPr id="6" name="Text 2"/>
          <p:cNvSpPr txBox="1"/>
          <p:nvPr/>
        </p:nvSpPr>
        <p:spPr>
          <a:xfrm>
            <a:off x="457200" y="2560320"/>
            <a:ext cx="1463040" cy="457200"/>
          </a:xfrm>
          <a:prstGeom prst="rect">
            <a:avLst/>
          </a:prstGeom>
          <a:noFill/>
          <a:ln/>
        </p:spPr>
        <p:txBody>
          <a:bodyPr wrap="square" lIns="0" tIns="0" rIns="0" bIns="0" rtlCol="0" anchor="ctr"/>
          <a:lstStyle/>
          <a:p>
            <a:pPr algn="ctr" indent="0" marL="0">
              <a:buNone/>
            </a:pPr>
            <a:r>
              <a:rPr lang="en-US" sz="1800" b="1" dirty="0">
                <a:solidFill>
                  <a:schemeClr val="tx2"/>
                </a:solidFill>
              </a:rPr>
              <a:t>Papel</a:t>
            </a:r>
            <a:endParaRPr lang="en-US" sz="1800" dirty="0"/>
          </a:p>
        </p:txBody>
      </p:sp>
      <p:sp>
        <p:nvSpPr>
          <p:cNvPr id="7" name="Shape 3"/>
          <p:cNvSpPr/>
          <p:nvPr/>
        </p:nvSpPr>
        <p:spPr>
          <a:xfrm>
            <a:off x="2377440" y="1463040"/>
            <a:ext cx="914400" cy="91440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2651760" y="1737360"/>
            <a:ext cx="365760" cy="365760"/>
          </a:xfrm>
          <a:prstGeom prst="rect">
            <a:avLst/>
          </a:prstGeom>
        </p:spPr>
      </p:pic>
      <p:sp>
        <p:nvSpPr>
          <p:cNvPr id="9" name="Text 4"/>
          <p:cNvSpPr txBox="1"/>
          <p:nvPr/>
        </p:nvSpPr>
        <p:spPr>
          <a:xfrm>
            <a:off x="2103120" y="2560320"/>
            <a:ext cx="1463040" cy="457200"/>
          </a:xfrm>
          <a:prstGeom prst="rect">
            <a:avLst/>
          </a:prstGeom>
          <a:noFill/>
          <a:ln/>
        </p:spPr>
        <p:txBody>
          <a:bodyPr wrap="square" lIns="0" tIns="0" rIns="0" bIns="0" rtlCol="0" anchor="ctr"/>
          <a:lstStyle/>
          <a:p>
            <a:pPr algn="ctr" indent="0" marL="0">
              <a:buNone/>
            </a:pPr>
            <a:r>
              <a:rPr lang="en-US" sz="1800" b="1" dirty="0">
                <a:solidFill>
                  <a:schemeClr val="tx2"/>
                </a:solidFill>
              </a:rPr>
              <a:t>Clic a clic</a:t>
            </a:r>
            <a:endParaRPr lang="en-US" sz="1800" dirty="0"/>
          </a:p>
        </p:txBody>
      </p:sp>
      <p:sp>
        <p:nvSpPr>
          <p:cNvPr id="10" name="Shape 5"/>
          <p:cNvSpPr/>
          <p:nvPr/>
        </p:nvSpPr>
        <p:spPr>
          <a:xfrm>
            <a:off x="4023360" y="1463040"/>
            <a:ext cx="914400" cy="914400"/>
          </a:xfrm>
          <a:prstGeom prst="ellipse">
            <a:avLst/>
          </a:prstGeom>
          <a:solidFill>
            <a:schemeClr val="accent5"/>
          </a:solidFill>
          <a:ln w="12700">
            <a:solidFill>
              <a:schemeClr val="accent5"/>
            </a:solidFill>
            <a:prstDash val="solid"/>
          </a:ln>
        </p:spPr>
      </p:sp>
      <p:pic>
        <p:nvPicPr>
          <p:cNvPr id="11" name="Image 2" descr="preencoded.png">    </p:cNvPr>
          <p:cNvPicPr>
            <a:picLocks noChangeAspect="1"/>
          </p:cNvPicPr>
          <p:nvPr/>
        </p:nvPicPr>
        <p:blipFill>
          <a:blip r:embed="rId3"/>
          <a:stretch>
            <a:fillRect/>
          </a:stretch>
        </p:blipFill>
        <p:spPr>
          <a:xfrm>
            <a:off x="4297680" y="1737360"/>
            <a:ext cx="365760" cy="365760"/>
          </a:xfrm>
          <a:prstGeom prst="rect">
            <a:avLst/>
          </a:prstGeom>
        </p:spPr>
      </p:pic>
      <p:sp>
        <p:nvSpPr>
          <p:cNvPr id="12" name="Text 6"/>
          <p:cNvSpPr txBox="1"/>
          <p:nvPr/>
        </p:nvSpPr>
        <p:spPr>
          <a:xfrm>
            <a:off x="3749040" y="2560320"/>
            <a:ext cx="1463040" cy="457200"/>
          </a:xfrm>
          <a:prstGeom prst="rect">
            <a:avLst/>
          </a:prstGeom>
          <a:noFill/>
          <a:ln/>
        </p:spPr>
        <p:txBody>
          <a:bodyPr wrap="square" lIns="0" tIns="0" rIns="0" bIns="0" rtlCol="0" anchor="ctr"/>
          <a:lstStyle/>
          <a:p>
            <a:pPr algn="ctr" indent="0" marL="0">
              <a:buNone/>
            </a:pPr>
            <a:r>
              <a:rPr lang="en-US" sz="1800" b="1" dirty="0">
                <a:solidFill>
                  <a:schemeClr val="tx2"/>
                </a:solidFill>
              </a:rPr>
              <a:t>Mago de Oz</a:t>
            </a:r>
            <a:endParaRPr lang="en-US" sz="1800" dirty="0"/>
          </a:p>
        </p:txBody>
      </p:sp>
      <p:sp>
        <p:nvSpPr>
          <p:cNvPr id="13" name="Shape 7"/>
          <p:cNvSpPr/>
          <p:nvPr/>
        </p:nvSpPr>
        <p:spPr>
          <a:xfrm>
            <a:off x="5669280" y="1463040"/>
            <a:ext cx="914400" cy="914400"/>
          </a:xfrm>
          <a:prstGeom prst="ellipse">
            <a:avLst/>
          </a:prstGeom>
          <a:solidFill>
            <a:schemeClr val="accent3"/>
          </a:solidFill>
          <a:ln w="12700">
            <a:solidFill>
              <a:schemeClr val="accent3"/>
            </a:solidFill>
            <a:prstDash val="solid"/>
          </a:ln>
        </p:spPr>
      </p:sp>
      <p:pic>
        <p:nvPicPr>
          <p:cNvPr id="14" name="Image 3" descr="preencoded.png">    </p:cNvPr>
          <p:cNvPicPr>
            <a:picLocks noChangeAspect="1"/>
          </p:cNvPicPr>
          <p:nvPr/>
        </p:nvPicPr>
        <p:blipFill>
          <a:blip r:embed="rId4"/>
          <a:stretch>
            <a:fillRect/>
          </a:stretch>
        </p:blipFill>
        <p:spPr>
          <a:xfrm>
            <a:off x="5943600" y="1737360"/>
            <a:ext cx="365760" cy="365760"/>
          </a:xfrm>
          <a:prstGeom prst="rect">
            <a:avLst/>
          </a:prstGeom>
        </p:spPr>
      </p:pic>
      <p:sp>
        <p:nvSpPr>
          <p:cNvPr id="15" name="Text 8"/>
          <p:cNvSpPr txBox="1"/>
          <p:nvPr/>
        </p:nvSpPr>
        <p:spPr>
          <a:xfrm>
            <a:off x="5394960" y="2560320"/>
            <a:ext cx="1463040" cy="457200"/>
          </a:xfrm>
          <a:prstGeom prst="rect">
            <a:avLst/>
          </a:prstGeom>
          <a:noFill/>
          <a:ln/>
        </p:spPr>
        <p:txBody>
          <a:bodyPr wrap="square" lIns="0" tIns="0" rIns="0" bIns="0" rtlCol="0" anchor="ctr"/>
          <a:lstStyle/>
          <a:p>
            <a:pPr algn="ctr" indent="0" marL="0">
              <a:buNone/>
            </a:pPr>
            <a:r>
              <a:rPr lang="en-US" sz="1800" b="1" dirty="0">
                <a:solidFill>
                  <a:schemeClr val="tx2"/>
                </a:solidFill>
              </a:rPr>
              <a:t>Storyboard</a:t>
            </a:r>
            <a:endParaRPr lang="en-US" sz="1800" dirty="0"/>
          </a:p>
        </p:txBody>
      </p:sp>
      <p:sp>
        <p:nvSpPr>
          <p:cNvPr id="16" name="Shape 9"/>
          <p:cNvSpPr/>
          <p:nvPr/>
        </p:nvSpPr>
        <p:spPr>
          <a:xfrm>
            <a:off x="7315200" y="1463040"/>
            <a:ext cx="914400" cy="914400"/>
          </a:xfrm>
          <a:prstGeom prst="ellipse">
            <a:avLst/>
          </a:prstGeom>
          <a:solidFill>
            <a:schemeClr val="accent1"/>
          </a:solidFill>
          <a:ln w="12700">
            <a:solidFill>
              <a:schemeClr val="accent1"/>
            </a:solidFill>
            <a:prstDash val="solid"/>
          </a:ln>
        </p:spPr>
      </p:sp>
      <p:pic>
        <p:nvPicPr>
          <p:cNvPr id="17" name="Image 4" descr="preencoded.png">    </p:cNvPr>
          <p:cNvPicPr>
            <a:picLocks noChangeAspect="1"/>
          </p:cNvPicPr>
          <p:nvPr/>
        </p:nvPicPr>
        <p:blipFill>
          <a:blip r:embed="rId5"/>
          <a:stretch>
            <a:fillRect/>
          </a:stretch>
        </p:blipFill>
        <p:spPr>
          <a:xfrm>
            <a:off x="7589520" y="1737360"/>
            <a:ext cx="365760" cy="365760"/>
          </a:xfrm>
          <a:prstGeom prst="rect">
            <a:avLst/>
          </a:prstGeom>
        </p:spPr>
      </p:pic>
      <p:sp>
        <p:nvSpPr>
          <p:cNvPr id="18" name="Text 10"/>
          <p:cNvSpPr txBox="1"/>
          <p:nvPr/>
        </p:nvSpPr>
        <p:spPr>
          <a:xfrm>
            <a:off x="7040880" y="2560320"/>
            <a:ext cx="1463040" cy="457200"/>
          </a:xfrm>
          <a:prstGeom prst="rect">
            <a:avLst/>
          </a:prstGeom>
          <a:noFill/>
          <a:ln/>
        </p:spPr>
        <p:txBody>
          <a:bodyPr wrap="square" lIns="0" tIns="0" rIns="0" bIns="0" rtlCol="0" anchor="ctr"/>
          <a:lstStyle/>
          <a:p>
            <a:pPr algn="ctr" indent="0" marL="0">
              <a:buNone/>
            </a:pPr>
            <a:r>
              <a:rPr lang="en-US" sz="1800" b="1" dirty="0">
                <a:solidFill>
                  <a:schemeClr val="tx2"/>
                </a:solidFill>
              </a:rPr>
              <a:t>Código</a:t>
            </a:r>
            <a:endParaRPr lang="en-US" sz="1800" dirty="0"/>
          </a:p>
        </p:txBody>
      </p:sp>
      <p:sp>
        <p:nvSpPr>
          <p:cNvPr id="19" name="Text 11"/>
          <p:cNvSpPr txBox="1"/>
          <p:nvPr/>
        </p:nvSpPr>
        <p:spPr>
          <a:xfrm>
            <a:off x="457200" y="3474720"/>
            <a:ext cx="8229600" cy="548640"/>
          </a:xfrm>
          <a:prstGeom prst="rect">
            <a:avLst/>
          </a:prstGeom>
          <a:noFill/>
          <a:ln/>
        </p:spPr>
        <p:txBody>
          <a:bodyPr wrap="square" lIns="0" tIns="0" rIns="0" bIns="0" rtlCol="0" anchor="ctr"/>
          <a:lstStyle/>
          <a:p>
            <a:pPr indent="0" marL="0">
              <a:buNone/>
            </a:pPr>
            <a:r>
              <a:rPr lang="en-US" sz="1800" i="1" dirty="0">
                <a:solidFill>
                  <a:schemeClr val="tx1"/>
                </a:solidFill>
              </a:rPr>
              <a:t>Cada una responde una pregunta distinta y cuesta distinto en tiempo.</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Prototipo en papel</a:t>
            </a:r>
            <a:endParaRPr lang="en-US" sz="3000" dirty="0"/>
          </a:p>
        </p:txBody>
      </p:sp>
      <p:sp>
        <p:nvSpPr>
          <p:cNvPr id="4" name="Shape 1"/>
          <p:cNvSpPr/>
          <p:nvPr/>
        </p:nvSpPr>
        <p:spPr>
          <a:xfrm>
            <a:off x="457200" y="1188720"/>
            <a:ext cx="2651760" cy="274320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Qué es</a:t>
            </a:r>
            <a:endParaRPr lang="en-US" sz="1600" dirty="0"/>
          </a:p>
        </p:txBody>
      </p:sp>
      <p:sp>
        <p:nvSpPr>
          <p:cNvPr id="8" name="Text 4"/>
          <p:cNvSpPr txBox="1"/>
          <p:nvPr/>
        </p:nvSpPr>
        <p:spPr>
          <a:xfrm>
            <a:off x="64008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Pantallas dibujadas a mano o en pizarra. Una persona mueve las hojas según lo que toque la otra.</a:t>
            </a:r>
            <a:endParaRPr lang="en-US" sz="1500" dirty="0"/>
          </a:p>
        </p:txBody>
      </p:sp>
      <p:sp>
        <p:nvSpPr>
          <p:cNvPr id="9" name="Shape 5"/>
          <p:cNvSpPr/>
          <p:nvPr/>
        </p:nvSpPr>
        <p:spPr>
          <a:xfrm>
            <a:off x="3246120" y="1188720"/>
            <a:ext cx="2651760" cy="274320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Cuándo sirve</a:t>
            </a:r>
            <a:endParaRPr lang="en-US" sz="1600" dirty="0"/>
          </a:p>
        </p:txBody>
      </p:sp>
      <p:sp>
        <p:nvSpPr>
          <p:cNvPr id="13" name="Text 8"/>
          <p:cNvSpPr txBox="1"/>
          <p:nvPr/>
        </p:nvSpPr>
        <p:spPr>
          <a:xfrm>
            <a:off x="342900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Primeras ideas. Cambia en segundos y cualquiera puede hacerlo.</a:t>
            </a:r>
            <a:endParaRPr lang="en-US" sz="1500" dirty="0"/>
          </a:p>
        </p:txBody>
      </p:sp>
      <p:sp>
        <p:nvSpPr>
          <p:cNvPr id="14" name="Shape 9"/>
          <p:cNvSpPr/>
          <p:nvPr/>
        </p:nvSpPr>
        <p:spPr>
          <a:xfrm>
            <a:off x="6035040" y="1188720"/>
            <a:ext cx="2651760" cy="274320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Límite</a:t>
            </a:r>
            <a:endParaRPr lang="en-US" sz="1600" dirty="0"/>
          </a:p>
        </p:txBody>
      </p:sp>
      <p:sp>
        <p:nvSpPr>
          <p:cNvPr id="18" name="Text 12"/>
          <p:cNvSpPr txBox="1"/>
          <p:nvPr/>
        </p:nvSpPr>
        <p:spPr>
          <a:xfrm>
            <a:off x="621792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No muestra tiempos, errores ni diseño real.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Clic a clic</a:t>
            </a:r>
            <a:endParaRPr lang="en-US" sz="3000" dirty="0"/>
          </a:p>
        </p:txBody>
      </p:sp>
      <p:sp>
        <p:nvSpPr>
          <p:cNvPr id="4" name="Shape 1"/>
          <p:cNvSpPr/>
          <p:nvPr/>
        </p:nvSpPr>
        <p:spPr>
          <a:xfrm>
            <a:off x="457200" y="1188720"/>
            <a:ext cx="2651760" cy="274320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Qué es</a:t>
            </a:r>
            <a:endParaRPr lang="en-US" sz="1600" dirty="0"/>
          </a:p>
        </p:txBody>
      </p:sp>
      <p:sp>
        <p:nvSpPr>
          <p:cNvPr id="8" name="Text 4"/>
          <p:cNvSpPr txBox="1"/>
          <p:nvPr/>
        </p:nvSpPr>
        <p:spPr>
          <a:xfrm>
            <a:off x="64008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Imágenes de pantallas con zonas clicables que llevan a otra pantalla.</a:t>
            </a:r>
            <a:endParaRPr lang="en-US" sz="1500" dirty="0"/>
          </a:p>
        </p:txBody>
      </p:sp>
      <p:sp>
        <p:nvSpPr>
          <p:cNvPr id="9" name="Shape 5"/>
          <p:cNvSpPr/>
          <p:nvPr/>
        </p:nvSpPr>
        <p:spPr>
          <a:xfrm>
            <a:off x="3246120" y="1188720"/>
            <a:ext cx="2651760" cy="274320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Cuándo sirve</a:t>
            </a:r>
            <a:endParaRPr lang="en-US" sz="1600" dirty="0"/>
          </a:p>
        </p:txBody>
      </p:sp>
      <p:sp>
        <p:nvSpPr>
          <p:cNvPr id="13" name="Text 8"/>
          <p:cNvSpPr txBox="1"/>
          <p:nvPr/>
        </p:nvSpPr>
        <p:spPr>
          <a:xfrm>
            <a:off x="342900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Probar la navegación y el recorrido entre pantallas.</a:t>
            </a:r>
            <a:endParaRPr lang="en-US" sz="1500" dirty="0"/>
          </a:p>
        </p:txBody>
      </p:sp>
      <p:sp>
        <p:nvSpPr>
          <p:cNvPr id="14" name="Shape 9"/>
          <p:cNvSpPr/>
          <p:nvPr/>
        </p:nvSpPr>
        <p:spPr>
          <a:xfrm>
            <a:off x="6035040" y="1188720"/>
            <a:ext cx="2651760" cy="274320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Límite</a:t>
            </a:r>
            <a:endParaRPr lang="en-US" sz="1600" dirty="0"/>
          </a:p>
        </p:txBody>
      </p:sp>
      <p:sp>
        <p:nvSpPr>
          <p:cNvPr id="18" name="Text 12"/>
          <p:cNvSpPr txBox="1"/>
          <p:nvPr/>
        </p:nvSpPr>
        <p:spPr>
          <a:xfrm>
            <a:off x="621792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Todo es fijo: no hay datos que cambien ni errores reales.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Mago de Oz</a:t>
            </a:r>
            <a:endParaRPr lang="en-US" sz="3000" dirty="0"/>
          </a:p>
        </p:txBody>
      </p:sp>
      <p:sp>
        <p:nvSpPr>
          <p:cNvPr id="4" name="Shape 1"/>
          <p:cNvSpPr/>
          <p:nvPr/>
        </p:nvSpPr>
        <p:spPr>
          <a:xfrm>
            <a:off x="457200" y="1188720"/>
            <a:ext cx="2651760" cy="274320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Qué es</a:t>
            </a:r>
            <a:endParaRPr lang="en-US" sz="1600" dirty="0"/>
          </a:p>
        </p:txBody>
      </p:sp>
      <p:sp>
        <p:nvSpPr>
          <p:cNvPr id="8" name="Text 4"/>
          <p:cNvSpPr txBox="1"/>
          <p:nvPr/>
        </p:nvSpPr>
        <p:spPr>
          <a:xfrm>
            <a:off x="64008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Una persona detrás simula las respuestas del sistema sin que el participante lo note.</a:t>
            </a:r>
            <a:endParaRPr lang="en-US" sz="1500" dirty="0"/>
          </a:p>
        </p:txBody>
      </p:sp>
      <p:sp>
        <p:nvSpPr>
          <p:cNvPr id="9" name="Shape 5"/>
          <p:cNvSpPr/>
          <p:nvPr/>
        </p:nvSpPr>
        <p:spPr>
          <a:xfrm>
            <a:off x="3246120" y="1188720"/>
            <a:ext cx="2651760" cy="274320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Cuándo sirve</a:t>
            </a:r>
            <a:endParaRPr lang="en-US" sz="1600" dirty="0"/>
          </a:p>
        </p:txBody>
      </p:sp>
      <p:sp>
        <p:nvSpPr>
          <p:cNvPr id="13" name="Text 8"/>
          <p:cNvSpPr txBox="1"/>
          <p:nvPr/>
        </p:nvSpPr>
        <p:spPr>
          <a:xfrm>
            <a:off x="342900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Funciones que aún no existen, como una IA o un reconocimiento de voz.</a:t>
            </a:r>
            <a:endParaRPr lang="en-US" sz="1500" dirty="0"/>
          </a:p>
        </p:txBody>
      </p:sp>
      <p:sp>
        <p:nvSpPr>
          <p:cNvPr id="14" name="Shape 9"/>
          <p:cNvSpPr/>
          <p:nvPr/>
        </p:nvSpPr>
        <p:spPr>
          <a:xfrm>
            <a:off x="6035040" y="1188720"/>
            <a:ext cx="2651760" cy="274320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Límite</a:t>
            </a:r>
            <a:endParaRPr lang="en-US" sz="1600" dirty="0"/>
          </a:p>
        </p:txBody>
      </p:sp>
      <p:sp>
        <p:nvSpPr>
          <p:cNvPr id="18" name="Text 12"/>
          <p:cNvSpPr txBox="1"/>
          <p:nvPr/>
        </p:nvSpPr>
        <p:spPr>
          <a:xfrm>
            <a:off x="621792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Requiere ensayo y una persona activa durante toda la prueba.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Storyboard</a:t>
            </a:r>
            <a:endParaRPr lang="en-US" sz="3000" dirty="0"/>
          </a:p>
        </p:txBody>
      </p:sp>
      <p:sp>
        <p:nvSpPr>
          <p:cNvPr id="4" name="Shape 1"/>
          <p:cNvSpPr/>
          <p:nvPr/>
        </p:nvSpPr>
        <p:spPr>
          <a:xfrm>
            <a:off x="457200" y="1188720"/>
            <a:ext cx="2651760" cy="274320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3"/>
          </a:solidFill>
          <a:ln w="1270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Qué es</a:t>
            </a:r>
            <a:endParaRPr lang="en-US" sz="1600" dirty="0"/>
          </a:p>
        </p:txBody>
      </p:sp>
      <p:sp>
        <p:nvSpPr>
          <p:cNvPr id="8" name="Text 4"/>
          <p:cNvSpPr txBox="1"/>
          <p:nvPr/>
        </p:nvSpPr>
        <p:spPr>
          <a:xfrm>
            <a:off x="64008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Viñetas que cuentan una situación de uso, del problema a la solución.</a:t>
            </a:r>
            <a:endParaRPr lang="en-US" sz="1500" dirty="0"/>
          </a:p>
        </p:txBody>
      </p:sp>
      <p:sp>
        <p:nvSpPr>
          <p:cNvPr id="9" name="Shape 5"/>
          <p:cNvSpPr/>
          <p:nvPr/>
        </p:nvSpPr>
        <p:spPr>
          <a:xfrm>
            <a:off x="3246120" y="1188720"/>
            <a:ext cx="2651760" cy="274320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Cuándo sirve</a:t>
            </a:r>
            <a:endParaRPr lang="en-US" sz="1600" dirty="0"/>
          </a:p>
        </p:txBody>
      </p:sp>
      <p:sp>
        <p:nvSpPr>
          <p:cNvPr id="13" name="Text 8"/>
          <p:cNvSpPr txBox="1"/>
          <p:nvPr/>
        </p:nvSpPr>
        <p:spPr>
          <a:xfrm>
            <a:off x="342900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Explicar el contexto: quién, dónde y para qué lo usa.</a:t>
            </a:r>
            <a:endParaRPr lang="en-US" sz="1500" dirty="0"/>
          </a:p>
        </p:txBody>
      </p:sp>
      <p:sp>
        <p:nvSpPr>
          <p:cNvPr id="14" name="Shape 9"/>
          <p:cNvSpPr/>
          <p:nvPr/>
        </p:nvSpPr>
        <p:spPr>
          <a:xfrm>
            <a:off x="6035040" y="1188720"/>
            <a:ext cx="2651760" cy="274320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Límite</a:t>
            </a:r>
            <a:endParaRPr lang="en-US" sz="1600" dirty="0"/>
          </a:p>
        </p:txBody>
      </p:sp>
      <p:sp>
        <p:nvSpPr>
          <p:cNvPr id="18" name="Text 12"/>
          <p:cNvSpPr txBox="1"/>
          <p:nvPr/>
        </p:nvSpPr>
        <p:spPr>
          <a:xfrm>
            <a:off x="621792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No permite probar la interfaz, solo la idea.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Prototipo en código</a:t>
            </a:r>
            <a:endParaRPr lang="en-US" sz="3000" dirty="0"/>
          </a:p>
        </p:txBody>
      </p:sp>
      <p:sp>
        <p:nvSpPr>
          <p:cNvPr id="4" name="Shape 1"/>
          <p:cNvSpPr/>
          <p:nvPr/>
        </p:nvSpPr>
        <p:spPr>
          <a:xfrm>
            <a:off x="457200" y="1188720"/>
            <a:ext cx="2651760" cy="274320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Qué es</a:t>
            </a:r>
            <a:endParaRPr lang="en-US" sz="1600" dirty="0"/>
          </a:p>
        </p:txBody>
      </p:sp>
      <p:sp>
        <p:nvSpPr>
          <p:cNvPr id="8" name="Text 4"/>
          <p:cNvSpPr txBox="1"/>
          <p:nvPr/>
        </p:nvSpPr>
        <p:spPr>
          <a:xfrm>
            <a:off x="64008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Pantallas hechas con HTML, CSS y JavaScript que reaccionan de verdad.</a:t>
            </a:r>
            <a:endParaRPr lang="en-US" sz="1500" dirty="0"/>
          </a:p>
        </p:txBody>
      </p:sp>
      <p:sp>
        <p:nvSpPr>
          <p:cNvPr id="9" name="Shape 5"/>
          <p:cNvSpPr/>
          <p:nvPr/>
        </p:nvSpPr>
        <p:spPr>
          <a:xfrm>
            <a:off x="3246120" y="1188720"/>
            <a:ext cx="2651760" cy="274320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Cuándo sirve</a:t>
            </a:r>
            <a:endParaRPr lang="en-US" sz="1600" dirty="0"/>
          </a:p>
        </p:txBody>
      </p:sp>
      <p:sp>
        <p:nvSpPr>
          <p:cNvPr id="13" name="Text 8"/>
          <p:cNvSpPr txBox="1"/>
          <p:nvPr/>
        </p:nvSpPr>
        <p:spPr>
          <a:xfrm>
            <a:off x="342900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Probar estados, tiempos, errores y accesibilidad.</a:t>
            </a:r>
            <a:endParaRPr lang="en-US" sz="1500" dirty="0"/>
          </a:p>
        </p:txBody>
      </p:sp>
      <p:sp>
        <p:nvSpPr>
          <p:cNvPr id="14" name="Shape 9"/>
          <p:cNvSpPr/>
          <p:nvPr/>
        </p:nvSpPr>
        <p:spPr>
          <a:xfrm>
            <a:off x="6035040" y="1188720"/>
            <a:ext cx="2651760" cy="274320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Límite</a:t>
            </a:r>
            <a:endParaRPr lang="en-US" sz="1600" dirty="0"/>
          </a:p>
        </p:txBody>
      </p:sp>
      <p:sp>
        <p:nvSpPr>
          <p:cNvPr id="18" name="Text 12"/>
          <p:cNvSpPr txBox="1"/>
          <p:nvPr/>
        </p:nvSpPr>
        <p:spPr>
          <a:xfrm>
            <a:off x="6217920" y="1965960"/>
            <a:ext cx="2286000" cy="1828800"/>
          </a:xfrm>
          <a:prstGeom prst="rect">
            <a:avLst/>
          </a:prstGeom>
          <a:noFill/>
          <a:ln/>
        </p:spPr>
        <p:txBody>
          <a:bodyPr wrap="square" lIns="0" tIns="0" rIns="0" bIns="0" rtlCol="0" anchor="t"/>
          <a:lstStyle/>
          <a:p>
            <a:pPr indent="0" marL="0">
              <a:buNone/>
            </a:pPr>
            <a:r>
              <a:rPr lang="en-US" sz="1500" dirty="0">
                <a:solidFill>
                  <a:schemeClr val="tx1"/>
                </a:solidFill>
              </a:rPr>
              <a:t>Más tiempo de armado y requiere saber programar.</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Comparación de técnicas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1188720"/>
                <a:gridCol w="1280160"/>
                <a:gridCol w="1280160"/>
                <a:gridCol w="1234440"/>
                <a:gridCol w="1234440"/>
              </a:tblGrid>
              <a:tr h="502920">
                <a:tc>
                  <a:txBody>
                    <a:bodyPr/>
                    <a:lstStyle/>
                    <a:p>
                      <a:pPr indent="0" marL="0">
                        <a:buNone/>
                      </a:pP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Papel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Clic a clic</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Mago de Oz</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Storyboard</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Código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Velocidad de armado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Muy 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Realismo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Costo de cambiar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Muy bajo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Prueba estados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Poco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Sí</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Sí</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Requiere programar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veces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Sí</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Herramientas más usadas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4389120"/>
                <a:gridCol w="1645920"/>
              </a:tblGrid>
              <a:tr h="475488">
                <a:tc>
                  <a:txBody>
                    <a:bodyPr/>
                    <a:lstStyle/>
                    <a:p>
                      <a:pPr indent="0" marL="0">
                        <a:buNone/>
                      </a:pPr>
                      <a:r>
                        <a:rPr lang="en-US" sz="1400" b="1" dirty="0">
                          <a:solidFill>
                            <a:schemeClr val="bg1"/>
                          </a:solidFill>
                        </a:rPr>
                        <a:t>Herramienta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Para qué destaca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Fidelidad</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Papel o Excalidraw</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Bocetos rápidos y colaborativos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Balsamiq</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Wireframes con estilo de boceto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Figma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Diseño colaborativo y conexiones entre pantallas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Media y 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Penpot</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Alternativa abierta, basada en estándares web</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Media y 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Axure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Lógica condicional y variables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HTML, CSS y JS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Comportamiento y estados reales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Cómo elegir con cuatro preguntas</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4"/>
          </a:solidFill>
          <a:ln w="127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1. ¿Qué quiero saber?</a:t>
            </a:r>
            <a:endParaRPr lang="en-US" sz="1600" dirty="0"/>
          </a:p>
        </p:txBody>
      </p:sp>
      <p:sp>
        <p:nvSpPr>
          <p:cNvPr id="8" name="Text 4"/>
          <p:cNvSpPr txBox="1"/>
          <p:nvPr/>
        </p:nvSpPr>
        <p:spPr>
          <a:xfrm>
            <a:off x="640080" y="1965960"/>
            <a:ext cx="3657600" cy="640080"/>
          </a:xfrm>
          <a:prstGeom prst="rect">
            <a:avLst/>
          </a:prstGeom>
          <a:noFill/>
          <a:ln/>
        </p:spPr>
        <p:txBody>
          <a:bodyPr wrap="square" lIns="0" tIns="0" rIns="0" bIns="0" rtlCol="0" anchor="t"/>
          <a:lstStyle/>
          <a:p>
            <a:pPr indent="0" marL="0">
              <a:buNone/>
            </a:pPr>
            <a:r>
              <a:rPr lang="en-US" sz="1400" dirty="0">
                <a:solidFill>
                  <a:schemeClr val="tx1"/>
                </a:solidFill>
              </a:rPr>
              <a:t>La pregunta de la prueba manda.</a:t>
            </a:r>
            <a:endParaRPr lang="en-US" sz="1400" dirty="0"/>
          </a:p>
        </p:txBody>
      </p:sp>
      <p:sp>
        <p:nvSpPr>
          <p:cNvPr id="9"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10" name="Shape 6"/>
          <p:cNvSpPr/>
          <p:nvPr/>
        </p:nvSpPr>
        <p:spPr>
          <a:xfrm>
            <a:off x="4846320" y="1371600"/>
            <a:ext cx="457200" cy="45720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4946904" y="1472184"/>
            <a:ext cx="256032" cy="256032"/>
          </a:xfrm>
          <a:prstGeom prst="rect">
            <a:avLst/>
          </a:prstGeom>
        </p:spPr>
      </p:pic>
      <p:sp>
        <p:nvSpPr>
          <p:cNvPr id="12" name="Text 7"/>
          <p:cNvSpPr txBox="1"/>
          <p:nvPr/>
        </p:nvSpPr>
        <p:spPr>
          <a:xfrm>
            <a:off x="544068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2. ¿Quién lo va a probar?</a:t>
            </a:r>
            <a:endParaRPr lang="en-US" sz="1600" dirty="0"/>
          </a:p>
        </p:txBody>
      </p:sp>
      <p:sp>
        <p:nvSpPr>
          <p:cNvPr id="13" name="Text 8"/>
          <p:cNvSpPr txBox="1"/>
          <p:nvPr/>
        </p:nvSpPr>
        <p:spPr>
          <a:xfrm>
            <a:off x="4846320" y="1965960"/>
            <a:ext cx="3657600" cy="640080"/>
          </a:xfrm>
          <a:prstGeom prst="rect">
            <a:avLst/>
          </a:prstGeom>
          <a:noFill/>
          <a:ln/>
        </p:spPr>
        <p:txBody>
          <a:bodyPr wrap="square" lIns="0" tIns="0" rIns="0" bIns="0" rtlCol="0" anchor="t"/>
          <a:lstStyle/>
          <a:p>
            <a:pPr indent="0" marL="0">
              <a:buNone/>
            </a:pPr>
            <a:r>
              <a:rPr lang="en-US" sz="1400" dirty="0">
                <a:solidFill>
                  <a:schemeClr val="tx1"/>
                </a:solidFill>
              </a:rPr>
              <a:t>Compañeros, usuarios reales o el equipo.</a:t>
            </a:r>
            <a:endParaRPr lang="en-US" sz="1400" dirty="0"/>
          </a:p>
        </p:txBody>
      </p:sp>
      <p:sp>
        <p:nvSpPr>
          <p:cNvPr id="14"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5" name="Shape 10"/>
          <p:cNvSpPr/>
          <p:nvPr/>
        </p:nvSpPr>
        <p:spPr>
          <a:xfrm>
            <a:off x="640080" y="3063240"/>
            <a:ext cx="457200" cy="457200"/>
          </a:xfrm>
          <a:prstGeom prst="ellipse">
            <a:avLst/>
          </a:prstGeom>
          <a:solidFill>
            <a:schemeClr val="accent5"/>
          </a:solidFill>
          <a:ln w="12700">
            <a:solidFill>
              <a:schemeClr val="accent5"/>
            </a:solidFill>
            <a:prstDash val="solid"/>
          </a:ln>
        </p:spPr>
      </p:sp>
      <p:pic>
        <p:nvPicPr>
          <p:cNvPr id="16" name="Image 2" descr="preencoded.png">    </p:cNvPr>
          <p:cNvPicPr>
            <a:picLocks noChangeAspect="1"/>
          </p:cNvPicPr>
          <p:nvPr/>
        </p:nvPicPr>
        <p:blipFill>
          <a:blip r:embed="rId3"/>
          <a:stretch>
            <a:fillRect/>
          </a:stretch>
        </p:blipFill>
        <p:spPr>
          <a:xfrm>
            <a:off x="740664" y="3163824"/>
            <a:ext cx="256032" cy="256032"/>
          </a:xfrm>
          <a:prstGeom prst="rect">
            <a:avLst/>
          </a:prstGeom>
        </p:spPr>
      </p:pic>
      <p:sp>
        <p:nvSpPr>
          <p:cNvPr id="17" name="Text 11"/>
          <p:cNvSpPr txBox="1"/>
          <p:nvPr/>
        </p:nvSpPr>
        <p:spPr>
          <a:xfrm>
            <a:off x="1234440" y="301752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3. ¿Cuánto tiempo hay?</a:t>
            </a:r>
            <a:endParaRPr lang="en-US" sz="1600" dirty="0"/>
          </a:p>
        </p:txBody>
      </p:sp>
      <p:sp>
        <p:nvSpPr>
          <p:cNvPr id="18" name="Text 12"/>
          <p:cNvSpPr txBox="1"/>
          <p:nvPr/>
        </p:nvSpPr>
        <p:spPr>
          <a:xfrm>
            <a:off x="640080" y="3657600"/>
            <a:ext cx="3657600" cy="640080"/>
          </a:xfrm>
          <a:prstGeom prst="rect">
            <a:avLst/>
          </a:prstGeom>
          <a:noFill/>
          <a:ln/>
        </p:spPr>
        <p:txBody>
          <a:bodyPr wrap="square" lIns="0" tIns="0" rIns="0" bIns="0" rtlCol="0" anchor="t"/>
          <a:lstStyle/>
          <a:p>
            <a:pPr indent="0" marL="0">
              <a:buNone/>
            </a:pPr>
            <a:r>
              <a:rPr lang="en-US" sz="1400" dirty="0">
                <a:solidFill>
                  <a:schemeClr val="tx1"/>
                </a:solidFill>
              </a:rPr>
              <a:t>Papel en una hora, código en días.</a:t>
            </a:r>
            <a:endParaRPr lang="en-US" sz="1400" dirty="0"/>
          </a:p>
        </p:txBody>
      </p:sp>
      <p:sp>
        <p:nvSpPr>
          <p:cNvPr id="19"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20" name="Shape 14"/>
          <p:cNvSpPr/>
          <p:nvPr/>
        </p:nvSpPr>
        <p:spPr>
          <a:xfrm>
            <a:off x="4846320" y="3063240"/>
            <a:ext cx="457200" cy="457200"/>
          </a:xfrm>
          <a:prstGeom prst="ellipse">
            <a:avLst/>
          </a:prstGeom>
          <a:solidFill>
            <a:schemeClr val="accent3"/>
          </a:solidFill>
          <a:ln w="12700">
            <a:solidFill>
              <a:schemeClr val="accent3"/>
            </a:solidFill>
            <a:prstDash val="solid"/>
          </a:ln>
        </p:spPr>
      </p:sp>
      <p:pic>
        <p:nvPicPr>
          <p:cNvPr id="21" name="Image 3" descr="preencoded.png">    </p:cNvPr>
          <p:cNvPicPr>
            <a:picLocks noChangeAspect="1"/>
          </p:cNvPicPr>
          <p:nvPr/>
        </p:nvPicPr>
        <p:blipFill>
          <a:blip r:embed="rId4"/>
          <a:stretch>
            <a:fillRect/>
          </a:stretch>
        </p:blipFill>
        <p:spPr>
          <a:xfrm>
            <a:off x="4946904" y="3163824"/>
            <a:ext cx="256032" cy="256032"/>
          </a:xfrm>
          <a:prstGeom prst="rect">
            <a:avLst/>
          </a:prstGeom>
        </p:spPr>
      </p:pic>
      <p:sp>
        <p:nvSpPr>
          <p:cNvPr id="22" name="Text 15"/>
          <p:cNvSpPr txBox="1"/>
          <p:nvPr/>
        </p:nvSpPr>
        <p:spPr>
          <a:xfrm>
            <a:off x="5440680" y="301752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4. ¿Necesito estados o datos?</a:t>
            </a:r>
            <a:endParaRPr lang="en-US" sz="1600" dirty="0"/>
          </a:p>
        </p:txBody>
      </p:sp>
      <p:sp>
        <p:nvSpPr>
          <p:cNvPr id="23" name="Text 16"/>
          <p:cNvSpPr txBox="1"/>
          <p:nvPr/>
        </p:nvSpPr>
        <p:spPr>
          <a:xfrm>
            <a:off x="4846320" y="3657600"/>
            <a:ext cx="3657600" cy="640080"/>
          </a:xfrm>
          <a:prstGeom prst="rect">
            <a:avLst/>
          </a:prstGeom>
          <a:noFill/>
          <a:ln/>
        </p:spPr>
        <p:txBody>
          <a:bodyPr wrap="square" lIns="0" tIns="0" rIns="0" bIns="0" rtlCol="0" anchor="t"/>
          <a:lstStyle/>
          <a:p>
            <a:pPr indent="0" marL="0">
              <a:buNone/>
            </a:pPr>
            <a:r>
              <a:rPr lang="en-US" sz="1400" dirty="0">
                <a:solidFill>
                  <a:schemeClr val="tx1"/>
                </a:solidFill>
              </a:rPr>
              <a:t>Si hay carga y errores, mejor código.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Por qué elegimos HTML</a:t>
            </a:r>
            <a:endParaRPr lang="en-US" sz="3000" dirty="0"/>
          </a:p>
        </p:txBody>
      </p:sp>
      <p:sp>
        <p:nvSpPr>
          <p:cNvPr id="4" name="Text 1"/>
          <p:cNvSpPr txBox="1"/>
          <p:nvPr/>
        </p:nvSpPr>
        <p:spPr>
          <a:xfrm>
            <a:off x="457200" y="1188720"/>
            <a:ext cx="4023360" cy="365760"/>
          </a:xfrm>
          <a:prstGeom prst="rect">
            <a:avLst/>
          </a:prstGeom>
          <a:noFill/>
          <a:ln/>
        </p:spPr>
        <p:txBody>
          <a:bodyPr wrap="square" lIns="0" tIns="0" rIns="0" bIns="0" rtlCol="0" anchor="ctr"/>
          <a:lstStyle/>
          <a:p>
            <a:pPr indent="0" marL="0">
              <a:buNone/>
            </a:pPr>
            <a:r>
              <a:rPr lang="en-US" sz="1800" b="1" dirty="0">
                <a:solidFill>
                  <a:schemeClr val="accent3"/>
                </a:solidFill>
              </a:rPr>
              <a:t>A favor</a:t>
            </a:r>
            <a:endParaRPr lang="en-US" sz="1800" dirty="0"/>
          </a:p>
        </p:txBody>
      </p:sp>
      <p:sp>
        <p:nvSpPr>
          <p:cNvPr id="5" name="Text 2"/>
          <p:cNvSpPr txBox="1"/>
          <p:nvPr/>
        </p:nvSpPr>
        <p:spPr>
          <a:xfrm>
            <a:off x="457200" y="1645920"/>
            <a:ext cx="402336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Se versiona en git con el resto del proyecto.</a:t>
            </a:r>
            <a:endParaRPr lang="en-US" sz="1600" dirty="0"/>
          </a:p>
          <a:p>
            <a:pPr marL="342900" indent="-342900">
              <a:spcAft>
                <a:spcPts val="600"/>
              </a:spcAft>
              <a:buSzPct val="100000"/>
              <a:buChar char="•"/>
            </a:pPr>
            <a:r>
              <a:rPr lang="en-US" sz="1600" dirty="0">
                <a:solidFill>
                  <a:schemeClr val="tx1"/>
                </a:solidFill>
              </a:rPr>
              <a:t>Se comparte con un enlace, sin cuentas.</a:t>
            </a:r>
            <a:endParaRPr lang="en-US" sz="1600" dirty="0"/>
          </a:p>
          <a:p>
            <a:pPr marL="342900" indent="-342900">
              <a:spcAft>
                <a:spcPts val="600"/>
              </a:spcAft>
              <a:buSzPct val="100000"/>
              <a:buChar char="•"/>
            </a:pPr>
            <a:r>
              <a:rPr lang="en-US" sz="1600" dirty="0">
                <a:solidFill>
                  <a:schemeClr val="tx1"/>
                </a:solidFill>
              </a:rPr>
              <a:t>Tiene cargando, error y éxito de verdad.</a:t>
            </a:r>
            <a:endParaRPr lang="en-US" sz="1600" dirty="0"/>
          </a:p>
          <a:p>
            <a:pPr marL="342900" indent="-342900">
              <a:spcAft>
                <a:spcPts val="600"/>
              </a:spcAft>
              <a:buSzPct val="100000"/>
              <a:buChar char="•"/>
            </a:pPr>
            <a:r>
              <a:rPr lang="en-US" sz="1600" dirty="0">
                <a:solidFill>
                  <a:schemeClr val="tx1"/>
                </a:solidFill>
              </a:rPr>
              <a:t>Registra clics y tiempos para la prueba.</a:t>
            </a:r>
            <a:endParaRPr lang="en-US" sz="1600" dirty="0"/>
          </a:p>
          <a:p>
            <a:pPr marL="342900" indent="-342900">
              <a:spcAft>
                <a:spcPts val="600"/>
              </a:spcAft>
              <a:buSzPct val="100000"/>
              <a:buChar char="•"/>
            </a:pPr>
            <a:r>
              <a:rPr lang="en-US" sz="1600" dirty="0">
                <a:solidFill>
                  <a:schemeClr val="tx1"/>
                </a:solidFill>
              </a:rPr>
              <a:t>Se revisa con herramientas de accesibilidad.</a:t>
            </a:r>
            <a:endParaRPr lang="en-US" sz="1600" dirty="0"/>
          </a:p>
        </p:txBody>
      </p:sp>
      <p:sp>
        <p:nvSpPr>
          <p:cNvPr id="6" name="Text 3"/>
          <p:cNvSpPr txBox="1"/>
          <p:nvPr/>
        </p:nvSpPr>
        <p:spPr>
          <a:xfrm>
            <a:off x="4754880" y="1188720"/>
            <a:ext cx="3931920" cy="365760"/>
          </a:xfrm>
          <a:prstGeom prst="rect">
            <a:avLst/>
          </a:prstGeom>
          <a:noFill/>
          <a:ln/>
        </p:spPr>
        <p:txBody>
          <a:bodyPr wrap="square" lIns="0" tIns="0" rIns="0" bIns="0" rtlCol="0" anchor="ctr"/>
          <a:lstStyle/>
          <a:p>
            <a:pPr indent="0" marL="0">
              <a:buNone/>
            </a:pPr>
            <a:r>
              <a:rPr lang="en-US" sz="1800" b="1" dirty="0">
                <a:solidFill>
                  <a:schemeClr val="accent4"/>
                </a:solidFill>
              </a:rPr>
              <a:t>En contra</a:t>
            </a:r>
            <a:endParaRPr lang="en-US" sz="1800" dirty="0"/>
          </a:p>
        </p:txBody>
      </p:sp>
      <p:sp>
        <p:nvSpPr>
          <p:cNvPr id="7" name="Text 4"/>
          <p:cNvSpPr txBox="1"/>
          <p:nvPr/>
        </p:nvSpPr>
        <p:spPr>
          <a:xfrm>
            <a:off x="4754880" y="1645920"/>
            <a:ext cx="39319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Más lento que dibujar.</a:t>
            </a:r>
            <a:endParaRPr lang="en-US" sz="1500" dirty="0"/>
          </a:p>
          <a:p>
            <a:pPr marL="342900" indent="-342900">
              <a:spcAft>
                <a:spcPts val="600"/>
              </a:spcAft>
              <a:buSzPct val="100000"/>
              <a:buChar char="•"/>
            </a:pPr>
            <a:r>
              <a:rPr lang="en-US" sz="1500" dirty="0">
                <a:solidFill>
                  <a:schemeClr val="tx1"/>
                </a:solidFill>
              </a:rPr>
              <a:t>No se edita con arrastrar y soltar.</a:t>
            </a:r>
            <a:endParaRPr lang="en-US" sz="1500" dirty="0"/>
          </a:p>
          <a:p>
            <a:pPr marL="342900" indent="-342900">
              <a:spcAft>
                <a:spcPts val="600"/>
              </a:spcAft>
              <a:buSzPct val="100000"/>
              <a:buChar char="•"/>
            </a:pPr>
            <a:r>
              <a:rPr lang="en-US" sz="1500" dirty="0">
                <a:solidFill>
                  <a:schemeClr val="tx1"/>
                </a:solidFill>
              </a:rPr>
              <a:t>Exige saber programar.</a:t>
            </a:r>
            <a:endParaRPr lang="en-US" sz="1500" dirty="0"/>
          </a:p>
        </p:txBody>
      </p:sp>
      <p:sp>
        <p:nvSpPr>
          <p:cNvPr id="8" name="Text 5"/>
          <p:cNvSpPr txBox="1"/>
          <p:nvPr/>
        </p:nvSpPr>
        <p:spPr>
          <a:xfrm>
            <a:off x="4754880" y="3383280"/>
            <a:ext cx="3931920" cy="822960"/>
          </a:xfrm>
          <a:prstGeom prst="rect">
            <a:avLst/>
          </a:prstGeom>
          <a:noFill/>
          <a:ln/>
        </p:spPr>
        <p:txBody>
          <a:bodyPr wrap="square" lIns="0" tIns="0" rIns="0" bIns="0" rtlCol="0" anchor="t"/>
          <a:lstStyle/>
          <a:p>
            <a:pPr indent="0" marL="0">
              <a:buNone/>
            </a:pPr>
            <a:r>
              <a:rPr lang="en-US" sz="1500" b="1" i="1" dirty="0">
                <a:solidFill>
                  <a:schemeClr val="accent1"/>
                </a:solidFill>
              </a:rPr>
              <a:t>Aceptamos el costo porque la pregunta lo exige.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Cómo está armado nuestro prototipo</a:t>
            </a:r>
            <a:endParaRPr lang="en-US" sz="3000" dirty="0"/>
          </a:p>
        </p:txBody>
      </p:sp>
      <p:sp>
        <p:nvSpPr>
          <p:cNvPr id="4" name="Shape 1"/>
          <p:cNvSpPr/>
          <p:nvPr/>
        </p:nvSpPr>
        <p:spPr>
          <a:xfrm>
            <a:off x="457200" y="1188720"/>
            <a:ext cx="2651760" cy="2011680"/>
          </a:xfrm>
          <a:prstGeom prst="roundRect">
            <a:avLst>
              <a:gd name="adj" fmla="val 3636"/>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index.html</a:t>
            </a:r>
            <a:endParaRPr lang="en-US" sz="1600" dirty="0"/>
          </a:p>
        </p:txBody>
      </p:sp>
      <p:sp>
        <p:nvSpPr>
          <p:cNvPr id="8" name="Text 4"/>
          <p:cNvSpPr txBox="1"/>
          <p:nvPr/>
        </p:nvSpPr>
        <p:spPr>
          <a:xfrm>
            <a:off x="640080" y="1965960"/>
            <a:ext cx="2286000" cy="1097280"/>
          </a:xfrm>
          <a:prstGeom prst="rect">
            <a:avLst/>
          </a:prstGeom>
          <a:noFill/>
          <a:ln/>
        </p:spPr>
        <p:txBody>
          <a:bodyPr wrap="square" lIns="0" tIns="0" rIns="0" bIns="0" rtlCol="0" anchor="t"/>
          <a:lstStyle/>
          <a:p>
            <a:pPr indent="0" marL="0">
              <a:buNone/>
            </a:pPr>
            <a:r>
              <a:rPr lang="en-US" sz="1400" dirty="0">
                <a:solidFill>
                  <a:schemeClr val="tx1"/>
                </a:solidFill>
              </a:rPr>
              <a:t>Estructura: menú, contenido principal y avisos.</a:t>
            </a:r>
            <a:endParaRPr lang="en-US" sz="1400" dirty="0"/>
          </a:p>
        </p:txBody>
      </p:sp>
      <p:sp>
        <p:nvSpPr>
          <p:cNvPr id="9" name="Shape 5"/>
          <p:cNvSpPr/>
          <p:nvPr/>
        </p:nvSpPr>
        <p:spPr>
          <a:xfrm>
            <a:off x="3291840" y="1188720"/>
            <a:ext cx="2651760" cy="2011680"/>
          </a:xfrm>
          <a:prstGeom prst="roundRect">
            <a:avLst>
              <a:gd name="adj" fmla="val 3636"/>
            </a:avLst>
          </a:prstGeom>
          <a:solidFill>
            <a:schemeClr val="bg2"/>
          </a:solidFill>
          <a:ln w="12700">
            <a:solidFill>
              <a:schemeClr val="bg2"/>
            </a:solidFill>
            <a:prstDash val="solid"/>
          </a:ln>
        </p:spPr>
      </p:sp>
      <p:sp>
        <p:nvSpPr>
          <p:cNvPr id="10" name="Shape 6"/>
          <p:cNvSpPr/>
          <p:nvPr/>
        </p:nvSpPr>
        <p:spPr>
          <a:xfrm>
            <a:off x="3474720" y="137160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575304" y="1472184"/>
            <a:ext cx="256032" cy="256032"/>
          </a:xfrm>
          <a:prstGeom prst="rect">
            <a:avLst/>
          </a:prstGeom>
        </p:spPr>
      </p:pic>
      <p:sp>
        <p:nvSpPr>
          <p:cNvPr id="12" name="Text 7"/>
          <p:cNvSpPr txBox="1"/>
          <p:nvPr/>
        </p:nvSpPr>
        <p:spPr>
          <a:xfrm>
            <a:off x="40690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estilos.css</a:t>
            </a:r>
            <a:endParaRPr lang="en-US" sz="1600" dirty="0"/>
          </a:p>
        </p:txBody>
      </p:sp>
      <p:sp>
        <p:nvSpPr>
          <p:cNvPr id="13" name="Text 8"/>
          <p:cNvSpPr txBox="1"/>
          <p:nvPr/>
        </p:nvSpPr>
        <p:spPr>
          <a:xfrm>
            <a:off x="3474720" y="1965960"/>
            <a:ext cx="2286000" cy="1097280"/>
          </a:xfrm>
          <a:prstGeom prst="rect">
            <a:avLst/>
          </a:prstGeom>
          <a:noFill/>
          <a:ln/>
        </p:spPr>
        <p:txBody>
          <a:bodyPr wrap="square" lIns="0" tIns="0" rIns="0" bIns="0" rtlCol="0" anchor="t"/>
          <a:lstStyle/>
          <a:p>
            <a:pPr indent="0" marL="0">
              <a:buNone/>
            </a:pPr>
            <a:r>
              <a:rPr lang="en-US" sz="1400" dirty="0">
                <a:solidFill>
                  <a:schemeClr val="tx1"/>
                </a:solidFill>
              </a:rPr>
              <a:t>Colores de la app real y estados de botones.</a:t>
            </a:r>
            <a:endParaRPr lang="en-US" sz="1400" dirty="0"/>
          </a:p>
        </p:txBody>
      </p:sp>
      <p:sp>
        <p:nvSpPr>
          <p:cNvPr id="14" name="Shape 9"/>
          <p:cNvSpPr/>
          <p:nvPr/>
        </p:nvSpPr>
        <p:spPr>
          <a:xfrm>
            <a:off x="6126480" y="1188720"/>
            <a:ext cx="2651760" cy="2011680"/>
          </a:xfrm>
          <a:prstGeom prst="roundRect">
            <a:avLst>
              <a:gd name="adj" fmla="val 3636"/>
            </a:avLst>
          </a:prstGeom>
          <a:solidFill>
            <a:schemeClr val="bg2"/>
          </a:solidFill>
          <a:ln w="12700">
            <a:solidFill>
              <a:schemeClr val="bg2"/>
            </a:solidFill>
            <a:prstDash val="solid"/>
          </a:ln>
        </p:spPr>
      </p:sp>
      <p:sp>
        <p:nvSpPr>
          <p:cNvPr id="15" name="Shape 10"/>
          <p:cNvSpPr/>
          <p:nvPr/>
        </p:nvSpPr>
        <p:spPr>
          <a:xfrm>
            <a:off x="6309360" y="1371600"/>
            <a:ext cx="457200" cy="45720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6409944" y="1472184"/>
            <a:ext cx="256032" cy="256032"/>
          </a:xfrm>
          <a:prstGeom prst="rect">
            <a:avLst/>
          </a:prstGeom>
        </p:spPr>
      </p:pic>
      <p:sp>
        <p:nvSpPr>
          <p:cNvPr id="17" name="Text 11"/>
          <p:cNvSpPr txBox="1"/>
          <p:nvPr/>
        </p:nvSpPr>
        <p:spPr>
          <a:xfrm>
            <a:off x="690372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app.js</a:t>
            </a:r>
            <a:endParaRPr lang="en-US" sz="1600" dirty="0"/>
          </a:p>
        </p:txBody>
      </p:sp>
      <p:sp>
        <p:nvSpPr>
          <p:cNvPr id="18" name="Text 12"/>
          <p:cNvSpPr txBox="1"/>
          <p:nvPr/>
        </p:nvSpPr>
        <p:spPr>
          <a:xfrm>
            <a:off x="6309360" y="1965960"/>
            <a:ext cx="2286000" cy="1097280"/>
          </a:xfrm>
          <a:prstGeom prst="rect">
            <a:avLst/>
          </a:prstGeom>
          <a:noFill/>
          <a:ln/>
        </p:spPr>
        <p:txBody>
          <a:bodyPr wrap="square" lIns="0" tIns="0" rIns="0" bIns="0" rtlCol="0" anchor="t"/>
          <a:lstStyle/>
          <a:p>
            <a:pPr indent="0" marL="0">
              <a:buNone/>
            </a:pPr>
            <a:r>
              <a:rPr lang="en-US" sz="1400" dirty="0">
                <a:solidFill>
                  <a:schemeClr val="tx1"/>
                </a:solidFill>
              </a:rPr>
              <a:t>Navegación, IA simulada y registro de la prueba.</a:t>
            </a:r>
            <a:endParaRPr lang="en-US" sz="1400" dirty="0"/>
          </a:p>
        </p:txBody>
      </p:sp>
      <p:sp>
        <p:nvSpPr>
          <p:cNvPr id="19" name="Text 13"/>
          <p:cNvSpPr txBox="1"/>
          <p:nvPr/>
        </p:nvSpPr>
        <p:spPr>
          <a:xfrm>
            <a:off x="457200" y="342900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Rutas con hash: #/observaciones, #/asistente, #/borradores.</a:t>
            </a:r>
            <a:endParaRPr lang="en-US" sz="1600" dirty="0"/>
          </a:p>
          <a:p>
            <a:pPr marL="342900" indent="-342900">
              <a:spcAft>
                <a:spcPts val="600"/>
              </a:spcAft>
              <a:buSzPct val="100000"/>
              <a:buChar char="•"/>
            </a:pPr>
            <a:r>
              <a:rPr lang="en-US" sz="1600" dirty="0">
                <a:solidFill>
                  <a:schemeClr val="tx1"/>
                </a:solidFill>
              </a:rPr>
              <a:t>Modo observador con F2 para registrar la prueba.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llevarse</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64008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4"/>
          <p:cNvSpPr txBox="1"/>
          <p:nvPr/>
        </p:nvSpPr>
        <p:spPr>
          <a:xfrm>
            <a:off x="155448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Cinco técnicas: papel, clic a clic, Mago de Oz, storyboard y código.</a:t>
            </a:r>
            <a:endParaRPr lang="en-US" sz="1600" dirty="0"/>
          </a:p>
        </p:txBody>
      </p:sp>
      <p:sp>
        <p:nvSpPr>
          <p:cNvPr id="8"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9" name="Shape 6"/>
          <p:cNvSpPr/>
          <p:nvPr/>
        </p:nvSpPr>
        <p:spPr>
          <a:xfrm>
            <a:off x="4846320" y="1600200"/>
            <a:ext cx="731520" cy="731520"/>
          </a:xfrm>
          <a:prstGeom prst="ellipse">
            <a:avLst/>
          </a:prstGeom>
          <a:solidFill>
            <a:schemeClr val="accent1"/>
          </a:solidFill>
          <a:ln w="12700">
            <a:solidFill>
              <a:schemeClr val="accent1"/>
            </a:solidFill>
            <a:prstDash val="solid"/>
          </a:ln>
        </p:spPr>
      </p:sp>
      <p:sp>
        <p:nvSpPr>
          <p:cNvPr id="10" name="Text 7"/>
          <p:cNvSpPr txBox="1"/>
          <p:nvPr/>
        </p:nvSpPr>
        <p:spPr>
          <a:xfrm>
            <a:off x="484632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 8"/>
          <p:cNvSpPr txBox="1"/>
          <p:nvPr/>
        </p:nvSpPr>
        <p:spPr>
          <a:xfrm>
            <a:off x="576072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La herramienta se elige con la pregunta de la prueba, no al revés.</a:t>
            </a:r>
            <a:endParaRPr lang="en-US" sz="1600" dirty="0"/>
          </a:p>
        </p:txBody>
      </p:sp>
      <p:sp>
        <p:nvSpPr>
          <p:cNvPr id="12"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3" name="Shape 10"/>
          <p:cNvSpPr/>
          <p:nvPr/>
        </p:nvSpPr>
        <p:spPr>
          <a:xfrm>
            <a:off x="640080" y="3291840"/>
            <a:ext cx="731520" cy="731520"/>
          </a:xfrm>
          <a:prstGeom prst="ellipse">
            <a:avLst/>
          </a:prstGeom>
          <a:solidFill>
            <a:schemeClr val="accent3"/>
          </a:solidFill>
          <a:ln w="12700">
            <a:solidFill>
              <a:schemeClr val="accent3"/>
            </a:solidFill>
            <a:prstDash val="solid"/>
          </a:ln>
        </p:spPr>
      </p:sp>
      <p:sp>
        <p:nvSpPr>
          <p:cNvPr id="14" name="Text 11"/>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 12"/>
          <p:cNvSpPr txBox="1"/>
          <p:nvPr/>
        </p:nvSpPr>
        <p:spPr>
          <a:xfrm>
            <a:off x="155448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Elegimos HTML porque necesitamos estados reales y versionado.</a:t>
            </a:r>
            <a:endParaRPr lang="en-US" sz="1600" dirty="0"/>
          </a:p>
        </p:txBody>
      </p:sp>
      <p:sp>
        <p:nvSpPr>
          <p:cNvPr id="16"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17" name="Shape 14"/>
          <p:cNvSpPr/>
          <p:nvPr/>
        </p:nvSpPr>
        <p:spPr>
          <a:xfrm>
            <a:off x="4846320" y="3291840"/>
            <a:ext cx="731520" cy="731520"/>
          </a:xfrm>
          <a:prstGeom prst="ellipse">
            <a:avLst/>
          </a:prstGeom>
          <a:solidFill>
            <a:schemeClr val="accent5"/>
          </a:solidFill>
          <a:ln w="12700">
            <a:solidFill>
              <a:schemeClr val="accent5"/>
            </a:solidFill>
            <a:prstDash val="solid"/>
          </a:ln>
        </p:spPr>
      </p:sp>
      <p:sp>
        <p:nvSpPr>
          <p:cNvPr id="18" name="Text 15"/>
          <p:cNvSpPr txBox="1"/>
          <p:nvPr/>
        </p:nvSpPr>
        <p:spPr>
          <a:xfrm>
            <a:off x="484632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9" name="Text 16"/>
          <p:cNvSpPr txBox="1"/>
          <p:nvPr/>
        </p:nvSpPr>
        <p:spPr>
          <a:xfrm>
            <a:off x="576072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Siguiente: del wireframe al prototipo y la prueba en vivo.</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1188720"/>
            <a:ext cx="640080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Del wireframe al prototipo navegable</a:t>
            </a:r>
            <a:endParaRPr lang="en-US" sz="4000" dirty="0"/>
          </a:p>
        </p:txBody>
      </p:sp>
      <p:sp>
        <p:nvSpPr>
          <p:cNvPr id="3" name="Text 1"/>
          <p:cNvSpPr txBox="1"/>
          <p:nvPr/>
        </p:nvSpPr>
        <p:spPr>
          <a:xfrm>
            <a:off x="548640" y="2880360"/>
            <a:ext cx="6035040" cy="822960"/>
          </a:xfrm>
          <a:prstGeom prst="rect">
            <a:avLst/>
          </a:prstGeom>
          <a:noFill/>
          <a:ln/>
        </p:spPr>
        <p:txBody>
          <a:bodyPr wrap="square" lIns="0" tIns="0" rIns="0" bIns="0" rtlCol="0" anchor="t"/>
          <a:lstStyle/>
          <a:p>
            <a:pPr indent="0" marL="0">
              <a:buNone/>
            </a:pPr>
            <a:r>
              <a:rPr lang="en-US" sz="1800" dirty="0">
                <a:solidFill>
                  <a:schemeClr val="bg2"/>
                </a:solidFill>
              </a:rPr>
              <a:t>Bloque 3 · Navegación, estados y prueba cognitiva rápida</a:t>
            </a:r>
            <a:endParaRPr lang="en-US" sz="1800" dirty="0"/>
          </a:p>
        </p:txBody>
      </p:sp>
      <p:sp>
        <p:nvSpPr>
          <p:cNvPr id="4" name="Text 2"/>
          <p:cNvSpPr txBox="1"/>
          <p:nvPr/>
        </p:nvSpPr>
        <p:spPr>
          <a:xfrm>
            <a:off x="548640" y="4297680"/>
            <a:ext cx="6035040" cy="457200"/>
          </a:xfrm>
          <a:prstGeom prst="rect">
            <a:avLst/>
          </a:prstGeom>
          <a:noFill/>
          <a:ln/>
        </p:spPr>
        <p:txBody>
          <a:bodyPr wrap="square" lIns="0" tIns="0" rIns="0" bIns="0" rtlCol="0" anchor="ctr"/>
          <a:lstStyle/>
          <a:p>
            <a:pPr indent="0" marL="0">
              <a:buNone/>
            </a:pPr>
            <a:r>
              <a:rPr lang="en-US" sz="1200" dirty="0">
                <a:solidFill>
                  <a:schemeClr val="bg2"/>
                </a:solidFill>
              </a:rPr>
              <a:t>Juan Carvajal · Jueves 22/10/2026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Cada requisito tiene su pantalla</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731520"/>
                <a:gridCol w="2743200"/>
                <a:gridCol w="4754880"/>
              </a:tblGrid>
              <a:tr h="457200">
                <a:tc>
                  <a:txBody>
                    <a:bodyPr/>
                    <a:lstStyle/>
                    <a:p>
                      <a:pPr indent="0" marL="0">
                        <a:buNone/>
                      </a:pPr>
                      <a:r>
                        <a:rPr lang="en-US" sz="1400" b="1" dirty="0">
                          <a:solidFill>
                            <a:schemeClr val="bg1"/>
                          </a:solidFill>
                        </a:rPr>
                        <a:t>Req.</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hace el usuario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Cómo se ve en el prototipo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R1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Escribir observaciones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Campo de texto con contador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R2</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Generar 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Botón Generar con IA, espera simulada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R3</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Revisar 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Tarjetas ordenadas por severidad</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R4</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Editar un borrador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Edición en línea con guardar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R5</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Exportar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Markdown real, PDF simulado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R6</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Informar un error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Mensaje con alerta y Reintentar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Mapa de navegación</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377440"/>
                <a:gridCol w="2377440"/>
                <a:gridCol w="3474720"/>
              </a:tblGrid>
              <a:tr h="457200">
                <a:tc>
                  <a:txBody>
                    <a:bodyPr/>
                    <a:lstStyle/>
                    <a:p>
                      <a:pPr indent="0" marL="0">
                        <a:buNone/>
                      </a:pPr>
                      <a:r>
                        <a:rPr lang="en-US" sz="1400" b="1" dirty="0">
                          <a:solidFill>
                            <a:schemeClr val="bg1"/>
                          </a:solidFill>
                        </a:rPr>
                        <a:t>Desde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Hacia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Observaciones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Analizar con 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#/asistente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Asistente 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Generar con 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Editar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Edición en la misma pantalla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Exportar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#/observaciones con aviso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Asistente o 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Cancelar o Volver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#/observaciones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Asistente con error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Reintentar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Reenvía el mismo texto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Siete estados del botón principal</a:t>
            </a:r>
            <a:endParaRPr lang="en-US" sz="3000" dirty="0"/>
          </a:p>
        </p:txBody>
      </p:sp>
      <p:sp>
        <p:nvSpPr>
          <p:cNvPr id="4" name="Text 1"/>
          <p:cNvSpPr txBox="1"/>
          <p:nvPr/>
        </p:nvSpPr>
        <p:spPr>
          <a:xfrm>
            <a:off x="457200" y="128016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Normal</a:t>
            </a:r>
            <a:endParaRPr lang="en-US" sz="1400" dirty="0"/>
          </a:p>
        </p:txBody>
      </p:sp>
      <p:sp>
        <p:nvSpPr>
          <p:cNvPr id="5" name="Shape 2"/>
          <p:cNvSpPr/>
          <p:nvPr/>
        </p:nvSpPr>
        <p:spPr>
          <a:xfrm>
            <a:off x="457200" y="1691640"/>
            <a:ext cx="1920240" cy="640080"/>
          </a:xfrm>
          <a:prstGeom prst="roundRect">
            <a:avLst>
              <a:gd name="adj" fmla="val 11429"/>
            </a:avLst>
          </a:prstGeom>
          <a:solidFill>
            <a:schemeClr val="tx2"/>
          </a:solidFill>
          <a:ln w="12700">
            <a:solidFill>
              <a:schemeClr val="tx2"/>
            </a:solidFill>
            <a:prstDash val="solid"/>
          </a:ln>
        </p:spPr>
      </p:sp>
      <p:sp>
        <p:nvSpPr>
          <p:cNvPr id="6" name="Text 3"/>
          <p:cNvSpPr txBox="1"/>
          <p:nvPr/>
        </p:nvSpPr>
        <p:spPr>
          <a:xfrm>
            <a:off x="457200" y="169164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Generar con IA</a:t>
            </a:r>
            <a:endParaRPr lang="en-US" sz="1400" dirty="0"/>
          </a:p>
        </p:txBody>
      </p:sp>
      <p:sp>
        <p:nvSpPr>
          <p:cNvPr id="7" name="Text 4"/>
          <p:cNvSpPr txBox="1"/>
          <p:nvPr/>
        </p:nvSpPr>
        <p:spPr>
          <a:xfrm>
            <a:off x="2560320" y="128016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Hover</a:t>
            </a:r>
            <a:endParaRPr lang="en-US" sz="1400" dirty="0"/>
          </a:p>
        </p:txBody>
      </p:sp>
      <p:sp>
        <p:nvSpPr>
          <p:cNvPr id="8" name="Shape 5"/>
          <p:cNvSpPr/>
          <p:nvPr/>
        </p:nvSpPr>
        <p:spPr>
          <a:xfrm>
            <a:off x="2560320" y="1691640"/>
            <a:ext cx="1920240" cy="640080"/>
          </a:xfrm>
          <a:prstGeom prst="roundRect">
            <a:avLst>
              <a:gd name="adj" fmla="val 11429"/>
            </a:avLst>
          </a:prstGeom>
          <a:solidFill>
            <a:schemeClr val="accent2"/>
          </a:solidFill>
          <a:ln w="12700">
            <a:solidFill>
              <a:schemeClr val="accent2"/>
            </a:solidFill>
            <a:prstDash val="solid"/>
          </a:ln>
        </p:spPr>
      </p:sp>
      <p:sp>
        <p:nvSpPr>
          <p:cNvPr id="9" name="Text 6"/>
          <p:cNvSpPr txBox="1"/>
          <p:nvPr/>
        </p:nvSpPr>
        <p:spPr>
          <a:xfrm>
            <a:off x="2560320" y="1691640"/>
            <a:ext cx="1920240" cy="640080"/>
          </a:xfrm>
          <a:prstGeom prst="rect">
            <a:avLst/>
          </a:prstGeom>
          <a:noFill/>
          <a:ln/>
        </p:spPr>
        <p:txBody>
          <a:bodyPr wrap="square" lIns="0" tIns="0" rIns="0" bIns="0" rtlCol="0" anchor="ctr"/>
          <a:lstStyle/>
          <a:p>
            <a:pPr algn="ctr" indent="0" marL="0">
              <a:buNone/>
            </a:pPr>
            <a:r>
              <a:rPr lang="en-US" sz="1400" b="1" u="sng" dirty="0">
                <a:solidFill>
                  <a:schemeClr val="bg1"/>
                </a:solidFill>
              </a:rPr>
              <a:t>Generar con IA</a:t>
            </a:r>
            <a:endParaRPr lang="en-US" sz="1400" dirty="0"/>
          </a:p>
        </p:txBody>
      </p:sp>
      <p:sp>
        <p:nvSpPr>
          <p:cNvPr id="10" name="Text 7"/>
          <p:cNvSpPr txBox="1"/>
          <p:nvPr/>
        </p:nvSpPr>
        <p:spPr>
          <a:xfrm>
            <a:off x="4663440" y="128016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Foco</a:t>
            </a:r>
            <a:endParaRPr lang="en-US" sz="1400" dirty="0"/>
          </a:p>
        </p:txBody>
      </p:sp>
      <p:sp>
        <p:nvSpPr>
          <p:cNvPr id="11" name="Shape 8"/>
          <p:cNvSpPr/>
          <p:nvPr/>
        </p:nvSpPr>
        <p:spPr>
          <a:xfrm>
            <a:off x="4663440" y="1691640"/>
            <a:ext cx="1920240" cy="640080"/>
          </a:xfrm>
          <a:prstGeom prst="roundRect">
            <a:avLst>
              <a:gd name="adj" fmla="val 11429"/>
            </a:avLst>
          </a:prstGeom>
          <a:solidFill>
            <a:schemeClr val="tx2"/>
          </a:solidFill>
          <a:ln w="31750">
            <a:solidFill>
              <a:schemeClr val="accent2"/>
            </a:solidFill>
            <a:prstDash val="solid"/>
          </a:ln>
        </p:spPr>
      </p:sp>
      <p:sp>
        <p:nvSpPr>
          <p:cNvPr id="12" name="Text 9"/>
          <p:cNvSpPr txBox="1"/>
          <p:nvPr/>
        </p:nvSpPr>
        <p:spPr>
          <a:xfrm>
            <a:off x="4663440" y="169164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Generar con IA</a:t>
            </a:r>
            <a:endParaRPr lang="en-US" sz="1400" dirty="0"/>
          </a:p>
        </p:txBody>
      </p:sp>
      <p:sp>
        <p:nvSpPr>
          <p:cNvPr id="13" name="Text 10"/>
          <p:cNvSpPr txBox="1"/>
          <p:nvPr/>
        </p:nvSpPr>
        <p:spPr>
          <a:xfrm>
            <a:off x="6766560" y="128016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Deshabilitado</a:t>
            </a:r>
            <a:endParaRPr lang="en-US" sz="1400" dirty="0"/>
          </a:p>
        </p:txBody>
      </p:sp>
      <p:sp>
        <p:nvSpPr>
          <p:cNvPr id="14" name="Shape 11"/>
          <p:cNvSpPr/>
          <p:nvPr/>
        </p:nvSpPr>
        <p:spPr>
          <a:xfrm>
            <a:off x="6766560" y="1691640"/>
            <a:ext cx="1920240" cy="640080"/>
          </a:xfrm>
          <a:prstGeom prst="roundRect">
            <a:avLst>
              <a:gd name="adj" fmla="val 11429"/>
            </a:avLst>
          </a:prstGeom>
          <a:solidFill>
            <a:srgbClr val="D9D9D9"/>
          </a:solidFill>
          <a:ln w="12700">
            <a:solidFill>
              <a:srgbClr val="D9D9D9"/>
            </a:solidFill>
            <a:prstDash val="solid"/>
          </a:ln>
        </p:spPr>
      </p:sp>
      <p:sp>
        <p:nvSpPr>
          <p:cNvPr id="15" name="Text 12"/>
          <p:cNvSpPr txBox="1"/>
          <p:nvPr/>
        </p:nvSpPr>
        <p:spPr>
          <a:xfrm>
            <a:off x="6766560" y="1691640"/>
            <a:ext cx="1920240" cy="640080"/>
          </a:xfrm>
          <a:prstGeom prst="rect">
            <a:avLst/>
          </a:prstGeom>
          <a:noFill/>
          <a:ln/>
        </p:spPr>
        <p:txBody>
          <a:bodyPr wrap="square" lIns="0" tIns="0" rIns="0" bIns="0" rtlCol="0" anchor="ctr"/>
          <a:lstStyle/>
          <a:p>
            <a:pPr algn="ctr" indent="0" marL="0">
              <a:buNone/>
            </a:pPr>
            <a:r>
              <a:rPr lang="en-US" sz="1400" b="1" dirty="0">
                <a:solidFill>
                  <a:srgbClr val="5F6672"/>
                </a:solidFill>
              </a:rPr>
              <a:t>Generar con IA</a:t>
            </a:r>
            <a:endParaRPr lang="en-US" sz="1400" dirty="0"/>
          </a:p>
        </p:txBody>
      </p:sp>
      <p:sp>
        <p:nvSpPr>
          <p:cNvPr id="16" name="Text 13"/>
          <p:cNvSpPr txBox="1"/>
          <p:nvPr/>
        </p:nvSpPr>
        <p:spPr>
          <a:xfrm>
            <a:off x="457200" y="283464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Cargando</a:t>
            </a:r>
            <a:endParaRPr lang="en-US" sz="1400" dirty="0"/>
          </a:p>
        </p:txBody>
      </p:sp>
      <p:sp>
        <p:nvSpPr>
          <p:cNvPr id="17" name="Shape 14"/>
          <p:cNvSpPr/>
          <p:nvPr/>
        </p:nvSpPr>
        <p:spPr>
          <a:xfrm>
            <a:off x="457200" y="3246120"/>
            <a:ext cx="1920240" cy="640080"/>
          </a:xfrm>
          <a:prstGeom prst="roundRect">
            <a:avLst>
              <a:gd name="adj" fmla="val 11429"/>
            </a:avLst>
          </a:prstGeom>
          <a:solidFill>
            <a:schemeClr val="tx2"/>
          </a:solidFill>
          <a:ln w="12700">
            <a:solidFill>
              <a:schemeClr val="tx2"/>
            </a:solidFill>
            <a:prstDash val="solid"/>
          </a:ln>
        </p:spPr>
      </p:sp>
      <p:sp>
        <p:nvSpPr>
          <p:cNvPr id="18" name="Text 15"/>
          <p:cNvSpPr txBox="1"/>
          <p:nvPr/>
        </p:nvSpPr>
        <p:spPr>
          <a:xfrm>
            <a:off x="457200" y="324612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Generando...</a:t>
            </a:r>
            <a:endParaRPr lang="en-US" sz="1400" dirty="0"/>
          </a:p>
        </p:txBody>
      </p:sp>
      <p:sp>
        <p:nvSpPr>
          <p:cNvPr id="19" name="Text 16"/>
          <p:cNvSpPr txBox="1"/>
          <p:nvPr/>
        </p:nvSpPr>
        <p:spPr>
          <a:xfrm>
            <a:off x="2560320" y="283464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Éxito</a:t>
            </a:r>
            <a:endParaRPr lang="en-US" sz="1400" dirty="0"/>
          </a:p>
        </p:txBody>
      </p:sp>
      <p:sp>
        <p:nvSpPr>
          <p:cNvPr id="20" name="Shape 17"/>
          <p:cNvSpPr/>
          <p:nvPr/>
        </p:nvSpPr>
        <p:spPr>
          <a:xfrm>
            <a:off x="2560320" y="3246120"/>
            <a:ext cx="1920240" cy="640080"/>
          </a:xfrm>
          <a:prstGeom prst="roundRect">
            <a:avLst>
              <a:gd name="adj" fmla="val 11429"/>
            </a:avLst>
          </a:prstGeom>
          <a:solidFill>
            <a:schemeClr val="accent3"/>
          </a:solidFill>
          <a:ln w="12700">
            <a:solidFill>
              <a:schemeClr val="accent3"/>
            </a:solidFill>
            <a:prstDash val="solid"/>
          </a:ln>
        </p:spPr>
      </p:sp>
      <p:sp>
        <p:nvSpPr>
          <p:cNvPr id="21" name="Text 18"/>
          <p:cNvSpPr txBox="1"/>
          <p:nvPr/>
        </p:nvSpPr>
        <p:spPr>
          <a:xfrm>
            <a:off x="2560320" y="324612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Borradores generados</a:t>
            </a:r>
            <a:endParaRPr lang="en-US" sz="1400" dirty="0"/>
          </a:p>
        </p:txBody>
      </p:sp>
      <p:sp>
        <p:nvSpPr>
          <p:cNvPr id="22" name="Text 19"/>
          <p:cNvSpPr txBox="1"/>
          <p:nvPr/>
        </p:nvSpPr>
        <p:spPr>
          <a:xfrm>
            <a:off x="4663440" y="2834640"/>
            <a:ext cx="1920240" cy="320040"/>
          </a:xfrm>
          <a:prstGeom prst="rect">
            <a:avLst/>
          </a:prstGeom>
          <a:noFill/>
          <a:ln/>
        </p:spPr>
        <p:txBody>
          <a:bodyPr wrap="square" lIns="0" tIns="0" rIns="0" bIns="0" rtlCol="0" anchor="ctr"/>
          <a:lstStyle/>
          <a:p>
            <a:pPr indent="0" marL="0">
              <a:buNone/>
            </a:pPr>
            <a:r>
              <a:rPr lang="en-US" sz="1400" b="1" dirty="0">
                <a:solidFill>
                  <a:schemeClr val="tx2"/>
                </a:solidFill>
              </a:rPr>
              <a:t>Error</a:t>
            </a:r>
            <a:endParaRPr lang="en-US" sz="1400" dirty="0"/>
          </a:p>
        </p:txBody>
      </p:sp>
      <p:sp>
        <p:nvSpPr>
          <p:cNvPr id="23" name="Shape 20"/>
          <p:cNvSpPr/>
          <p:nvPr/>
        </p:nvSpPr>
        <p:spPr>
          <a:xfrm>
            <a:off x="4663440" y="3246120"/>
            <a:ext cx="1920240" cy="640080"/>
          </a:xfrm>
          <a:prstGeom prst="roundRect">
            <a:avLst>
              <a:gd name="adj" fmla="val 11429"/>
            </a:avLst>
          </a:prstGeom>
          <a:solidFill>
            <a:schemeClr val="bg1"/>
          </a:solidFill>
          <a:ln w="31750">
            <a:solidFill>
              <a:schemeClr val="accent4"/>
            </a:solidFill>
            <a:prstDash val="solid"/>
          </a:ln>
        </p:spPr>
      </p:sp>
      <p:sp>
        <p:nvSpPr>
          <p:cNvPr id="24" name="Text 21"/>
          <p:cNvSpPr txBox="1"/>
          <p:nvPr/>
        </p:nvSpPr>
        <p:spPr>
          <a:xfrm>
            <a:off x="4663440" y="3246120"/>
            <a:ext cx="1920240" cy="640080"/>
          </a:xfrm>
          <a:prstGeom prst="rect">
            <a:avLst/>
          </a:prstGeom>
          <a:noFill/>
          <a:ln/>
        </p:spPr>
        <p:txBody>
          <a:bodyPr wrap="square" lIns="0" tIns="0" rIns="0" bIns="0" rtlCol="0" anchor="ctr"/>
          <a:lstStyle/>
          <a:p>
            <a:pPr algn="ctr" indent="0" marL="0">
              <a:buNone/>
            </a:pPr>
            <a:r>
              <a:rPr lang="en-US" sz="1400" b="1" dirty="0">
                <a:solidFill>
                  <a:schemeClr val="accent4"/>
                </a:solidFill>
              </a:rPr>
              <a:t>No se pudo generar</a:t>
            </a:r>
            <a:endParaRPr lang="en-US" sz="1400" dirty="0"/>
          </a:p>
        </p:txBody>
      </p:sp>
      <p:sp>
        <p:nvSpPr>
          <p:cNvPr id="25" name="Text 22"/>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400" i="1" dirty="0">
                <a:solidFill>
                  <a:schemeClr val="tx1"/>
                </a:solidFill>
              </a:rPr>
              <a:t>Cada estado responde a una condición: vacío, cargando, resultado o fallo.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El tiempo también es diseño</a:t>
            </a:r>
            <a:endParaRPr lang="en-US" sz="3000" dirty="0"/>
          </a:p>
        </p:txBody>
      </p:sp>
      <p:sp>
        <p:nvSpPr>
          <p:cNvPr id="4" name="Text 1"/>
          <p:cNvSpPr txBox="1"/>
          <p:nvPr/>
        </p:nvSpPr>
        <p:spPr>
          <a:xfrm>
            <a:off x="457200" y="1234440"/>
            <a:ext cx="2651760" cy="914400"/>
          </a:xfrm>
          <a:prstGeom prst="rect">
            <a:avLst/>
          </a:prstGeom>
          <a:noFill/>
          <a:ln/>
        </p:spPr>
        <p:txBody>
          <a:bodyPr wrap="square" lIns="0" tIns="0" rIns="0" bIns="0" rtlCol="0" anchor="ctr"/>
          <a:lstStyle/>
          <a:p>
            <a:pPr algn="ctr" indent="0" marL="0">
              <a:buNone/>
            </a:pPr>
            <a:r>
              <a:rPr lang="en-US" sz="4800" b="1" dirty="0">
                <a:solidFill>
                  <a:schemeClr val="accent3"/>
                </a:solidFill>
                <a:latin typeface="Cambria" pitchFamily="34" charset="0"/>
                <a:ea typeface="Cambria" pitchFamily="34" charset="-122"/>
                <a:cs typeface="Cambria" pitchFamily="34" charset="-120"/>
              </a:rPr>
              <a:t>0,1 s</a:t>
            </a:r>
            <a:endParaRPr lang="en-US" sz="4800" dirty="0"/>
          </a:p>
        </p:txBody>
      </p:sp>
      <p:sp>
        <p:nvSpPr>
          <p:cNvPr id="5" name="Text 2"/>
          <p:cNvSpPr txBox="1"/>
          <p:nvPr/>
        </p:nvSpPr>
        <p:spPr>
          <a:xfrm>
            <a:off x="457200" y="2194560"/>
            <a:ext cx="2651760" cy="640080"/>
          </a:xfrm>
          <a:prstGeom prst="rect">
            <a:avLst/>
          </a:prstGeom>
          <a:noFill/>
          <a:ln/>
        </p:spPr>
        <p:txBody>
          <a:bodyPr wrap="square" lIns="0" tIns="0" rIns="0" bIns="0" rtlCol="0" anchor="t"/>
          <a:lstStyle/>
          <a:p>
            <a:pPr algn="ctr" indent="0" marL="0">
              <a:buNone/>
            </a:pPr>
            <a:r>
              <a:rPr lang="en-US" sz="1500" dirty="0">
                <a:solidFill>
                  <a:schemeClr val="tx1"/>
                </a:solidFill>
              </a:rPr>
              <a:t>Se siente instantáneo</a:t>
            </a:r>
            <a:endParaRPr lang="en-US" sz="1500" dirty="0"/>
          </a:p>
        </p:txBody>
      </p:sp>
      <p:sp>
        <p:nvSpPr>
          <p:cNvPr id="6" name="Text 3"/>
          <p:cNvSpPr txBox="1"/>
          <p:nvPr/>
        </p:nvSpPr>
        <p:spPr>
          <a:xfrm>
            <a:off x="3291840" y="1234440"/>
            <a:ext cx="2651760" cy="914400"/>
          </a:xfrm>
          <a:prstGeom prst="rect">
            <a:avLst/>
          </a:prstGeom>
          <a:noFill/>
          <a:ln/>
        </p:spPr>
        <p:txBody>
          <a:bodyPr wrap="square" lIns="0" tIns="0" rIns="0" bIns="0"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1 s</a:t>
            </a:r>
            <a:endParaRPr lang="en-US" sz="4800" dirty="0"/>
          </a:p>
        </p:txBody>
      </p:sp>
      <p:sp>
        <p:nvSpPr>
          <p:cNvPr id="7" name="Text 4"/>
          <p:cNvSpPr txBox="1"/>
          <p:nvPr/>
        </p:nvSpPr>
        <p:spPr>
          <a:xfrm>
            <a:off x="3291840" y="2194560"/>
            <a:ext cx="2651760" cy="640080"/>
          </a:xfrm>
          <a:prstGeom prst="rect">
            <a:avLst/>
          </a:prstGeom>
          <a:noFill/>
          <a:ln/>
        </p:spPr>
        <p:txBody>
          <a:bodyPr wrap="square" lIns="0" tIns="0" rIns="0" bIns="0" rtlCol="0" anchor="t"/>
          <a:lstStyle/>
          <a:p>
            <a:pPr algn="ctr" indent="0" marL="0">
              <a:buNone/>
            </a:pPr>
            <a:r>
              <a:rPr lang="en-US" sz="1500" dirty="0">
                <a:solidFill>
                  <a:schemeClr val="tx1"/>
                </a:solidFill>
              </a:rPr>
              <a:t>Se mantiene el hilo de pensamiento</a:t>
            </a:r>
            <a:endParaRPr lang="en-US" sz="1500" dirty="0"/>
          </a:p>
        </p:txBody>
      </p:sp>
      <p:sp>
        <p:nvSpPr>
          <p:cNvPr id="8" name="Text 5"/>
          <p:cNvSpPr txBox="1"/>
          <p:nvPr/>
        </p:nvSpPr>
        <p:spPr>
          <a:xfrm>
            <a:off x="6126480" y="1234440"/>
            <a:ext cx="2651760" cy="914400"/>
          </a:xfrm>
          <a:prstGeom prst="rect">
            <a:avLst/>
          </a:prstGeom>
          <a:noFill/>
          <a:ln/>
        </p:spPr>
        <p:txBody>
          <a:bodyPr wrap="square" lIns="0" tIns="0" rIns="0" bIns="0" rtlCol="0" anchor="ctr"/>
          <a:lstStyle/>
          <a:p>
            <a:pPr algn="ctr" indent="0" marL="0">
              <a:buNone/>
            </a:pPr>
            <a:r>
              <a:rPr lang="en-US" sz="4800" b="1" dirty="0">
                <a:solidFill>
                  <a:schemeClr val="accent4"/>
                </a:solidFill>
                <a:latin typeface="Cambria" pitchFamily="34" charset="0"/>
                <a:ea typeface="Cambria" pitchFamily="34" charset="-122"/>
                <a:cs typeface="Cambria" pitchFamily="34" charset="-120"/>
              </a:rPr>
              <a:t>10 s</a:t>
            </a:r>
            <a:endParaRPr lang="en-US" sz="4800" dirty="0"/>
          </a:p>
        </p:txBody>
      </p:sp>
      <p:sp>
        <p:nvSpPr>
          <p:cNvPr id="9" name="Text 6"/>
          <p:cNvSpPr txBox="1"/>
          <p:nvPr/>
        </p:nvSpPr>
        <p:spPr>
          <a:xfrm>
            <a:off x="6126480" y="2194560"/>
            <a:ext cx="2651760" cy="640080"/>
          </a:xfrm>
          <a:prstGeom prst="rect">
            <a:avLst/>
          </a:prstGeom>
          <a:noFill/>
          <a:ln/>
        </p:spPr>
        <p:txBody>
          <a:bodyPr wrap="square" lIns="0" tIns="0" rIns="0" bIns="0" rtlCol="0" anchor="t"/>
          <a:lstStyle/>
          <a:p>
            <a:pPr algn="ctr" indent="0" marL="0">
              <a:buNone/>
            </a:pPr>
            <a:r>
              <a:rPr lang="en-US" sz="1500" dirty="0">
                <a:solidFill>
                  <a:schemeClr val="tx1"/>
                </a:solidFill>
              </a:rPr>
              <a:t>Límite de la atención</a:t>
            </a:r>
            <a:endParaRPr lang="en-US" sz="1500" dirty="0"/>
          </a:p>
        </p:txBody>
      </p:sp>
      <p:sp>
        <p:nvSpPr>
          <p:cNvPr id="10" name="Shape 7"/>
          <p:cNvSpPr/>
          <p:nvPr/>
        </p:nvSpPr>
        <p:spPr>
          <a:xfrm>
            <a:off x="457200" y="3108960"/>
            <a:ext cx="8229600" cy="1280160"/>
          </a:xfrm>
          <a:prstGeom prst="roundRect">
            <a:avLst>
              <a:gd name="adj" fmla="val 5714"/>
            </a:avLst>
          </a:prstGeom>
          <a:solidFill>
            <a:schemeClr val="bg2"/>
          </a:solidFill>
          <a:ln w="12700">
            <a:solidFill>
              <a:schemeClr val="bg2"/>
            </a:solidFill>
            <a:prstDash val="solid"/>
          </a:ln>
        </p:spPr>
      </p:sp>
      <p:sp>
        <p:nvSpPr>
          <p:cNvPr id="11" name="Text 8"/>
          <p:cNvSpPr txBox="1"/>
          <p:nvPr/>
        </p:nvSpPr>
        <p:spPr>
          <a:xfrm>
            <a:off x="640080" y="3200400"/>
            <a:ext cx="7863840" cy="1097280"/>
          </a:xfrm>
          <a:prstGeom prst="rect">
            <a:avLst/>
          </a:prstGeom>
          <a:noFill/>
          <a:ln/>
        </p:spPr>
        <p:txBody>
          <a:bodyPr wrap="square" lIns="0" tIns="0" rIns="0" bIns="0" rtlCol="0" anchor="ctr"/>
          <a:lstStyle/>
          <a:p>
            <a:pPr indent="0" marL="0">
              <a:buNone/>
            </a:pPr>
            <a:r>
              <a:rPr lang="en-US" sz="1600" b="1" dirty="0">
                <a:solidFill>
                  <a:schemeClr val="tx2"/>
                </a:solidFill>
              </a:rPr>
              <a:t>Nuestra IA simulada tarda entre 1,8 y 2,6 s, así que damos spinner, texto Generando borradores y botón Cancelar solicitud.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Demo en vivo</a:t>
            </a:r>
            <a:endParaRPr lang="en-US" sz="3000" dirty="0"/>
          </a:p>
        </p:txBody>
      </p:sp>
      <p:pic>
        <p:nvPicPr>
          <p:cNvPr id="4" name="Image 0" descr="Asistente IA en reposo, con el botón deshabilitado">    </p:cNvPr>
          <p:cNvPicPr>
            <a:picLocks noChangeAspect="1"/>
          </p:cNvPicPr>
          <p:nvPr/>
        </p:nvPicPr>
        <p:blipFill>
          <a:blip r:embed="rId1"/>
          <a:stretch>
            <a:fillRect/>
          </a:stretch>
        </p:blipFill>
        <p:spPr>
          <a:xfrm>
            <a:off x="457200" y="1257300"/>
            <a:ext cx="4023360" cy="2514600"/>
          </a:xfrm>
          <a:prstGeom prst="rect">
            <a:avLst/>
          </a:prstGeom>
        </p:spPr>
      </p:pic>
      <p:sp>
        <p:nvSpPr>
          <p:cNvPr id="5" name="Text 1"/>
          <p:cNvSpPr txBox="1"/>
          <p:nvPr/>
        </p:nvSpPr>
        <p:spPr>
          <a:xfrm>
            <a:off x="457200" y="3931920"/>
            <a:ext cx="4023360" cy="548640"/>
          </a:xfrm>
          <a:prstGeom prst="rect">
            <a:avLst/>
          </a:prstGeom>
          <a:noFill/>
          <a:ln/>
        </p:spPr>
        <p:txBody>
          <a:bodyPr wrap="square" lIns="0" tIns="0" rIns="0" bIns="0" rtlCol="0" anchor="t"/>
          <a:lstStyle/>
          <a:p>
            <a:pPr indent="0" marL="0">
              <a:buNone/>
            </a:pPr>
            <a:r>
              <a:rPr lang="en-US" sz="1100" dirty="0">
                <a:solidFill>
                  <a:schemeClr val="accent2"/>
                </a:solidFill>
              </a:rPr>
              <a:t>mauri10g.github.io/Grupo_3_Exposicion/prototipos/navegable/v1/</a:t>
            </a:r>
            <a:endParaRPr lang="en-US" sz="1100" dirty="0"/>
          </a:p>
        </p:txBody>
      </p:sp>
      <p:sp>
        <p:nvSpPr>
          <p:cNvPr id="6" name="Text 2"/>
          <p:cNvSpPr txBox="1"/>
          <p:nvPr/>
        </p:nvSpPr>
        <p:spPr>
          <a:xfrm>
            <a:off x="4754880" y="1234440"/>
            <a:ext cx="3931920" cy="3200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Observaciones, Analizar con IA</a:t>
            </a:r>
            <a:endParaRPr lang="en-US" sz="1600" dirty="0"/>
          </a:p>
          <a:p>
            <a:pPr marL="342900" indent="-342900">
              <a:spcAft>
                <a:spcPts val="600"/>
              </a:spcAft>
              <a:buSzPct val="100000"/>
              <a:buChar char="•"/>
            </a:pPr>
            <a:r>
              <a:rPr lang="en-US" sz="1600" dirty="0">
                <a:solidFill>
                  <a:schemeClr val="tx1"/>
                </a:solidFill>
              </a:rPr>
              <a:t>Botón apagado con el campo vacío</a:t>
            </a:r>
            <a:endParaRPr lang="en-US" sz="1600" dirty="0"/>
          </a:p>
          <a:p>
            <a:pPr marL="342900" indent="-342900">
              <a:spcAft>
                <a:spcPts val="600"/>
              </a:spcAft>
              <a:buSzPct val="100000"/>
              <a:buChar char="•"/>
            </a:pPr>
            <a:r>
              <a:rPr lang="en-US" sz="1600" dirty="0">
                <a:solidFill>
                  <a:schemeClr val="tx1"/>
                </a:solidFill>
              </a:rPr>
              <a:t>Escribir y generar: ver el cargando</a:t>
            </a:r>
            <a:endParaRPr lang="en-US" sz="1600" dirty="0"/>
          </a:p>
          <a:p>
            <a:pPr marL="342900" indent="-342900">
              <a:spcAft>
                <a:spcPts val="600"/>
              </a:spcAft>
              <a:buSzPct val="100000"/>
              <a:buChar char="•"/>
            </a:pPr>
            <a:r>
              <a:rPr lang="en-US" sz="1600" dirty="0">
                <a:solidFill>
                  <a:schemeClr val="tx1"/>
                </a:solidFill>
              </a:rPr>
              <a:t>Editar un borrador y guardar</a:t>
            </a:r>
            <a:endParaRPr lang="en-US" sz="1600" dirty="0"/>
          </a:p>
          <a:p>
            <a:pPr marL="342900" indent="-342900">
              <a:spcAft>
                <a:spcPts val="600"/>
              </a:spcAft>
              <a:buSzPct val="100000"/>
              <a:buChar char="•"/>
            </a:pPr>
            <a:r>
              <a:rPr lang="en-US" sz="1600" dirty="0">
                <a:solidFill>
                  <a:schemeClr val="tx1"/>
                </a:solidFill>
              </a:rPr>
              <a:t>Exportar a Markdown</a:t>
            </a:r>
            <a:endParaRPr lang="en-US" sz="1600" dirty="0"/>
          </a:p>
          <a:p>
            <a:pPr marL="342900" indent="-342900">
              <a:spcAft>
                <a:spcPts val="600"/>
              </a:spcAft>
              <a:buSzPct val="100000"/>
              <a:buChar char="•"/>
            </a:pPr>
            <a:r>
              <a:rPr lang="en-US" sz="1600" dirty="0">
                <a:solidFill>
                  <a:schemeClr val="tx1"/>
                </a:solidFill>
              </a:rPr>
              <a:t>Forzar un error y Reintentar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Prueba cognitiva rápida</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3063240" cy="548640"/>
          </a:xfrm>
          <a:prstGeom prst="rect">
            <a:avLst/>
          </a:prstGeom>
          <a:noFill/>
          <a:ln/>
        </p:spPr>
        <p:txBody>
          <a:bodyPr wrap="square" lIns="0" tIns="0" rIns="0" bIns="0" rtlCol="0" anchor="ctr"/>
          <a:lstStyle/>
          <a:p>
            <a:pPr indent="0" marL="0">
              <a:buNone/>
            </a:pPr>
            <a:r>
              <a:rPr lang="en-US" sz="1700" b="1" dirty="0">
                <a:solidFill>
                  <a:schemeClr val="tx2"/>
                </a:solidFill>
              </a:rPr>
              <a:t>¿Intentará lograr el efecto correcto?</a:t>
            </a:r>
            <a:endParaRPr lang="en-US" sz="1700" dirty="0"/>
          </a:p>
        </p:txBody>
      </p:sp>
      <p:sp>
        <p:nvSpPr>
          <p:cNvPr id="8" name="Text 4"/>
          <p:cNvSpPr txBox="1"/>
          <p:nvPr/>
        </p:nvSpPr>
        <p:spPr>
          <a:xfrm>
            <a:off x="640080" y="1965960"/>
            <a:ext cx="3657600" cy="640080"/>
          </a:xfrm>
          <a:prstGeom prst="rect">
            <a:avLst/>
          </a:prstGeom>
          <a:noFill/>
          <a:ln/>
        </p:spPr>
        <p:txBody>
          <a:bodyPr wrap="square" lIns="0" tIns="0" rIns="0" bIns="0" rtlCol="0" anchor="t"/>
          <a:lstStyle/>
          <a:p>
            <a:pPr indent="0" marL="0">
              <a:buNone/>
            </a:pPr>
            <a:endParaRPr lang="en-US" sz="1400" dirty="0"/>
          </a:p>
        </p:txBody>
      </p:sp>
      <p:sp>
        <p:nvSpPr>
          <p:cNvPr id="9"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10" name="Shape 6"/>
          <p:cNvSpPr/>
          <p:nvPr/>
        </p:nvSpPr>
        <p:spPr>
          <a:xfrm>
            <a:off x="4846320" y="137160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946904" y="1472184"/>
            <a:ext cx="256032" cy="256032"/>
          </a:xfrm>
          <a:prstGeom prst="rect">
            <a:avLst/>
          </a:prstGeom>
        </p:spPr>
      </p:pic>
      <p:sp>
        <p:nvSpPr>
          <p:cNvPr id="12" name="Text 7"/>
          <p:cNvSpPr txBox="1"/>
          <p:nvPr/>
        </p:nvSpPr>
        <p:spPr>
          <a:xfrm>
            <a:off x="5440680" y="1325880"/>
            <a:ext cx="3063240" cy="548640"/>
          </a:xfrm>
          <a:prstGeom prst="rect">
            <a:avLst/>
          </a:prstGeom>
          <a:noFill/>
          <a:ln/>
        </p:spPr>
        <p:txBody>
          <a:bodyPr wrap="square" lIns="0" tIns="0" rIns="0" bIns="0" rtlCol="0" anchor="ctr"/>
          <a:lstStyle/>
          <a:p>
            <a:pPr indent="0" marL="0">
              <a:buNone/>
            </a:pPr>
            <a:r>
              <a:rPr lang="en-US" sz="1700" b="1" dirty="0">
                <a:solidFill>
                  <a:schemeClr val="tx2"/>
                </a:solidFill>
              </a:rPr>
              <a:t>¿Notará que la acción está disponible?</a:t>
            </a:r>
            <a:endParaRPr lang="en-US" sz="1700" dirty="0"/>
          </a:p>
        </p:txBody>
      </p:sp>
      <p:sp>
        <p:nvSpPr>
          <p:cNvPr id="13" name="Text 8"/>
          <p:cNvSpPr txBox="1"/>
          <p:nvPr/>
        </p:nvSpPr>
        <p:spPr>
          <a:xfrm>
            <a:off x="4846320" y="1965960"/>
            <a:ext cx="3657600" cy="640080"/>
          </a:xfrm>
          <a:prstGeom prst="rect">
            <a:avLst/>
          </a:prstGeom>
          <a:noFill/>
          <a:ln/>
        </p:spPr>
        <p:txBody>
          <a:bodyPr wrap="square" lIns="0" tIns="0" rIns="0" bIns="0" rtlCol="0" anchor="t"/>
          <a:lstStyle/>
          <a:p>
            <a:pPr indent="0" marL="0">
              <a:buNone/>
            </a:pPr>
            <a:endParaRPr lang="en-US" sz="1400" dirty="0"/>
          </a:p>
        </p:txBody>
      </p:sp>
      <p:sp>
        <p:nvSpPr>
          <p:cNvPr id="14"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5" name="Shape 10"/>
          <p:cNvSpPr/>
          <p:nvPr/>
        </p:nvSpPr>
        <p:spPr>
          <a:xfrm>
            <a:off x="640080" y="3063240"/>
            <a:ext cx="457200" cy="45720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740664" y="3163824"/>
            <a:ext cx="256032" cy="256032"/>
          </a:xfrm>
          <a:prstGeom prst="rect">
            <a:avLst/>
          </a:prstGeom>
        </p:spPr>
      </p:pic>
      <p:sp>
        <p:nvSpPr>
          <p:cNvPr id="17" name="Text 11"/>
          <p:cNvSpPr txBox="1"/>
          <p:nvPr/>
        </p:nvSpPr>
        <p:spPr>
          <a:xfrm>
            <a:off x="1234440" y="3017520"/>
            <a:ext cx="3063240" cy="548640"/>
          </a:xfrm>
          <a:prstGeom prst="rect">
            <a:avLst/>
          </a:prstGeom>
          <a:noFill/>
          <a:ln/>
        </p:spPr>
        <p:txBody>
          <a:bodyPr wrap="square" lIns="0" tIns="0" rIns="0" bIns="0" rtlCol="0" anchor="ctr"/>
          <a:lstStyle/>
          <a:p>
            <a:pPr indent="0" marL="0">
              <a:buNone/>
            </a:pPr>
            <a:r>
              <a:rPr lang="en-US" sz="1700" b="1" dirty="0">
                <a:solidFill>
                  <a:schemeClr val="tx2"/>
                </a:solidFill>
              </a:rPr>
              <a:t>¿Relacionará la acción con su objetivo?</a:t>
            </a:r>
            <a:endParaRPr lang="en-US" sz="1700" dirty="0"/>
          </a:p>
        </p:txBody>
      </p:sp>
      <p:sp>
        <p:nvSpPr>
          <p:cNvPr id="18" name="Text 12"/>
          <p:cNvSpPr txBox="1"/>
          <p:nvPr/>
        </p:nvSpPr>
        <p:spPr>
          <a:xfrm>
            <a:off x="640080" y="3657600"/>
            <a:ext cx="3657600" cy="640080"/>
          </a:xfrm>
          <a:prstGeom prst="rect">
            <a:avLst/>
          </a:prstGeom>
          <a:noFill/>
          <a:ln/>
        </p:spPr>
        <p:txBody>
          <a:bodyPr wrap="square" lIns="0" tIns="0" rIns="0" bIns="0" rtlCol="0" anchor="t"/>
          <a:lstStyle/>
          <a:p>
            <a:pPr indent="0" marL="0">
              <a:buNone/>
            </a:pPr>
            <a:endParaRPr lang="en-US" sz="1400" dirty="0"/>
          </a:p>
        </p:txBody>
      </p:sp>
      <p:sp>
        <p:nvSpPr>
          <p:cNvPr id="19"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20" name="Shape 14"/>
          <p:cNvSpPr/>
          <p:nvPr/>
        </p:nvSpPr>
        <p:spPr>
          <a:xfrm>
            <a:off x="4846320" y="3063240"/>
            <a:ext cx="457200" cy="457200"/>
          </a:xfrm>
          <a:prstGeom prst="ellipse">
            <a:avLst/>
          </a:prstGeom>
          <a:solidFill>
            <a:schemeClr val="accent5"/>
          </a:solidFill>
          <a:ln w="12700">
            <a:solidFill>
              <a:schemeClr val="accent5"/>
            </a:solidFill>
            <a:prstDash val="solid"/>
          </a:ln>
        </p:spPr>
      </p:sp>
      <p:pic>
        <p:nvPicPr>
          <p:cNvPr id="21" name="Image 3" descr="preencoded.png">    </p:cNvPr>
          <p:cNvPicPr>
            <a:picLocks noChangeAspect="1"/>
          </p:cNvPicPr>
          <p:nvPr/>
        </p:nvPicPr>
        <p:blipFill>
          <a:blip r:embed="rId4"/>
          <a:stretch>
            <a:fillRect/>
          </a:stretch>
        </p:blipFill>
        <p:spPr>
          <a:xfrm>
            <a:off x="4946904" y="3163824"/>
            <a:ext cx="256032" cy="256032"/>
          </a:xfrm>
          <a:prstGeom prst="rect">
            <a:avLst/>
          </a:prstGeom>
        </p:spPr>
      </p:pic>
      <p:sp>
        <p:nvSpPr>
          <p:cNvPr id="22" name="Text 15"/>
          <p:cNvSpPr txBox="1"/>
          <p:nvPr/>
        </p:nvSpPr>
        <p:spPr>
          <a:xfrm>
            <a:off x="5440680" y="3017520"/>
            <a:ext cx="3063240" cy="548640"/>
          </a:xfrm>
          <a:prstGeom prst="rect">
            <a:avLst/>
          </a:prstGeom>
          <a:noFill/>
          <a:ln/>
        </p:spPr>
        <p:txBody>
          <a:bodyPr wrap="square" lIns="0" tIns="0" rIns="0" bIns="0" rtlCol="0" anchor="ctr"/>
          <a:lstStyle/>
          <a:p>
            <a:pPr indent="0" marL="0">
              <a:buNone/>
            </a:pPr>
            <a:r>
              <a:rPr lang="en-US" sz="1700" b="1" dirty="0">
                <a:solidFill>
                  <a:schemeClr val="tx2"/>
                </a:solidFill>
              </a:rPr>
              <a:t>¿Verá que avanza tras hacerla?</a:t>
            </a:r>
            <a:endParaRPr lang="en-US" sz="1700" dirty="0"/>
          </a:p>
        </p:txBody>
      </p:sp>
      <p:sp>
        <p:nvSpPr>
          <p:cNvPr id="23" name="Text 16"/>
          <p:cNvSpPr txBox="1"/>
          <p:nvPr/>
        </p:nvSpPr>
        <p:spPr>
          <a:xfrm>
            <a:off x="4846320" y="3657600"/>
            <a:ext cx="3657600" cy="64008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Con pares, en pequeño</a:t>
            </a:r>
            <a:endParaRPr lang="en-US" sz="3000" dirty="0"/>
          </a:p>
        </p:txBody>
      </p:sp>
      <p:sp>
        <p:nvSpPr>
          <p:cNvPr id="4" name="Shape 1"/>
          <p:cNvSpPr/>
          <p:nvPr/>
        </p:nvSpPr>
        <p:spPr>
          <a:xfrm>
            <a:off x="457200" y="1188720"/>
            <a:ext cx="2651760" cy="301752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Participantes</a:t>
            </a:r>
            <a:endParaRPr lang="en-US" sz="1600" dirty="0"/>
          </a:p>
        </p:txBody>
      </p:sp>
      <p:sp>
        <p:nvSpPr>
          <p:cNvPr id="8" name="Text 4"/>
          <p:cNvSpPr txBox="1"/>
          <p:nvPr/>
        </p:nvSpPr>
        <p:spPr>
          <a:xfrm>
            <a:off x="640080" y="1965960"/>
            <a:ext cx="2286000" cy="2103120"/>
          </a:xfrm>
          <a:prstGeom prst="rect">
            <a:avLst/>
          </a:prstGeom>
          <a:noFill/>
          <a:ln/>
        </p:spPr>
        <p:txBody>
          <a:bodyPr wrap="square" lIns="0" tIns="0" rIns="0" bIns="0" rtlCol="0" anchor="t"/>
          <a:lstStyle/>
          <a:p>
            <a:pPr indent="0" marL="0">
              <a:buNone/>
            </a:pPr>
            <a:r>
              <a:rPr lang="en-US" sz="1400" dirty="0">
                <a:solidFill>
                  <a:schemeClr val="tx1"/>
                </a:solidFill>
              </a:rPr>
              <a:t>3 a 5 compañeros que no diseñaron la pantalla.</a:t>
            </a:r>
            <a:endParaRPr lang="en-US" sz="1400" dirty="0"/>
          </a:p>
          <a:p>
            <a:pPr indent="0" marL="0">
              <a:buNone/>
            </a:pPr>
            <a:r>
              <a:rPr lang="en-US" sz="1400" dirty="0">
                <a:solidFill>
                  <a:schemeClr val="tx1"/>
                </a:solidFill>
              </a:rPr>
              <a:t>Códigos P1, P2, P3.</a:t>
            </a:r>
            <a:endParaRPr lang="en-US" sz="1400" dirty="0"/>
          </a:p>
        </p:txBody>
      </p:sp>
      <p:sp>
        <p:nvSpPr>
          <p:cNvPr id="9" name="Shape 5"/>
          <p:cNvSpPr/>
          <p:nvPr/>
        </p:nvSpPr>
        <p:spPr>
          <a:xfrm>
            <a:off x="3246120" y="1188720"/>
            <a:ext cx="2651760" cy="301752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29000" y="1371600"/>
            <a:ext cx="457200" cy="4572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529584" y="1472184"/>
            <a:ext cx="256032" cy="256032"/>
          </a:xfrm>
          <a:prstGeom prst="rect">
            <a:avLst/>
          </a:prstGeom>
        </p:spPr>
      </p:pic>
      <p:sp>
        <p:nvSpPr>
          <p:cNvPr id="12" name="Text 7"/>
          <p:cNvSpPr txBox="1"/>
          <p:nvPr/>
        </p:nvSpPr>
        <p:spPr>
          <a:xfrm>
            <a:off x="402336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Roles</a:t>
            </a:r>
            <a:endParaRPr lang="en-US" sz="1600" dirty="0"/>
          </a:p>
        </p:txBody>
      </p:sp>
      <p:sp>
        <p:nvSpPr>
          <p:cNvPr id="13" name="Text 8"/>
          <p:cNvSpPr txBox="1"/>
          <p:nvPr/>
        </p:nvSpPr>
        <p:spPr>
          <a:xfrm>
            <a:off x="3429000" y="1965960"/>
            <a:ext cx="2286000" cy="2103120"/>
          </a:xfrm>
          <a:prstGeom prst="rect">
            <a:avLst/>
          </a:prstGeom>
          <a:noFill/>
          <a:ln/>
        </p:spPr>
        <p:txBody>
          <a:bodyPr wrap="square" lIns="0" tIns="0" rIns="0" bIns="0" rtlCol="0" anchor="t"/>
          <a:lstStyle/>
          <a:p>
            <a:pPr indent="0" marL="0">
              <a:buNone/>
            </a:pPr>
            <a:r>
              <a:rPr lang="en-US" sz="1400" dirty="0">
                <a:solidFill>
                  <a:schemeClr val="tx1"/>
                </a:solidFill>
              </a:rPr>
              <a:t>Moderador: da la tarea.</a:t>
            </a:r>
            <a:endParaRPr lang="en-US" sz="1400" dirty="0"/>
          </a:p>
          <a:p>
            <a:pPr indent="0" marL="0">
              <a:buNone/>
            </a:pPr>
            <a:r>
              <a:rPr lang="en-US" sz="1400" dirty="0">
                <a:solidFill>
                  <a:schemeClr val="tx1"/>
                </a:solidFill>
              </a:rPr>
              <a:t>Observador: anota sin ayudar.</a:t>
            </a:r>
            <a:endParaRPr lang="en-US" sz="1400" dirty="0"/>
          </a:p>
          <a:p>
            <a:pPr indent="0" marL="0">
              <a:buNone/>
            </a:pPr>
            <a:r>
              <a:rPr lang="en-US" sz="1400" dirty="0">
                <a:solidFill>
                  <a:schemeClr val="tx1"/>
                </a:solidFill>
              </a:rPr>
              <a:t>Participante: piensa en voz alta.</a:t>
            </a:r>
            <a:endParaRPr lang="en-US" sz="1400" dirty="0"/>
          </a:p>
        </p:txBody>
      </p:sp>
      <p:sp>
        <p:nvSpPr>
          <p:cNvPr id="14" name="Shape 9"/>
          <p:cNvSpPr/>
          <p:nvPr/>
        </p:nvSpPr>
        <p:spPr>
          <a:xfrm>
            <a:off x="6035040" y="1188720"/>
            <a:ext cx="2651760" cy="301752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217920" y="1371600"/>
            <a:ext cx="457200" cy="45720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6318504" y="1472184"/>
            <a:ext cx="256032" cy="256032"/>
          </a:xfrm>
          <a:prstGeom prst="rect">
            <a:avLst/>
          </a:prstGeom>
        </p:spPr>
      </p:pic>
      <p:sp>
        <p:nvSpPr>
          <p:cNvPr id="17" name="Text 11"/>
          <p:cNvSpPr txBox="1"/>
          <p:nvPr/>
        </p:nvSpPr>
        <p:spPr>
          <a:xfrm>
            <a:off x="6812280" y="132588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Reglas</a:t>
            </a:r>
            <a:endParaRPr lang="en-US" sz="1600" dirty="0"/>
          </a:p>
        </p:txBody>
      </p:sp>
      <p:sp>
        <p:nvSpPr>
          <p:cNvPr id="18" name="Text 12"/>
          <p:cNvSpPr txBox="1"/>
          <p:nvPr/>
        </p:nvSpPr>
        <p:spPr>
          <a:xfrm>
            <a:off x="6217920" y="1965960"/>
            <a:ext cx="2286000" cy="2103120"/>
          </a:xfrm>
          <a:prstGeom prst="rect">
            <a:avLst/>
          </a:prstGeom>
          <a:noFill/>
          <a:ln/>
        </p:spPr>
        <p:txBody>
          <a:bodyPr wrap="square" lIns="0" tIns="0" rIns="0" bIns="0" rtlCol="0" anchor="t"/>
          <a:lstStyle/>
          <a:p>
            <a:pPr indent="0" marL="0">
              <a:buNone/>
            </a:pPr>
            <a:r>
              <a:rPr lang="en-US" sz="1400" dirty="0">
                <a:solidFill>
                  <a:schemeClr val="tx1"/>
                </a:solidFill>
              </a:rPr>
              <a:t>Se avisa y se pide permiso.</a:t>
            </a:r>
            <a:endParaRPr lang="en-US" sz="1400" dirty="0"/>
          </a:p>
          <a:p>
            <a:pPr indent="0" marL="0">
              <a:buNone/>
            </a:pPr>
            <a:r>
              <a:rPr lang="en-US" sz="1400" dirty="0">
                <a:solidFill>
                  <a:schemeClr val="tx1"/>
                </a:solidFill>
              </a:rPr>
              <a:t>No se ayuda ni se explica.</a:t>
            </a:r>
            <a:endParaRPr lang="en-US" sz="1400" dirty="0"/>
          </a:p>
          <a:p>
            <a:pPr indent="0" marL="0">
              <a:buNone/>
            </a:pPr>
            <a:r>
              <a:rPr lang="en-US" sz="1400" dirty="0">
                <a:solidFill>
                  <a:schemeClr val="tx1"/>
                </a:solidFill>
              </a:rPr>
              <a:t>Se prueba el diseño, no a la persona.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Cuatro tareas para la prueba</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22960"/>
                <a:gridCol w="4206240"/>
                <a:gridCol w="3200400"/>
              </a:tblGrid>
              <a:tr h="566928">
                <a:tc>
                  <a:txBody>
                    <a:bodyPr/>
                    <a:lstStyle/>
                    <a:p>
                      <a:pPr indent="0" marL="0">
                        <a:buNone/>
                      </a:pPr>
                      <a:r>
                        <a:rPr lang="en-US" sz="1400" b="1" dirty="0">
                          <a:solidFill>
                            <a:schemeClr val="bg1"/>
                          </a:solidFill>
                        </a:rPr>
                        <a:t>Tarea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Consigna al participante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Éxito si</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T1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Genera borradores a partir de las observaciones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Llega a los borradores sin ayuda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T2</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Cambia la severidad de un borrador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Guarda el cambio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T3</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Exporta los borradores a Markdown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 descarga el archivo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T4</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IA falla: consigue los borradores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 recupera sin perder su texto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Registro y severidad</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846320" cy="914400"/>
        </p:xfrm>
        <a:graphic>
          <a:graphicData uri="http://schemas.openxmlformats.org/drawingml/2006/table">
            <a:tbl>
              <a:tblPr/>
              <a:tblGrid>
                <a:gridCol w="731520"/>
                <a:gridCol w="4114800"/>
              </a:tblGrid>
              <a:tr h="457200">
                <a:tc>
                  <a:txBody>
                    <a:bodyPr/>
                    <a:lstStyle/>
                    <a:p>
                      <a:pPr indent="0" marL="0">
                        <a:buNone/>
                      </a:pPr>
                      <a:r>
                        <a:rPr lang="en-US" sz="1400" b="1" dirty="0">
                          <a:solidFill>
                            <a:schemeClr val="bg1"/>
                          </a:solidFill>
                        </a:rPr>
                        <a:t>Sev.</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Significado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0</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es un problema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Cosmético, arreglar si sobra tiempo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2</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Menor, prioridad 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3</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Mayor, prioridad 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4</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Catastrófico, arreglar antes de entregar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600" b="1" dirty="0">
                <a:solidFill>
                  <a:schemeClr val="tx2"/>
                </a:solidFill>
              </a:rPr>
              <a:t>Columnas del CSV</a:t>
            </a:r>
            <a:endParaRPr lang="en-US" sz="1600" dirty="0"/>
          </a:p>
        </p:txBody>
      </p:sp>
      <p:sp>
        <p:nvSpPr>
          <p:cNvPr id="6" name="Text 2"/>
          <p:cNvSpPr txBox="1"/>
          <p:nvPr/>
        </p:nvSpPr>
        <p:spPr>
          <a:xfrm>
            <a:off x="5577840" y="164592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participante</a:t>
            </a:r>
            <a:endParaRPr lang="en-US" sz="1500" dirty="0"/>
          </a:p>
          <a:p>
            <a:pPr marL="342900" indent="-342900">
              <a:spcAft>
                <a:spcPts val="600"/>
              </a:spcAft>
              <a:buSzPct val="100000"/>
              <a:buChar char="•"/>
            </a:pPr>
            <a:r>
              <a:rPr lang="en-US" sz="1500" dirty="0">
                <a:solidFill>
                  <a:schemeClr val="tx1"/>
                </a:solidFill>
              </a:rPr>
              <a:t>tarea</a:t>
            </a:r>
            <a:endParaRPr lang="en-US" sz="1500" dirty="0"/>
          </a:p>
          <a:p>
            <a:pPr marL="342900" indent="-342900">
              <a:spcAft>
                <a:spcPts val="600"/>
              </a:spcAft>
              <a:buSzPct val="100000"/>
              <a:buChar char="•"/>
            </a:pPr>
            <a:r>
              <a:rPr lang="en-US" sz="1500" dirty="0">
                <a:solidFill>
                  <a:schemeClr val="tx1"/>
                </a:solidFill>
              </a:rPr>
              <a:t>hora</a:t>
            </a:r>
            <a:endParaRPr lang="en-US" sz="1500" dirty="0"/>
          </a:p>
          <a:p>
            <a:pPr marL="342900" indent="-342900">
              <a:spcAft>
                <a:spcPts val="600"/>
              </a:spcAft>
              <a:buSzPct val="100000"/>
              <a:buChar char="•"/>
            </a:pPr>
            <a:r>
              <a:rPr lang="en-US" sz="1500" dirty="0">
                <a:solidFill>
                  <a:schemeClr val="tx1"/>
                </a:solidFill>
              </a:rPr>
              <a:t>segundos</a:t>
            </a:r>
            <a:endParaRPr lang="en-US" sz="1500" dirty="0"/>
          </a:p>
          <a:p>
            <a:pPr marL="342900" indent="-342900">
              <a:spcAft>
                <a:spcPts val="600"/>
              </a:spcAft>
              <a:buSzPct val="100000"/>
              <a:buChar char="•"/>
            </a:pPr>
            <a:r>
              <a:rPr lang="en-US" sz="1500" dirty="0">
                <a:solidFill>
                  <a:schemeClr val="tx1"/>
                </a:solidFill>
              </a:rPr>
              <a:t>tipo y detalle</a:t>
            </a:r>
            <a:endParaRPr lang="en-US" sz="1500" dirty="0"/>
          </a:p>
        </p:txBody>
      </p:sp>
      <p:sp>
        <p:nvSpPr>
          <p:cNvPr id="7" name="Text 3"/>
          <p:cNvSpPr txBox="1"/>
          <p:nvPr/>
        </p:nvSpPr>
        <p:spPr>
          <a:xfrm>
            <a:off x="5577840" y="3749040"/>
            <a:ext cx="3108960" cy="640080"/>
          </a:xfrm>
          <a:prstGeom prst="rect">
            <a:avLst/>
          </a:prstGeom>
          <a:noFill/>
          <a:ln/>
        </p:spPr>
        <p:txBody>
          <a:bodyPr wrap="square" lIns="0" tIns="0" rIns="0" bIns="0" rtlCol="0" anchor="t"/>
          <a:lstStyle/>
          <a:p>
            <a:pPr indent="0" marL="0">
              <a:buNone/>
            </a:pPr>
            <a:r>
              <a:rPr lang="en-US" sz="1400" b="1" i="1" dirty="0">
                <a:solidFill>
                  <a:schemeClr val="accent1"/>
                </a:solidFill>
              </a:rPr>
              <a:t>Prioridad = severidad × cuántos lo sufrieron.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Ahora probamos con ustedes</a:t>
            </a:r>
            <a:endParaRPr lang="en-US" sz="3000" dirty="0"/>
          </a:p>
        </p:txBody>
      </p:sp>
      <p:sp>
        <p:nvSpPr>
          <p:cNvPr id="4" name="Shape 1"/>
          <p:cNvSpPr/>
          <p:nvPr/>
        </p:nvSpPr>
        <p:spPr>
          <a:xfrm>
            <a:off x="640080" y="1463040"/>
            <a:ext cx="822960" cy="822960"/>
          </a:xfrm>
          <a:prstGeom prst="ellipse">
            <a:avLst/>
          </a:prstGeom>
          <a:solidFill>
            <a:schemeClr val="accent1"/>
          </a:solidFill>
          <a:ln w="12700">
            <a:solidFill>
              <a:schemeClr val="accent1"/>
            </a:solidFill>
            <a:prstDash val="solid"/>
          </a:ln>
        </p:spPr>
      </p:sp>
      <p:sp>
        <p:nvSpPr>
          <p:cNvPr id="5" name="Text 2"/>
          <p:cNvSpPr txBox="1"/>
          <p:nvPr/>
        </p:nvSpPr>
        <p:spPr>
          <a:xfrm>
            <a:off x="640080" y="14630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6" name="Text 3"/>
          <p:cNvSpPr txBox="1"/>
          <p:nvPr/>
        </p:nvSpPr>
        <p:spPr>
          <a:xfrm>
            <a:off x="365760" y="2468880"/>
            <a:ext cx="1737360" cy="822960"/>
          </a:xfrm>
          <a:prstGeom prst="rect">
            <a:avLst/>
          </a:prstGeom>
          <a:noFill/>
          <a:ln/>
        </p:spPr>
        <p:txBody>
          <a:bodyPr wrap="square" lIns="0" tIns="0" rIns="0" bIns="0" rtlCol="0" anchor="t"/>
          <a:lstStyle/>
          <a:p>
            <a:pPr algn="ctr" indent="0" marL="0">
              <a:buNone/>
            </a:pPr>
            <a:r>
              <a:rPr lang="en-US" sz="1500" dirty="0">
                <a:solidFill>
                  <a:schemeClr val="tx1"/>
                </a:solidFill>
              </a:rPr>
              <a:t>Dos voluntarios</a:t>
            </a:r>
            <a:endParaRPr lang="en-US" sz="1500" dirty="0"/>
          </a:p>
        </p:txBody>
      </p:sp>
      <p:sp>
        <p:nvSpPr>
          <p:cNvPr id="7" name="Shape 4"/>
          <p:cNvSpPr/>
          <p:nvPr/>
        </p:nvSpPr>
        <p:spPr>
          <a:xfrm>
            <a:off x="2697480" y="1463040"/>
            <a:ext cx="822960" cy="822960"/>
          </a:xfrm>
          <a:prstGeom prst="ellipse">
            <a:avLst/>
          </a:prstGeom>
          <a:solidFill>
            <a:schemeClr val="accent1"/>
          </a:solidFill>
          <a:ln w="12700">
            <a:solidFill>
              <a:schemeClr val="accent1"/>
            </a:solidFill>
            <a:prstDash val="solid"/>
          </a:ln>
        </p:spPr>
      </p:sp>
      <p:sp>
        <p:nvSpPr>
          <p:cNvPr id="8" name="Text 5"/>
          <p:cNvSpPr txBox="1"/>
          <p:nvPr/>
        </p:nvSpPr>
        <p:spPr>
          <a:xfrm>
            <a:off x="2697480" y="14630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9" name="Text 6"/>
          <p:cNvSpPr txBox="1"/>
          <p:nvPr/>
        </p:nvSpPr>
        <p:spPr>
          <a:xfrm>
            <a:off x="2423160" y="2468880"/>
            <a:ext cx="1737360" cy="822960"/>
          </a:xfrm>
          <a:prstGeom prst="rect">
            <a:avLst/>
          </a:prstGeom>
          <a:noFill/>
          <a:ln/>
        </p:spPr>
        <p:txBody>
          <a:bodyPr wrap="square" lIns="0" tIns="0" rIns="0" bIns="0" rtlCol="0" anchor="t"/>
          <a:lstStyle/>
          <a:p>
            <a:pPr algn="ctr" indent="0" marL="0">
              <a:buNone/>
            </a:pPr>
            <a:r>
              <a:rPr lang="en-US" sz="1500" dirty="0">
                <a:solidFill>
                  <a:schemeClr val="tx1"/>
                </a:solidFill>
              </a:rPr>
              <a:t>Moderador lee la consigna</a:t>
            </a:r>
            <a:endParaRPr lang="en-US" sz="1500" dirty="0"/>
          </a:p>
        </p:txBody>
      </p:sp>
      <p:sp>
        <p:nvSpPr>
          <p:cNvPr id="10" name="Shape 7"/>
          <p:cNvSpPr/>
          <p:nvPr/>
        </p:nvSpPr>
        <p:spPr>
          <a:xfrm>
            <a:off x="4754880" y="1463040"/>
            <a:ext cx="822960" cy="822960"/>
          </a:xfrm>
          <a:prstGeom prst="ellipse">
            <a:avLst/>
          </a:prstGeom>
          <a:solidFill>
            <a:schemeClr val="accent1"/>
          </a:solidFill>
          <a:ln w="12700">
            <a:solidFill>
              <a:schemeClr val="accent1"/>
            </a:solidFill>
            <a:prstDash val="solid"/>
          </a:ln>
        </p:spPr>
      </p:sp>
      <p:sp>
        <p:nvSpPr>
          <p:cNvPr id="11" name="Text 8"/>
          <p:cNvSpPr txBox="1"/>
          <p:nvPr/>
        </p:nvSpPr>
        <p:spPr>
          <a:xfrm>
            <a:off x="4754880" y="14630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2" name="Text 9"/>
          <p:cNvSpPr txBox="1"/>
          <p:nvPr/>
        </p:nvSpPr>
        <p:spPr>
          <a:xfrm>
            <a:off x="4480560" y="2468880"/>
            <a:ext cx="1737360" cy="822960"/>
          </a:xfrm>
          <a:prstGeom prst="rect">
            <a:avLst/>
          </a:prstGeom>
          <a:noFill/>
          <a:ln/>
        </p:spPr>
        <p:txBody>
          <a:bodyPr wrap="square" lIns="0" tIns="0" rIns="0" bIns="0" rtlCol="0" anchor="t"/>
          <a:lstStyle/>
          <a:p>
            <a:pPr algn="ctr" indent="0" marL="0">
              <a:buNone/>
            </a:pPr>
            <a:r>
              <a:rPr lang="en-US" sz="1500" dirty="0">
                <a:solidFill>
                  <a:schemeClr val="tx1"/>
                </a:solidFill>
              </a:rPr>
              <a:t>Observador usa F2</a:t>
            </a:r>
            <a:endParaRPr lang="en-US" sz="1500" dirty="0"/>
          </a:p>
        </p:txBody>
      </p:sp>
      <p:sp>
        <p:nvSpPr>
          <p:cNvPr id="13" name="Shape 10"/>
          <p:cNvSpPr/>
          <p:nvPr/>
        </p:nvSpPr>
        <p:spPr>
          <a:xfrm>
            <a:off x="6812280" y="1463040"/>
            <a:ext cx="822960" cy="822960"/>
          </a:xfrm>
          <a:prstGeom prst="ellipse">
            <a:avLst/>
          </a:prstGeom>
          <a:solidFill>
            <a:schemeClr val="accent1"/>
          </a:solidFill>
          <a:ln w="12700">
            <a:solidFill>
              <a:schemeClr val="accent1"/>
            </a:solidFill>
            <a:prstDash val="solid"/>
          </a:ln>
        </p:spPr>
      </p:sp>
      <p:sp>
        <p:nvSpPr>
          <p:cNvPr id="14" name="Text 11"/>
          <p:cNvSpPr txBox="1"/>
          <p:nvPr/>
        </p:nvSpPr>
        <p:spPr>
          <a:xfrm>
            <a:off x="6812280" y="14630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5" name="Text 12"/>
          <p:cNvSpPr txBox="1"/>
          <p:nvPr/>
        </p:nvSpPr>
        <p:spPr>
          <a:xfrm>
            <a:off x="6537960" y="2468880"/>
            <a:ext cx="1737360" cy="822960"/>
          </a:xfrm>
          <a:prstGeom prst="rect">
            <a:avLst/>
          </a:prstGeom>
          <a:noFill/>
          <a:ln/>
        </p:spPr>
        <p:txBody>
          <a:bodyPr wrap="square" lIns="0" tIns="0" rIns="0" bIns="0" rtlCol="0" anchor="t"/>
          <a:lstStyle/>
          <a:p>
            <a:pPr algn="ctr" indent="0" marL="0">
              <a:buNone/>
            </a:pPr>
            <a:r>
              <a:rPr lang="en-US" sz="1500" dirty="0">
                <a:solidFill>
                  <a:schemeClr val="tx1"/>
                </a:solidFill>
              </a:rPr>
              <a:t>Nadie ayuda</a:t>
            </a:r>
            <a:endParaRPr lang="en-US" sz="1500" dirty="0"/>
          </a:p>
        </p:txBody>
      </p:sp>
      <p:sp>
        <p:nvSpPr>
          <p:cNvPr id="16" name="Text 13"/>
          <p:cNvSpPr txBox="1"/>
          <p:nvPr/>
        </p:nvSpPr>
        <p:spPr>
          <a:xfrm>
            <a:off x="457200" y="3657600"/>
            <a:ext cx="8229600" cy="548640"/>
          </a:xfrm>
          <a:prstGeom prst="rect">
            <a:avLst/>
          </a:prstGeom>
          <a:noFill/>
          <a:ln/>
        </p:spPr>
        <p:txBody>
          <a:bodyPr wrap="square" lIns="0" tIns="0" rIns="0" bIns="0" rtlCol="0" anchor="ctr"/>
          <a:lstStyle/>
          <a:p>
            <a:pPr indent="0" marL="0">
              <a:buNone/>
            </a:pPr>
            <a:r>
              <a:rPr lang="en-US" sz="1800" b="1" i="1" dirty="0">
                <a:solidFill>
                  <a:schemeClr val="accent1"/>
                </a:solidFill>
              </a:rPr>
              <a:t>Lo que salga hoy es dato real y se usa el martes.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llevarse</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64008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4"/>
          <p:cNvSpPr txBox="1"/>
          <p:nvPr/>
        </p:nvSpPr>
        <p:spPr>
          <a:xfrm>
            <a:off x="155448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Cada requisito de la Fase 1 se ve en el prototipo.</a:t>
            </a:r>
            <a:endParaRPr lang="en-US" sz="1600" dirty="0"/>
          </a:p>
        </p:txBody>
      </p:sp>
      <p:sp>
        <p:nvSpPr>
          <p:cNvPr id="8"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9" name="Shape 6"/>
          <p:cNvSpPr/>
          <p:nvPr/>
        </p:nvSpPr>
        <p:spPr>
          <a:xfrm>
            <a:off x="4846320" y="1600200"/>
            <a:ext cx="731520" cy="731520"/>
          </a:xfrm>
          <a:prstGeom prst="ellipse">
            <a:avLst/>
          </a:prstGeom>
          <a:solidFill>
            <a:schemeClr val="accent1"/>
          </a:solidFill>
          <a:ln w="12700">
            <a:solidFill>
              <a:schemeClr val="accent1"/>
            </a:solidFill>
            <a:prstDash val="solid"/>
          </a:ln>
        </p:spPr>
      </p:sp>
      <p:sp>
        <p:nvSpPr>
          <p:cNvPr id="10" name="Text 7"/>
          <p:cNvSpPr txBox="1"/>
          <p:nvPr/>
        </p:nvSpPr>
        <p:spPr>
          <a:xfrm>
            <a:off x="484632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 8"/>
          <p:cNvSpPr txBox="1"/>
          <p:nvPr/>
        </p:nvSpPr>
        <p:spPr>
          <a:xfrm>
            <a:off x="576072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Los estados y los tiempos son parte del diseño.</a:t>
            </a:r>
            <a:endParaRPr lang="en-US" sz="1600" dirty="0"/>
          </a:p>
        </p:txBody>
      </p:sp>
      <p:sp>
        <p:nvSpPr>
          <p:cNvPr id="12"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3" name="Shape 10"/>
          <p:cNvSpPr/>
          <p:nvPr/>
        </p:nvSpPr>
        <p:spPr>
          <a:xfrm>
            <a:off x="640080" y="3291840"/>
            <a:ext cx="731520" cy="731520"/>
          </a:xfrm>
          <a:prstGeom prst="ellipse">
            <a:avLst/>
          </a:prstGeom>
          <a:solidFill>
            <a:schemeClr val="accent3"/>
          </a:solidFill>
          <a:ln w="12700">
            <a:solidFill>
              <a:schemeClr val="accent3"/>
            </a:solidFill>
            <a:prstDash val="solid"/>
          </a:ln>
        </p:spPr>
      </p:sp>
      <p:sp>
        <p:nvSpPr>
          <p:cNvPr id="14" name="Text 11"/>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 12"/>
          <p:cNvSpPr txBox="1"/>
          <p:nvPr/>
        </p:nvSpPr>
        <p:spPr>
          <a:xfrm>
            <a:off x="155448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La prueba con pares es pequeña, con tareas y éxito definidos antes.</a:t>
            </a:r>
            <a:endParaRPr lang="en-US" sz="1600" dirty="0"/>
          </a:p>
        </p:txBody>
      </p:sp>
      <p:sp>
        <p:nvSpPr>
          <p:cNvPr id="16"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17" name="Shape 14"/>
          <p:cNvSpPr/>
          <p:nvPr/>
        </p:nvSpPr>
        <p:spPr>
          <a:xfrm>
            <a:off x="4846320" y="3291840"/>
            <a:ext cx="731520" cy="731520"/>
          </a:xfrm>
          <a:prstGeom prst="ellipse">
            <a:avLst/>
          </a:prstGeom>
          <a:solidFill>
            <a:schemeClr val="accent5"/>
          </a:solidFill>
          <a:ln w="12700">
            <a:solidFill>
              <a:schemeClr val="accent5"/>
            </a:solidFill>
            <a:prstDash val="solid"/>
          </a:ln>
        </p:spPr>
      </p:sp>
      <p:sp>
        <p:nvSpPr>
          <p:cNvPr id="18" name="Text 15"/>
          <p:cNvSpPr txBox="1"/>
          <p:nvPr/>
        </p:nvSpPr>
        <p:spPr>
          <a:xfrm>
            <a:off x="484632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9" name="Text 16"/>
          <p:cNvSpPr txBox="1"/>
          <p:nvPr/>
        </p:nvSpPr>
        <p:spPr>
          <a:xfrm>
            <a:off x="576072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Martes: resultados, hallazgos y versión corregida.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914400"/>
            <a:ext cx="5943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Kahoot</a:t>
            </a:r>
            <a:endParaRPr lang="en-US" sz="5400" dirty="0"/>
          </a:p>
        </p:txBody>
      </p:sp>
      <p:sp>
        <p:nvSpPr>
          <p:cNvPr id="3" name="Text 1"/>
          <p:cNvSpPr txBox="1"/>
          <p:nvPr/>
        </p:nvSpPr>
        <p:spPr>
          <a:xfrm>
            <a:off x="548640" y="2194560"/>
            <a:ext cx="5852160" cy="1097280"/>
          </a:xfrm>
          <a:prstGeom prst="rect">
            <a:avLst/>
          </a:prstGeom>
          <a:noFill/>
          <a:ln/>
        </p:spPr>
        <p:txBody>
          <a:bodyPr wrap="square" lIns="0" tIns="0" rIns="0" bIns="0" rtlCol="0" anchor="ctr"/>
          <a:lstStyle/>
          <a:p>
            <a:pPr indent="0" marL="0">
              <a:buNone/>
            </a:pPr>
            <a:r>
              <a:rPr lang="en-US" sz="2000" dirty="0">
                <a:solidFill>
                  <a:schemeClr val="bg2"/>
                </a:solidFill>
              </a:rPr>
              <a:t>10 preguntas · 8 minutos</a:t>
            </a:r>
            <a:endParaRPr lang="en-US" sz="2000" dirty="0"/>
          </a:p>
          <a:p>
            <a:pPr indent="0" marL="0">
              <a:buNone/>
            </a:pPr>
            <a:r>
              <a:rPr lang="en-US" sz="2000" dirty="0">
                <a:solidFill>
                  <a:schemeClr val="bg2"/>
                </a:solidFill>
              </a:rPr>
              <a:t>Entra desde el celular a kahoot.it y escribe el PIN que aparece en pantalla.</a:t>
            </a:r>
            <a:endParaRPr lang="en-US" sz="2000" dirty="0"/>
          </a:p>
        </p:txBody>
      </p:sp>
      <p:sp>
        <p:nvSpPr>
          <p:cNvPr id="4" name="Text 2"/>
          <p:cNvSpPr txBox="1"/>
          <p:nvPr/>
        </p:nvSpPr>
        <p:spPr>
          <a:xfrm>
            <a:off x="548640" y="3840480"/>
            <a:ext cx="5852160" cy="457200"/>
          </a:xfrm>
          <a:prstGeom prst="rect">
            <a:avLst/>
          </a:prstGeom>
          <a:noFill/>
          <a:ln/>
        </p:spPr>
        <p:txBody>
          <a:bodyPr wrap="square" lIns="0" tIns="0" rIns="0" bIns="0" rtlCol="0" anchor="ctr"/>
          <a:lstStyle/>
          <a:p>
            <a:pPr indent="0" marL="0">
              <a:buNone/>
            </a:pPr>
            <a:r>
              <a:rPr lang="en-US" sz="1600" i="1" dirty="0">
                <a:solidFill>
                  <a:schemeClr val="bg2"/>
                </a:solidFill>
              </a:rPr>
              <a:t>Usa un apodo para jugar. Gana quien responda bien y rápido.</a:t>
            </a:r>
            <a:endParaRPr lang="en-US" sz="1600" dirty="0"/>
          </a:p>
        </p:txBody>
      </p:sp>
    </p:spTree>
  </p:cSld>
  <p:clrMapOvr>
    <a:masterClrMapping/>
  </p:clrMapOvr>
</p:sld>
</file>

<file path=ppt/theme/theme1.xml><?xml version="1.0" encoding="utf-8"?>
<a:theme xmlns:a="http://schemas.openxmlformats.org/drawingml/2006/main" name="Prototipado G3">
  <a:themeElements>
    <a:clrScheme name="Prototipado G3">
      <a:dk1>
        <a:srgbClr val="0F1B33"/>
      </a:dk1>
      <a:lt1>
        <a:srgbClr val="FFFFFF"/>
      </a:lt1>
      <a:dk2>
        <a:srgbClr val="1F3864"/>
      </a:dk2>
      <a:lt2>
        <a:srgbClr val="EEF2FA"/>
      </a:lt2>
      <a:accent1>
        <a:srgbClr val="F26B1D"/>
      </a:accent1>
      <a:accent2>
        <a:srgbClr val="2563EB"/>
      </a:accent2>
      <a:accent3>
        <a:srgbClr val="15803D"/>
      </a:accent3>
      <a:accent4>
        <a:srgbClr val="B91C1C"/>
      </a:accent4>
      <a:accent5>
        <a:srgbClr val="B45309"/>
      </a:accent5>
      <a:accent6>
        <a:srgbClr val="5B6B8C"/>
      </a:accent6>
      <a:hlink>
        <a:srgbClr val="2563EB"/>
      </a:hlink>
      <a:folHlink>
        <a:srgbClr val="5B6B8C"/>
      </a:folHlink>
    </a:clrScheme>
    <a:fontScheme name="Prototipado G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Grupo 3 · IHC · UTA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Prototipado · Jueves 22/10 completo</dc:title>
  <dc:subject>PptxGenJS Presentation</dc:subject>
  <dc:creator>Grupo 3</dc:creator>
  <cp:lastModifiedBy>Grupo 3</cp:lastModifiedBy>
  <cp:revision>1</cp:revision>
  <dcterms:created xsi:type="dcterms:W3CDTF">2026-10-21T23:57:59Z</dcterms:created>
  <dcterms:modified xsi:type="dcterms:W3CDTF">2026-10-21T23:57:59Z</dcterms:modified>
</cp:coreProperties>
</file>